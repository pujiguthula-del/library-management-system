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8" r:id="rId14"/>
    <p:sldId id="269" r:id="rId15"/>
    <p:sldId id="282" r:id="rId16"/>
    <p:sldId id="271" r:id="rId17"/>
    <p:sldId id="272" r:id="rId18"/>
    <p:sldId id="300" r:id="rId19"/>
    <p:sldId id="273" r:id="rId20"/>
    <p:sldId id="274" r:id="rId21"/>
    <p:sldId id="283" r:id="rId22"/>
    <p:sldId id="275"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286" r:id="rId37"/>
    <p:sldId id="280" r:id="rId38"/>
    <p:sldId id="301" r:id="rId39"/>
    <p:sldId id="302" r:id="rId40"/>
    <p:sldId id="303" r:id="rId41"/>
    <p:sldId id="306" r:id="rId42"/>
    <p:sldId id="304" r:id="rId43"/>
    <p:sldId id="305" r:id="rId44"/>
    <p:sldId id="281" r:id="rId45"/>
    <p:sldId id="285" r:id="rId46"/>
  </p:sldIdLst>
  <p:sldSz cx="10058400" cy="7772400"/>
  <p:notesSz cx="9144000" cy="6858000"/>
  <p:kinsoku lang="zh-CN" invalStChars="!%),.:;?]}¨·ˇˉ་―‖’”…‰∶、。〃々〉》」』】〕〗！＂＇％），．：；？］｀｜｝～￠" invalEndChars="([{·‘“〈《「『【〔〖（．［｛￡￥"/>
  <p:defaultTextStyle>
    <a:defPPr>
      <a:defRPr lang="zh-CN"/>
    </a:defPPr>
    <a:lvl1pPr marL="0" indent="0" algn="l" defTabSz="914400" fontAlgn="base" hangingPunct="0">
      <a:buNone/>
      <a:defRPr sz="2400">
        <a:solidFill>
          <a:schemeClr val="tx1"/>
        </a:solidFill>
        <a:latin typeface="Droid Sans" charset="0"/>
        <a:ea typeface="Droid Sans" charset="0"/>
        <a:cs typeface="Times New Roman" pitchFamily="18" charset="0"/>
      </a:defRPr>
    </a:lvl1pPr>
    <a:lvl2pPr marL="228600" indent="0" algn="l" defTabSz="914400" fontAlgn="base" hangingPunct="0">
      <a:buNone/>
      <a:defRPr sz="2400">
        <a:solidFill>
          <a:schemeClr val="tx1"/>
        </a:solidFill>
        <a:latin typeface="Droid Sans" charset="0"/>
        <a:ea typeface="Droid Sans" charset="0"/>
        <a:cs typeface="Times New Roman" pitchFamily="18" charset="0"/>
      </a:defRPr>
    </a:lvl2pPr>
    <a:lvl3pPr marL="457200" indent="0" algn="l" defTabSz="914400" fontAlgn="base" hangingPunct="0">
      <a:buNone/>
      <a:defRPr sz="2400">
        <a:solidFill>
          <a:schemeClr val="tx1"/>
        </a:solidFill>
        <a:latin typeface="Droid Sans" charset="0"/>
        <a:ea typeface="Droid Sans" charset="0"/>
        <a:cs typeface="Times New Roman" pitchFamily="18" charset="0"/>
      </a:defRPr>
    </a:lvl3pPr>
    <a:lvl4pPr marL="685800" indent="0" algn="l" defTabSz="914400" fontAlgn="base" hangingPunct="0">
      <a:buNone/>
      <a:defRPr sz="2400">
        <a:solidFill>
          <a:schemeClr val="tx1"/>
        </a:solidFill>
        <a:latin typeface="Droid Sans" charset="0"/>
        <a:ea typeface="Droid Sans" charset="0"/>
        <a:cs typeface="Times New Roman" pitchFamily="18" charset="0"/>
      </a:defRPr>
    </a:lvl4pPr>
    <a:lvl5pPr marL="914400" indent="0" algn="l" defTabSz="914400" fontAlgn="base" hangingPunct="0">
      <a:buNone/>
      <a:defRPr sz="2400">
        <a:solidFill>
          <a:schemeClr val="tx1"/>
        </a:solidFill>
        <a:latin typeface="Droid Sans" charset="0"/>
        <a:ea typeface="Droid Sans" charset="0"/>
        <a:cs typeface="Times New Roman" pitchFamily="18" charset="0"/>
      </a:defRPr>
    </a:lvl5pPr>
    <a:lvl6pPr marL="1143000" indent="0" algn="l" defTabSz="914400" fontAlgn="base" hangingPunct="0">
      <a:buNone/>
      <a:defRPr sz="2400">
        <a:solidFill>
          <a:schemeClr val="tx1"/>
        </a:solidFill>
        <a:latin typeface="Droid Sans" charset="0"/>
        <a:ea typeface="Droid Sans" charset="0"/>
        <a:cs typeface="Times New Roman" pitchFamily="18" charset="0"/>
      </a:defRPr>
    </a:lvl6pPr>
    <a:lvl7pPr marL="1371600" indent="0" algn="l" defTabSz="914400" fontAlgn="base" hangingPunct="0">
      <a:buNone/>
      <a:defRPr sz="2400">
        <a:solidFill>
          <a:schemeClr val="tx1"/>
        </a:solidFill>
        <a:latin typeface="Droid Sans" charset="0"/>
        <a:ea typeface="Droid Sans" charset="0"/>
        <a:cs typeface="Times New Roman" pitchFamily="18" charset="0"/>
      </a:defRPr>
    </a:lvl7pPr>
    <a:lvl8pPr marL="1600200" indent="0" algn="l" defTabSz="914400" fontAlgn="base" hangingPunct="0">
      <a:buNone/>
      <a:defRPr sz="2400">
        <a:solidFill>
          <a:schemeClr val="tx1"/>
        </a:solidFill>
        <a:latin typeface="Droid Sans" charset="0"/>
        <a:ea typeface="Droid Sans" charset="0"/>
        <a:cs typeface="Times New Roman" pitchFamily="18" charset="0"/>
      </a:defRPr>
    </a:lvl8pPr>
    <a:lvl9pPr marL="1600200" indent="0" algn="l" defTabSz="914400" fontAlgn="base" hangingPunct="0">
      <a:buNone/>
      <a:defRPr sz="2400">
        <a:solidFill>
          <a:schemeClr val="tx1"/>
        </a:solidFill>
        <a:latin typeface="Droid Sans" charset="0"/>
        <a:ea typeface="Droid Sans" charset="0"/>
        <a:cs typeface="Times New Roman" pitchFamily="18" charset="0"/>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942991-8D16-452E-B9C5-C8192AF7DE70}" v="97" dt="2026-09-30T16:30:28.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4" autoAdjust="0"/>
    <p:restoredTop sz="94660" autoAdjust="0"/>
  </p:normalViewPr>
  <p:slideViewPr>
    <p:cSldViewPr>
      <p:cViewPr varScale="1">
        <p:scale>
          <a:sx n="65" d="100"/>
          <a:sy n="65" d="100"/>
        </p:scale>
        <p:origin x="1690" y="6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a:t>
            </a:fld>
            <a:endParaRPr lang="zh-CN" altLang="en-US" sz="1200">
              <a:latin typeface="Droid Sans" charset="0"/>
              <a:ea typeface="Droid Sans" charset="0"/>
              <a:cs typeface="Times New Roman" pitchFamily="18" charset="0"/>
            </a:endParaRPr>
          </a:p>
        </p:txBody>
      </p:sp>
      <p:sp>
        <p:nvSpPr>
          <p:cNvPr id="8" name="文本框"/>
          <p:cNvSpPr>
            <a:spLocks noGrp="1"/>
          </p:cNvSpPr>
          <p:nvPr>
            <p:ph type="hdr"/>
          </p:nvPr>
        </p:nvSpPr>
        <p:spPr>
          <a:xfrm>
            <a:off x="0" y="0"/>
            <a:ext cx="4359275" cy="38893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Droid Sans" charset="0"/>
              <a:ea typeface="Droid Sans" charset="0"/>
              <a:cs typeface="Times New Roman" pitchFamily="18" charset="0"/>
            </a:endParaRPr>
          </a:p>
        </p:txBody>
      </p:sp>
      <p:sp>
        <p:nvSpPr>
          <p:cNvPr id="9" name="文本框"/>
          <p:cNvSpPr>
            <a:spLocks noGrp="1"/>
          </p:cNvSpPr>
          <p:nvPr>
            <p:ph type="dt" idx="1"/>
          </p:nvPr>
        </p:nvSpPr>
        <p:spPr>
          <a:xfrm>
            <a:off x="5697538" y="0"/>
            <a:ext cx="4359275" cy="388938"/>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Droid Sans" charset="0"/>
                <a:ea typeface="Droid Sans" charset="0"/>
                <a:cs typeface="Times New Roman" pitchFamily="18" charset="0"/>
              </a:rPr>
              <a:t>10/1/2026</a:t>
            </a:fld>
            <a:endParaRPr lang="zh-CN" altLang="en-US" sz="1200">
              <a:latin typeface="Droid Sans" charset="0"/>
              <a:ea typeface="Droid Sans" charset="0"/>
              <a:cs typeface="Times New Roman" pitchFamily="18" charset="0"/>
            </a:endParaRPr>
          </a:p>
        </p:txBody>
      </p:sp>
      <p:sp>
        <p:nvSpPr>
          <p:cNvPr id="10" name="对象"/>
          <p:cNvSpPr>
            <a:spLocks noGrp="1" noRot="1" noChangeAspect="1"/>
          </p:cNvSpPr>
          <p:nvPr>
            <p:ph type="sldImg" idx="2"/>
          </p:nvPr>
        </p:nvSpPr>
        <p:spPr>
          <a:xfrm>
            <a:off x="3332163" y="971550"/>
            <a:ext cx="3394075" cy="2622550"/>
          </a:xfrm>
          <a:prstGeom prst="rect">
            <a:avLst/>
          </a:prstGeom>
          <a:noFill/>
          <a:ln w="12700" cap="flat" cmpd="sng">
            <a:solidFill>
              <a:srgbClr val="000000"/>
            </a:solidFill>
            <a:prstDash val="solid"/>
            <a:round/>
          </a:ln>
        </p:spPr>
      </p:sp>
      <p:sp>
        <p:nvSpPr>
          <p:cNvPr id="11" name="文本框"/>
          <p:cNvSpPr>
            <a:spLocks noGrp="1"/>
          </p:cNvSpPr>
          <p:nvPr>
            <p:ph type="body" idx="3"/>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2" name="文本框"/>
          <p:cNvSpPr>
            <a:spLocks noGrp="1"/>
          </p:cNvSpPr>
          <p:nvPr>
            <p:ph type="ftr" idx="4"/>
          </p:nvPr>
        </p:nvSpPr>
        <p:spPr>
          <a:xfrm>
            <a:off x="0"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Droid Sans" charset="0"/>
              <a:ea typeface="Droid Sans" charset="0"/>
              <a:cs typeface="Times New Roman" pitchFamily="18" charset="0"/>
            </a:endParaRPr>
          </a:p>
        </p:txBody>
      </p:sp>
    </p:spTree>
    <p:extLst>
      <p:ext uri="{BB962C8B-B14F-4D97-AF65-F5344CB8AC3E}">
        <p14:creationId xmlns:p14="http://schemas.microsoft.com/office/powerpoint/2010/main" val="2107737117"/>
      </p:ext>
    </p:extLst>
  </p:cSld>
  <p:clrMap bg1="lt1" tx1="dk1" bg2="lt2" tx2="dk2" accent1="accent1" accent2="accent2" accent3="accent3" accent4="accent4" accent5="accent5" accent6="accent6" hlink="hlink" folHlink="folHlink"/>
  <p:hf hdr="0" ftr="0" dt="0"/>
  <p:notesStyle>
    <a:lvl1pPr marL="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1pPr>
    <a:lvl2pPr marL="4572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2pPr>
    <a:lvl3pPr marL="914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3pPr>
    <a:lvl4pPr marL="13716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4pPr>
    <a:lvl5pPr marL="18288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5pPr>
    <a:lvl6pPr marL="22860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6pPr>
    <a:lvl7pPr marL="27432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7pPr>
    <a:lvl8pPr marL="3200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8pPr>
    <a:lvl9pPr marL="3200400" indent="0" algn="l" defTabSz="914400" fontAlgn="base" hangingPunct="0">
      <a:lnSpc>
        <a:spcPct val="100000"/>
      </a:lnSpc>
      <a:spcBef>
        <a:spcPts val="0"/>
      </a:spcBef>
      <a:spcAft>
        <a:spcPts val="0"/>
      </a:spcAft>
      <a:buNone/>
      <a:defRPr sz="3300" b="0" i="0" u="none" strike="noStrike" kern="0" cap="none" spc="0" baseline="0">
        <a:solidFill>
          <a:schemeClr val="tx1"/>
        </a:solidFill>
        <a:latin typeface="Droid Sans" charset="0"/>
        <a:ea typeface="Droid Sans" charset="0"/>
        <a:cs typeface="Times New Roman" pitchFamily="18"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1</a:t>
            </a:fld>
            <a:endParaRPr lang="zh-CN" altLang="en-US" sz="1200">
              <a:latin typeface="Droid Sans" charset="0"/>
              <a:ea typeface="Droid Sans" charset="0"/>
              <a:cs typeface="Times New Roman" pitchFamily="18" charset="0"/>
            </a:endParaRPr>
          </a:p>
        </p:txBody>
      </p:sp>
      <p:sp>
        <p:nvSpPr>
          <p:cNvPr id="21"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22"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832291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2</a:t>
            </a:fld>
            <a:endParaRPr lang="zh-CN" altLang="en-US" sz="1200">
              <a:latin typeface="Droid Sans" charset="0"/>
              <a:ea typeface="Droid Sans" charset="0"/>
              <a:cs typeface="Times New Roman" pitchFamily="18" charset="0"/>
            </a:endParaRPr>
          </a:p>
        </p:txBody>
      </p:sp>
      <p:sp>
        <p:nvSpPr>
          <p:cNvPr id="39"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40"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095235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3</a:t>
            </a:fld>
            <a:endParaRPr lang="zh-CN" altLang="en-US" sz="1200">
              <a:latin typeface="Droid Sans" charset="0"/>
              <a:ea typeface="Droid Sans" charset="0"/>
              <a:cs typeface="Times New Roman" pitchFamily="18" charset="0"/>
            </a:endParaRPr>
          </a:p>
        </p:txBody>
      </p:sp>
      <p:sp>
        <p:nvSpPr>
          <p:cNvPr id="55"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56"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956880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4</a:t>
            </a:fld>
            <a:endParaRPr lang="zh-CN" altLang="en-US" sz="1200">
              <a:latin typeface="Droid Sans" charset="0"/>
              <a:ea typeface="Droid Sans" charset="0"/>
              <a:cs typeface="Times New Roman" pitchFamily="18" charset="0"/>
            </a:endParaRPr>
          </a:p>
        </p:txBody>
      </p:sp>
      <p:sp>
        <p:nvSpPr>
          <p:cNvPr id="70"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71"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883022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5</a:t>
            </a:fld>
            <a:endParaRPr lang="zh-CN" altLang="en-US" sz="1200">
              <a:latin typeface="Droid Sans" charset="0"/>
              <a:ea typeface="Droid Sans" charset="0"/>
              <a:cs typeface="Times New Roman" pitchFamily="18" charset="0"/>
            </a:endParaRPr>
          </a:p>
        </p:txBody>
      </p:sp>
      <p:sp>
        <p:nvSpPr>
          <p:cNvPr id="102"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103"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887681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6</a:t>
            </a:fld>
            <a:endParaRPr lang="zh-CN" altLang="en-US" sz="1200">
              <a:latin typeface="Droid Sans" charset="0"/>
              <a:ea typeface="Droid Sans" charset="0"/>
              <a:cs typeface="Times New Roman" pitchFamily="18" charset="0"/>
            </a:endParaRPr>
          </a:p>
        </p:txBody>
      </p:sp>
      <p:sp>
        <p:nvSpPr>
          <p:cNvPr id="122"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123"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251774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7</a:t>
            </a:fld>
            <a:endParaRPr lang="zh-CN" altLang="en-US" sz="1200">
              <a:latin typeface="Droid Sans" charset="0"/>
              <a:ea typeface="Droid Sans" charset="0"/>
              <a:cs typeface="Times New Roman" pitchFamily="18" charset="0"/>
            </a:endParaRPr>
          </a:p>
        </p:txBody>
      </p:sp>
      <p:sp>
        <p:nvSpPr>
          <p:cNvPr id="145"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146"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238326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8</a:t>
            </a:fld>
            <a:endParaRPr lang="zh-CN" altLang="en-US" sz="1200">
              <a:latin typeface="Droid Sans" charset="0"/>
              <a:ea typeface="Droid Sans" charset="0"/>
              <a:cs typeface="Times New Roman" pitchFamily="18" charset="0"/>
            </a:endParaRPr>
          </a:p>
        </p:txBody>
      </p:sp>
      <p:sp>
        <p:nvSpPr>
          <p:cNvPr id="160"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161"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810423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9</a:t>
            </a:fld>
            <a:endParaRPr lang="zh-CN" altLang="en-US" sz="1200">
              <a:latin typeface="Droid Sans" charset="0"/>
              <a:ea typeface="Droid Sans" charset="0"/>
              <a:cs typeface="Times New Roman" pitchFamily="18" charset="0"/>
            </a:endParaRPr>
          </a:p>
        </p:txBody>
      </p:sp>
      <p:sp>
        <p:nvSpPr>
          <p:cNvPr id="193"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194"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72310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10</a:t>
            </a:fld>
            <a:endParaRPr lang="zh-CN" altLang="en-US" sz="1200">
              <a:latin typeface="Droid Sans" charset="0"/>
              <a:ea typeface="Droid Sans" charset="0"/>
              <a:cs typeface="Times New Roman" pitchFamily="18" charset="0"/>
            </a:endParaRPr>
          </a:p>
        </p:txBody>
      </p:sp>
      <p:sp>
        <p:nvSpPr>
          <p:cNvPr id="224"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225"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18611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11</a:t>
            </a:fld>
            <a:endParaRPr lang="zh-CN" altLang="en-US" sz="1200">
              <a:latin typeface="Droid Sans" charset="0"/>
              <a:ea typeface="Droid Sans" charset="0"/>
              <a:cs typeface="Times New Roman" pitchFamily="18" charset="0"/>
            </a:endParaRPr>
          </a:p>
        </p:txBody>
      </p:sp>
      <p:sp>
        <p:nvSpPr>
          <p:cNvPr id="236"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237"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207563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13</a:t>
            </a:fld>
            <a:endParaRPr lang="zh-CN" altLang="en-US" sz="1200">
              <a:latin typeface="Droid Sans" charset="0"/>
              <a:ea typeface="Droid Sans" charset="0"/>
              <a:cs typeface="Times New Roman" pitchFamily="18" charset="0"/>
            </a:endParaRPr>
          </a:p>
        </p:txBody>
      </p:sp>
      <p:sp>
        <p:nvSpPr>
          <p:cNvPr id="280"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281"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14554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a:off x="5697538" y="7383463"/>
            <a:ext cx="4359275" cy="38893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0" cap="none" spc="0" baseline="0">
                <a:solidFill>
                  <a:schemeClr val="tx1"/>
                </a:solidFill>
                <a:latin typeface="Droid Sans" charset="0"/>
                <a:ea typeface="Droid Sans" charset="0"/>
                <a:cs typeface="Lucida Sans" charset="0"/>
              </a:rPr>
              <a:t>14</a:t>
            </a:fld>
            <a:endParaRPr lang="zh-CN" altLang="en-US" sz="1200">
              <a:latin typeface="Droid Sans" charset="0"/>
              <a:ea typeface="Droid Sans" charset="0"/>
              <a:cs typeface="Times New Roman" pitchFamily="18" charset="0"/>
            </a:endParaRPr>
          </a:p>
        </p:txBody>
      </p:sp>
      <p:sp>
        <p:nvSpPr>
          <p:cNvPr id="289" name="对象"/>
          <p:cNvSpPr>
            <a:spLocks noGrp="1" noRot="1" noChangeAspect="1"/>
          </p:cNvSpPr>
          <p:nvPr>
            <p:ph type="sldImg"/>
          </p:nvPr>
        </p:nvSpPr>
        <p:spPr>
          <a:xfrm>
            <a:off x="3332163" y="971550"/>
            <a:ext cx="3394075" cy="2622550"/>
          </a:xfrm>
          <a:prstGeom prst="rect">
            <a:avLst/>
          </a:prstGeom>
          <a:noFill/>
          <a:ln w="12700" cap="flat" cmpd="sng">
            <a:noFill/>
            <a:prstDash val="solid"/>
            <a:miter/>
          </a:ln>
        </p:spPr>
      </p:sp>
      <p:sp>
        <p:nvSpPr>
          <p:cNvPr id="290" name="文本框"/>
          <p:cNvSpPr>
            <a:spLocks noGrp="1"/>
          </p:cNvSpPr>
          <p:nvPr>
            <p:ph type="body" idx="1"/>
          </p:nvPr>
        </p:nvSpPr>
        <p:spPr>
          <a:xfrm>
            <a:off x="1006475" y="3740150"/>
            <a:ext cx="8045450" cy="30607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188535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5"/>
          </p:nvPr>
        </p:nvSpPr>
        <p:spPr/>
        <p:txBody>
          <a:bodyPr/>
          <a:lstStyle/>
          <a:p>
            <a:pPr algn="r"/>
            <a:fld id="{CAD2D6BD-DE1B-4B5F-8B41-2702339687B9}" type="slidenum">
              <a:rPr lang="en-US" altLang="zh-CN" sz="1200" b="0" i="0" u="none" strike="noStrike" kern="0" cap="none" spc="0" baseline="0" smtClean="0">
                <a:solidFill>
                  <a:schemeClr val="tx1"/>
                </a:solidFill>
                <a:latin typeface="Droid Sans" charset="0"/>
                <a:ea typeface="Droid Sans" charset="0"/>
                <a:cs typeface="Lucida Sans" charset="0"/>
              </a:rPr>
              <a:t>36</a:t>
            </a:fld>
            <a:endParaRPr lang="zh-CN" altLang="en-US" sz="1200">
              <a:latin typeface="Droid Sans" charset="0"/>
              <a:ea typeface="Droid Sans" charset="0"/>
              <a:cs typeface="Times New Roman" pitchFamily="18" charset="0"/>
            </a:endParaRPr>
          </a:p>
        </p:txBody>
      </p:sp>
    </p:spTree>
    <p:extLst>
      <p:ext uri="{BB962C8B-B14F-4D97-AF65-F5344CB8AC3E}">
        <p14:creationId xmlns:p14="http://schemas.microsoft.com/office/powerpoint/2010/main" val="115817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754380" y="2414481"/>
            <a:ext cx="8549640" cy="1666028"/>
          </a:xfrm>
        </p:spPr>
        <p:txBody>
          <a:bodyPr/>
          <a:lstStyle/>
          <a:p>
            <a:r>
              <a:rPr lang="zh-CN" altLang="en-US"/>
              <a:t>单击此处编辑母版标题样式</a:t>
            </a:r>
          </a:p>
        </p:txBody>
      </p:sp>
      <p:sp>
        <p:nvSpPr>
          <p:cNvPr id="3" name="文本框"/>
          <p:cNvSpPr>
            <a:spLocks noGrp="1"/>
          </p:cNvSpPr>
          <p:nvPr>
            <p:ph type="subTitle" idx="1"/>
          </p:nvPr>
        </p:nvSpPr>
        <p:spPr>
          <a:xfrm>
            <a:off x="1508760" y="4404359"/>
            <a:ext cx="7040880" cy="198628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4475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80593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98366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7080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33296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99434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8150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4626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6697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78446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t>2026/10/1</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559718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13" name="文本框"/>
          <p:cNvSpPr>
            <a:spLocks noGrp="1"/>
          </p:cNvSpPr>
          <p:nvPr>
            <p:ph type="title"/>
          </p:nvPr>
        </p:nvSpPr>
        <p:spPr>
          <a:xfrm>
            <a:off x="3830970" y="881554"/>
            <a:ext cx="2528570" cy="37528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endParaRPr lang="zh-CN" altLang="en-US" sz="2300" b="1" i="0">
              <a:solidFill>
                <a:srgbClr val="375F92"/>
              </a:solidFill>
              <a:latin typeface="Palatino Linotype" charset="0"/>
              <a:cs typeface="Palatino Linotype" charset="0"/>
            </a:endParaRPr>
          </a:p>
        </p:txBody>
      </p:sp>
      <p:sp>
        <p:nvSpPr>
          <p:cNvPr id="14" name="文本框"/>
          <p:cNvSpPr>
            <a:spLocks noGrp="1"/>
          </p:cNvSpPr>
          <p:nvPr>
            <p:ph type="body" idx="1"/>
          </p:nvPr>
        </p:nvSpPr>
        <p:spPr>
          <a:xfrm>
            <a:off x="621187" y="1409149"/>
            <a:ext cx="8949055" cy="329437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15" name="文本框"/>
          <p:cNvSpPr>
            <a:spLocks noGrp="1"/>
          </p:cNvSpPr>
          <p:nvPr>
            <p:ph type="ftr" idx="5"/>
          </p:nvPr>
        </p:nvSpPr>
        <p:spPr>
          <a:xfrm>
            <a:off x="3419856" y="7228332"/>
            <a:ext cx="3218688"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Droid Sans" charset="0"/>
              <a:ea typeface="Droid Sans" charset="0"/>
              <a:cs typeface="Times New Roman" pitchFamily="18" charset="0"/>
            </a:endParaRPr>
          </a:p>
        </p:txBody>
      </p:sp>
      <p:sp>
        <p:nvSpPr>
          <p:cNvPr id="16" name="文本框"/>
          <p:cNvSpPr>
            <a:spLocks noGrp="1"/>
          </p:cNvSpPr>
          <p:nvPr>
            <p:ph type="dt" idx="6"/>
          </p:nvPr>
        </p:nvSpPr>
        <p:spPr>
          <a:xfrm>
            <a:off x="502919"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latin typeface="Droid Sans" charset="0"/>
              <a:ea typeface="Droid Sans" charset="0"/>
              <a:cs typeface="Times New Roman" pitchFamily="18" charset="0"/>
            </a:endParaRPr>
          </a:p>
        </p:txBody>
      </p:sp>
      <p:sp>
        <p:nvSpPr>
          <p:cNvPr id="17" name="文本框"/>
          <p:cNvSpPr>
            <a:spLocks noGrp="1"/>
          </p:cNvSpPr>
          <p:nvPr>
            <p:ph type="sldNum" idx="7"/>
          </p:nvPr>
        </p:nvSpPr>
        <p:spPr>
          <a:xfrm>
            <a:off x="7242048"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charset="0"/>
                <a:ea typeface="Droid Sans" charset="0"/>
                <a:cs typeface="Lucida Sans" charset="0"/>
              </a:rPr>
              <a:t>‹#›</a:t>
            </a:fld>
            <a:endParaRPr lang="zh-CN" altLang="en-US">
              <a:solidFill>
                <a:srgbClr val="898989"/>
              </a:solidFill>
              <a:latin typeface="Droid Sans" charset="0"/>
              <a:ea typeface="Droid Sans" charset="0"/>
              <a:cs typeface="Times New Roman" pitchFamily="18" charset="0"/>
            </a:endParaRPr>
          </a:p>
        </p:txBody>
      </p:sp>
    </p:spTree>
    <p:extLst>
      <p:ext uri="{BB962C8B-B14F-4D97-AF65-F5344CB8AC3E}">
        <p14:creationId xmlns:p14="http://schemas.microsoft.com/office/powerpoint/2010/main" val="20540885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pic>
        <p:nvPicPr>
          <p:cNvPr id="23" name="图片"/>
          <p:cNvPicPr>
            <a:picLocks/>
          </p:cNvPicPr>
          <p:nvPr/>
        </p:nvPicPr>
        <p:blipFill>
          <a:blip r:embed="rId2" cstate="print"/>
          <a:stretch>
            <a:fillRect/>
          </a:stretch>
        </p:blipFill>
        <p:spPr>
          <a:xfrm>
            <a:off x="2648056" y="258721"/>
            <a:ext cx="4601365" cy="704792"/>
          </a:xfrm>
          <a:prstGeom prst="rect">
            <a:avLst/>
          </a:prstGeom>
          <a:noFill/>
          <a:ln w="12700" cap="flat" cmpd="sng">
            <a:noFill/>
            <a:prstDash val="solid"/>
            <a:miter/>
          </a:ln>
        </p:spPr>
      </p:pic>
      <p:pic>
        <p:nvPicPr>
          <p:cNvPr id="24" name="图片"/>
          <p:cNvPicPr>
            <a:picLocks/>
          </p:cNvPicPr>
          <p:nvPr/>
        </p:nvPicPr>
        <p:blipFill>
          <a:blip r:embed="rId3" cstate="print"/>
          <a:stretch>
            <a:fillRect/>
          </a:stretch>
        </p:blipFill>
        <p:spPr>
          <a:xfrm>
            <a:off x="2530316" y="125729"/>
            <a:ext cx="4997764" cy="1045130"/>
          </a:xfrm>
          <a:prstGeom prst="rect">
            <a:avLst/>
          </a:prstGeom>
          <a:noFill/>
          <a:ln w="12700" cap="flat" cmpd="sng">
            <a:noFill/>
            <a:prstDash val="solid"/>
            <a:miter/>
          </a:ln>
        </p:spPr>
      </p:pic>
      <p:pic>
        <p:nvPicPr>
          <p:cNvPr id="25" name="图片"/>
          <p:cNvPicPr>
            <a:picLocks/>
          </p:cNvPicPr>
          <p:nvPr/>
        </p:nvPicPr>
        <p:blipFill>
          <a:blip r:embed="rId4" cstate="print"/>
          <a:stretch>
            <a:fillRect/>
          </a:stretch>
        </p:blipFill>
        <p:spPr>
          <a:xfrm>
            <a:off x="2663903" y="251407"/>
            <a:ext cx="4577410" cy="506848"/>
          </a:xfrm>
          <a:prstGeom prst="rect">
            <a:avLst/>
          </a:prstGeom>
          <a:noFill/>
          <a:ln w="12700" cap="flat" cmpd="sng">
            <a:noFill/>
            <a:prstDash val="solid"/>
            <a:miter/>
          </a:ln>
        </p:spPr>
      </p:pic>
      <p:sp>
        <p:nvSpPr>
          <p:cNvPr id="26" name="曲线"/>
          <p:cNvSpPr>
            <a:spLocks/>
          </p:cNvSpPr>
          <p:nvPr userDrawn="1"/>
        </p:nvSpPr>
        <p:spPr>
          <a:xfrm>
            <a:off x="2712903" y="279834"/>
            <a:ext cx="4471670" cy="400685"/>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48" y="281"/>
                </a:lnTo>
                <a:lnTo>
                  <a:pt x="119" y="1054"/>
                </a:lnTo>
                <a:lnTo>
                  <a:pt x="32" y="2197"/>
                </a:lnTo>
                <a:lnTo>
                  <a:pt x="0" y="3595"/>
                </a:lnTo>
                <a:lnTo>
                  <a:pt x="0" y="17995"/>
                </a:lnTo>
                <a:lnTo>
                  <a:pt x="32" y="19395"/>
                </a:lnTo>
                <a:lnTo>
                  <a:pt x="119" y="20542"/>
                </a:lnTo>
                <a:lnTo>
                  <a:pt x="248" y="21310"/>
                </a:lnTo>
                <a:lnTo>
                  <a:pt x="409" y="21592"/>
                </a:lnTo>
                <a:lnTo>
                  <a:pt x="21188" y="21592"/>
                </a:lnTo>
                <a:lnTo>
                  <a:pt x="21348" y="21310"/>
                </a:lnTo>
                <a:lnTo>
                  <a:pt x="21477" y="20542"/>
                </a:lnTo>
                <a:lnTo>
                  <a:pt x="21564" y="19395"/>
                </a:lnTo>
                <a:lnTo>
                  <a:pt x="21598" y="17995"/>
                </a:lnTo>
                <a:lnTo>
                  <a:pt x="21598" y="3595"/>
                </a:lnTo>
                <a:lnTo>
                  <a:pt x="21564" y="2197"/>
                </a:lnTo>
                <a:lnTo>
                  <a:pt x="21477" y="1054"/>
                </a:lnTo>
                <a:lnTo>
                  <a:pt x="21348" y="281"/>
                </a:lnTo>
                <a:lnTo>
                  <a:pt x="21188" y="0"/>
                </a:lnTo>
                <a:close/>
              </a:path>
            </a:pathLst>
          </a:custGeom>
          <a:solidFill>
            <a:srgbClr val="FF6600"/>
          </a:solidFill>
          <a:ln cap="flat" cmpd="sng">
            <a:noFill/>
            <a:prstDash val="solid"/>
            <a:miter/>
          </a:ln>
        </p:spPr>
        <p:txBody>
          <a:bodyPr/>
          <a:lstStyle/>
          <a:p>
            <a:r>
              <a:rPr lang="en-US" b="1" dirty="0">
                <a:solidFill>
                  <a:schemeClr val="bg1"/>
                </a:solidFill>
              </a:rPr>
              <a:t> </a:t>
            </a:r>
            <a:r>
              <a:rPr lang="en-US" dirty="0"/>
              <a:t>    </a:t>
            </a:r>
            <a:endParaRPr lang="en-IN" b="1" dirty="0">
              <a:solidFill>
                <a:schemeClr val="bg1"/>
              </a:solidFill>
            </a:endParaRPr>
          </a:p>
        </p:txBody>
      </p:sp>
      <p:sp>
        <p:nvSpPr>
          <p:cNvPr id="28" name="文本框"/>
          <p:cNvSpPr>
            <a:spLocks noGrp="1"/>
          </p:cNvSpPr>
          <p:nvPr>
            <p:ph type="ftr" idx="5"/>
          </p:nvPr>
        </p:nvSpPr>
        <p:spPr>
          <a:xfrm>
            <a:off x="3419856" y="7228332"/>
            <a:ext cx="3218688"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Droid Sans" charset="0"/>
              <a:ea typeface="Droid Sans" charset="0"/>
              <a:cs typeface="Times New Roman" pitchFamily="18" charset="0"/>
            </a:endParaRPr>
          </a:p>
        </p:txBody>
      </p:sp>
      <p:sp>
        <p:nvSpPr>
          <p:cNvPr id="29" name="文本框"/>
          <p:cNvSpPr>
            <a:spLocks noGrp="1"/>
          </p:cNvSpPr>
          <p:nvPr>
            <p:ph type="dt" idx="6"/>
          </p:nvPr>
        </p:nvSpPr>
        <p:spPr>
          <a:xfrm>
            <a:off x="502919"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latin typeface="Droid Sans" charset="0"/>
              <a:ea typeface="Droid Sans" charset="0"/>
              <a:cs typeface="Times New Roman" pitchFamily="18" charset="0"/>
            </a:endParaRPr>
          </a:p>
        </p:txBody>
      </p:sp>
      <p:sp>
        <p:nvSpPr>
          <p:cNvPr id="30" name="文本框"/>
          <p:cNvSpPr>
            <a:spLocks noGrp="1"/>
          </p:cNvSpPr>
          <p:nvPr>
            <p:ph type="sldNum" idx="7"/>
          </p:nvPr>
        </p:nvSpPr>
        <p:spPr>
          <a:xfrm>
            <a:off x="7242048"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charset="0"/>
                <a:ea typeface="Droid Sans" charset="0"/>
                <a:cs typeface="Lucida Sans" charset="0"/>
              </a:rPr>
              <a:t>‹#›</a:t>
            </a:fld>
            <a:endParaRPr lang="zh-CN" altLang="en-US">
              <a:solidFill>
                <a:srgbClr val="898989"/>
              </a:solidFill>
              <a:latin typeface="Droid Sans" charset="0"/>
              <a:ea typeface="Droid Sans" charset="0"/>
              <a:cs typeface="Times New Roman" pitchFamily="18" charset="0"/>
            </a:endParaRPr>
          </a:p>
        </p:txBody>
      </p:sp>
    </p:spTree>
    <p:extLst>
      <p:ext uri="{BB962C8B-B14F-4D97-AF65-F5344CB8AC3E}">
        <p14:creationId xmlns:p14="http://schemas.microsoft.com/office/powerpoint/2010/main" val="1347045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282" name="文本框"/>
          <p:cNvSpPr>
            <a:spLocks noGrp="1"/>
          </p:cNvSpPr>
          <p:nvPr>
            <p:ph type="title"/>
          </p:nvPr>
        </p:nvSpPr>
        <p:spPr>
          <a:xfrm>
            <a:off x="754379" y="2409444"/>
            <a:ext cx="8549641" cy="1632204"/>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300" b="1" i="0" dirty="0">
              <a:solidFill>
                <a:srgbClr val="375F92"/>
              </a:solidFill>
              <a:latin typeface="Palatino Linotype" charset="0"/>
              <a:cs typeface="Palatino Linotype" charset="0"/>
            </a:endParaRPr>
          </a:p>
        </p:txBody>
      </p:sp>
      <p:sp>
        <p:nvSpPr>
          <p:cNvPr id="283" name="文本框"/>
          <p:cNvSpPr>
            <a:spLocks noGrp="1"/>
          </p:cNvSpPr>
          <p:nvPr>
            <p:ph type="body" idx="4"/>
          </p:nvPr>
        </p:nvSpPr>
        <p:spPr>
          <a:xfrm>
            <a:off x="1508758" y="4352544"/>
            <a:ext cx="7040880" cy="1943100"/>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284" name="文本框"/>
          <p:cNvSpPr>
            <a:spLocks noGrp="1"/>
          </p:cNvSpPr>
          <p:nvPr>
            <p:ph type="ftr" idx="5"/>
          </p:nvPr>
        </p:nvSpPr>
        <p:spPr>
          <a:xfrm>
            <a:off x="3419856" y="7228332"/>
            <a:ext cx="3218688"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Droid Sans" charset="0"/>
              <a:ea typeface="Droid Sans" charset="0"/>
              <a:cs typeface="Times New Roman" pitchFamily="18" charset="0"/>
            </a:endParaRPr>
          </a:p>
        </p:txBody>
      </p:sp>
      <p:sp>
        <p:nvSpPr>
          <p:cNvPr id="285" name="文本框"/>
          <p:cNvSpPr>
            <a:spLocks noGrp="1"/>
          </p:cNvSpPr>
          <p:nvPr>
            <p:ph type="dt" idx="6"/>
          </p:nvPr>
        </p:nvSpPr>
        <p:spPr>
          <a:xfrm>
            <a:off x="502919"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endParaRPr lang="zh-CN" altLang="en-US">
              <a:solidFill>
                <a:srgbClr val="898989"/>
              </a:solidFill>
              <a:latin typeface="Droid Sans" charset="0"/>
              <a:ea typeface="Droid Sans" charset="0"/>
              <a:cs typeface="Times New Roman" pitchFamily="18" charset="0"/>
            </a:endParaRPr>
          </a:p>
        </p:txBody>
      </p:sp>
      <p:sp>
        <p:nvSpPr>
          <p:cNvPr id="286" name="文本框"/>
          <p:cNvSpPr>
            <a:spLocks noGrp="1"/>
          </p:cNvSpPr>
          <p:nvPr>
            <p:ph type="sldNum" idx="7"/>
          </p:nvPr>
        </p:nvSpPr>
        <p:spPr>
          <a:xfrm>
            <a:off x="7242048"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charset="0"/>
                <a:ea typeface="Droid Sans" charset="0"/>
                <a:cs typeface="Lucida Sans" charset="0"/>
              </a:rPr>
              <a:t>‹#›</a:t>
            </a:fld>
            <a:endParaRPr lang="zh-CN" altLang="en-US">
              <a:solidFill>
                <a:srgbClr val="898989"/>
              </a:solidFill>
              <a:latin typeface="Droid Sans" charset="0"/>
              <a:ea typeface="Droid Sans" charset="0"/>
              <a:cs typeface="Times New Roman" pitchFamily="18" charset="0"/>
            </a:endParaRPr>
          </a:p>
        </p:txBody>
      </p:sp>
    </p:spTree>
    <p:extLst>
      <p:ext uri="{BB962C8B-B14F-4D97-AF65-F5344CB8AC3E}">
        <p14:creationId xmlns:p14="http://schemas.microsoft.com/office/powerpoint/2010/main" val="190860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3830970" y="881554"/>
            <a:ext cx="2528570" cy="375284"/>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2300" b="1" i="0">
              <a:solidFill>
                <a:srgbClr val="375F92"/>
              </a:solidFill>
              <a:latin typeface="Palatino Linotype" charset="0"/>
              <a:cs typeface="Palatino Linotype" charset="0"/>
            </a:endParaRPr>
          </a:p>
        </p:txBody>
      </p:sp>
      <p:sp>
        <p:nvSpPr>
          <p:cNvPr id="3" name="文本框"/>
          <p:cNvSpPr>
            <a:spLocks noGrp="1"/>
          </p:cNvSpPr>
          <p:nvPr>
            <p:ph type="body" idx="1"/>
          </p:nvPr>
        </p:nvSpPr>
        <p:spPr>
          <a:xfrm>
            <a:off x="621187" y="1409149"/>
            <a:ext cx="8949055" cy="3294378"/>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endParaRPr lang="zh-CN" altLang="en-US" sz="1950" b="1" i="0">
              <a:solidFill>
                <a:schemeClr val="tx1"/>
              </a:solidFill>
              <a:latin typeface="Palatino Linotype" charset="0"/>
              <a:cs typeface="Palatino Linotype" charset="0"/>
            </a:endParaRPr>
          </a:p>
        </p:txBody>
      </p:sp>
      <p:sp>
        <p:nvSpPr>
          <p:cNvPr id="4" name="文本框"/>
          <p:cNvSpPr>
            <a:spLocks noGrp="1"/>
          </p:cNvSpPr>
          <p:nvPr>
            <p:ph type="ftr" idx="5"/>
          </p:nvPr>
        </p:nvSpPr>
        <p:spPr>
          <a:xfrm>
            <a:off x="3419856" y="7228332"/>
            <a:ext cx="3218688"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ctr"/>
            <a:endParaRPr lang="zh-CN" altLang="en-US">
              <a:solidFill>
                <a:srgbClr val="898989"/>
              </a:solidFill>
              <a:latin typeface="Droid Sans" charset="0"/>
              <a:ea typeface="Droid Sans" charset="0"/>
              <a:cs typeface="Times New Roman" pitchFamily="18" charset="0"/>
            </a:endParaRPr>
          </a:p>
        </p:txBody>
      </p:sp>
      <p:sp>
        <p:nvSpPr>
          <p:cNvPr id="5" name="文本框"/>
          <p:cNvSpPr>
            <a:spLocks noGrp="1"/>
          </p:cNvSpPr>
          <p:nvPr>
            <p:ph type="dt" idx="6"/>
          </p:nvPr>
        </p:nvSpPr>
        <p:spPr>
          <a:xfrm>
            <a:off x="502919"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l"/>
            <a:fld id="{CAD2D6BD-DE1B-4B5F-8B41-2702339687B9}" type="datetime1">
              <a:rPr lang="en-US" altLang="zh-CN">
                <a:solidFill>
                  <a:srgbClr val="898989"/>
                </a:solidFill>
                <a:latin typeface="Droid Sans" charset="0"/>
                <a:ea typeface="Droid Sans" charset="0"/>
                <a:cs typeface="Times New Roman" pitchFamily="18" charset="0"/>
              </a:rPr>
              <a:t>10/1/2026</a:t>
            </a:fld>
            <a:endParaRPr lang="zh-CN" altLang="en-US">
              <a:solidFill>
                <a:srgbClr val="898989"/>
              </a:solidFill>
              <a:latin typeface="Droid Sans" charset="0"/>
              <a:ea typeface="Droid Sans" charset="0"/>
              <a:cs typeface="Times New Roman" pitchFamily="18" charset="0"/>
            </a:endParaRPr>
          </a:p>
        </p:txBody>
      </p:sp>
      <p:sp>
        <p:nvSpPr>
          <p:cNvPr id="6" name="文本框"/>
          <p:cNvSpPr>
            <a:spLocks noGrp="1"/>
          </p:cNvSpPr>
          <p:nvPr>
            <p:ph type="sldNum" idx="7"/>
          </p:nvPr>
        </p:nvSpPr>
        <p:spPr>
          <a:xfrm>
            <a:off x="7242048" y="7228332"/>
            <a:ext cx="2313432" cy="388619"/>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algn="r"/>
            <a:fld id="{CAD2D6BD-DE1B-4B5F-8B41-2702339687B9}" type="slidenum">
              <a:rPr lang="en-US" altLang="zh-CN" sz="2400" b="0" i="0" u="none" strike="noStrike" kern="0" cap="none" spc="0" baseline="0">
                <a:solidFill>
                  <a:srgbClr val="898989"/>
                </a:solidFill>
                <a:latin typeface="Droid Sans" charset="0"/>
                <a:ea typeface="Droid Sans" charset="0"/>
                <a:cs typeface="Lucida Sans" charset="0"/>
              </a:rPr>
              <a:t>‹#›</a:t>
            </a:fld>
            <a:endParaRPr lang="zh-CN" altLang="en-US">
              <a:solidFill>
                <a:srgbClr val="898989"/>
              </a:solidFill>
              <a:latin typeface="Droid Sans" charset="0"/>
              <a:ea typeface="Droid Sans" charset="0"/>
              <a:cs typeface="Times New Roman" pitchFamily="18" charset="0"/>
            </a:endParaRPr>
          </a:p>
        </p:txBody>
      </p:sp>
    </p:spTree>
    <p:extLst>
      <p:ext uri="{BB962C8B-B14F-4D97-AF65-F5344CB8AC3E}">
        <p14:creationId xmlns:p14="http://schemas.microsoft.com/office/powerpoint/2010/main" val="1957073980"/>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lvl1pPr defTabSz="914400" fontAlgn="auto" hangingPunct="1">
        <a:buNone/>
        <a:defRPr sz="1800">
          <a:latin typeface="Calibri" charset="0"/>
          <a:ea typeface="宋体" charset="0"/>
          <a:cs typeface="Calibri" charset="0"/>
        </a:defRPr>
      </a:lvl1pPr>
    </p:titleStyle>
    <p:bodyStyle>
      <a:lvl1pPr marL="0" indent="0" defTabSz="914400" fontAlgn="auto" hangingPunct="1">
        <a:buNone/>
        <a:defRPr sz="1800">
          <a:latin typeface="Calibri" charset="0"/>
          <a:ea typeface="宋体" charset="0"/>
          <a:cs typeface="Calibri" charset="0"/>
        </a:defRPr>
      </a:lvl1pPr>
      <a:lvl2pPr marL="457200" indent="0" defTabSz="914400" fontAlgn="auto" hangingPunct="1">
        <a:buNone/>
        <a:defRPr sz="1800">
          <a:latin typeface="Calibri" charset="0"/>
          <a:ea typeface="宋体" charset="0"/>
          <a:cs typeface="Calibri" charset="0"/>
        </a:defRPr>
      </a:lvl2pPr>
      <a:lvl3pPr marL="914400" indent="0" defTabSz="914400" fontAlgn="auto" hangingPunct="1">
        <a:buNone/>
        <a:defRPr sz="1800">
          <a:latin typeface="Calibri" charset="0"/>
          <a:ea typeface="宋体" charset="0"/>
          <a:cs typeface="Calibri" charset="0"/>
        </a:defRPr>
      </a:lvl3pPr>
      <a:lvl4pPr marL="1371600" indent="0" defTabSz="914400" fontAlgn="auto" hangingPunct="1">
        <a:buNone/>
        <a:defRPr sz="1800">
          <a:latin typeface="Calibri" charset="0"/>
          <a:ea typeface="宋体" charset="0"/>
          <a:cs typeface="Calibri" charset="0"/>
        </a:defRPr>
      </a:lvl4pPr>
      <a:lvl5pPr marL="1828800" indent="0" defTabSz="914400" fontAlgn="auto" hangingPunct="1">
        <a:buNone/>
        <a:defRPr sz="1800">
          <a:latin typeface="Calibri" charset="0"/>
          <a:ea typeface="宋体" charset="0"/>
          <a:cs typeface="Calibri" charset="0"/>
        </a:defRPr>
      </a:lvl5pPr>
      <a:lvl6pPr marL="2286000" indent="0" defTabSz="914400" fontAlgn="auto" hangingPunct="1">
        <a:buNone/>
        <a:defRPr sz="1800">
          <a:latin typeface="Calibri" charset="0"/>
          <a:ea typeface="宋体" charset="0"/>
          <a:cs typeface="Calibri" charset="0"/>
        </a:defRPr>
      </a:lvl6pPr>
      <a:lvl7pPr marL="2743200" indent="0" defTabSz="914400" fontAlgn="auto" hangingPunct="1">
        <a:buNone/>
        <a:defRPr sz="1800">
          <a:latin typeface="Calibri" charset="0"/>
          <a:ea typeface="宋体" charset="0"/>
          <a:cs typeface="Calibri" charset="0"/>
        </a:defRPr>
      </a:lvl7pPr>
      <a:lvl8pPr marL="3200400" indent="0" defTabSz="914400" fontAlgn="auto" hangingPunct="1">
        <a:buNone/>
        <a:defRPr sz="1800">
          <a:latin typeface="Calibri" charset="0"/>
          <a:ea typeface="宋体" charset="0"/>
          <a:cs typeface="Calibri" charset="0"/>
        </a:defRPr>
      </a:lvl8pPr>
      <a:lvl9pPr marL="3200400" indent="0" defTabSz="914400" fontAlgn="auto" hangingPunct="1">
        <a:buNone/>
        <a:defRPr sz="1800">
          <a:latin typeface="Calibri" charset="0"/>
          <a:ea typeface="宋体" charset="0"/>
          <a:cs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7.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8" name="图片"/>
          <p:cNvPicPr>
            <a:picLocks/>
          </p:cNvPicPr>
          <p:nvPr/>
        </p:nvPicPr>
        <p:blipFill>
          <a:blip r:embed="rId3" cstate="print"/>
          <a:stretch>
            <a:fillRect/>
          </a:stretch>
        </p:blipFill>
        <p:spPr>
          <a:xfrm>
            <a:off x="2693969" y="211045"/>
            <a:ext cx="4610910" cy="628649"/>
          </a:xfrm>
          <a:prstGeom prst="rect">
            <a:avLst/>
          </a:prstGeom>
          <a:noFill/>
          <a:ln w="12700" cap="flat" cmpd="sng">
            <a:noFill/>
            <a:prstDash val="solid"/>
            <a:miter/>
          </a:ln>
        </p:spPr>
      </p:pic>
      <p:sp>
        <p:nvSpPr>
          <p:cNvPr id="19" name="文本框"/>
          <p:cNvSpPr>
            <a:spLocks noGrp="1"/>
          </p:cNvSpPr>
          <p:nvPr>
            <p:ph type="title"/>
          </p:nvPr>
        </p:nvSpPr>
        <p:spPr>
          <a:xfrm>
            <a:off x="1447800" y="1076308"/>
            <a:ext cx="7467599" cy="1054417"/>
          </a:xfrm>
          <a:prstGeom prst="rect">
            <a:avLst/>
          </a:prstGeom>
          <a:noFill/>
          <a:ln w="12700" cap="flat" cmpd="sng">
            <a:noFill/>
            <a:prstDash val="solid"/>
            <a:miter/>
          </a:ln>
        </p:spPr>
        <p:txBody>
          <a:bodyPr vert="horz" wrap="square" lIns="0" tIns="11430" rIns="0" bIns="0" anchor="t" anchorCtr="0">
            <a:prstTxWarp prst="textNoShape">
              <a:avLst/>
            </a:prstTxWarp>
            <a:spAutoFit/>
          </a:bodyPr>
          <a:lstStyle/>
          <a:p>
            <a:pPr marL="12700" indent="0" algn="ctr">
              <a:lnSpc>
                <a:spcPct val="150000"/>
              </a:lnSpc>
              <a:spcBef>
                <a:spcPts val="90"/>
              </a:spcBef>
              <a:spcAft>
                <a:spcPts val="0"/>
              </a:spcAft>
              <a:buNone/>
            </a:pPr>
            <a:r>
              <a:rPr lang="en-US" altLang="zh-CN" sz="2400" b="1" i="0" u="none" strike="noStrike" kern="0" cap="none" spc="-10" baseline="0" dirty="0">
                <a:solidFill>
                  <a:srgbClr val="375F92"/>
                </a:solidFill>
                <a:latin typeface="Times New Roman" pitchFamily="18" charset="0"/>
                <a:ea typeface="宋体" charset="0"/>
                <a:cs typeface="Times New Roman" pitchFamily="18" charset="0"/>
              </a:rPr>
              <a:t>Database Management System Capstone Project</a:t>
            </a:r>
            <a:br>
              <a:rPr lang="zh-CN" altLang="en-US" sz="2200" b="1" i="0" u="none" strike="noStrike" kern="0" cap="none" spc="-10" baseline="0" dirty="0">
                <a:solidFill>
                  <a:srgbClr val="375F92"/>
                </a:solidFill>
                <a:latin typeface="Times New Roman" pitchFamily="18" charset="0"/>
                <a:ea typeface="宋体" charset="0"/>
                <a:cs typeface="Times New Roman" pitchFamily="18" charset="0"/>
              </a:rPr>
            </a:br>
            <a:endParaRPr lang="zh-CN" altLang="en-US" sz="2200" b="1" i="0" u="none" strike="noStrike" kern="0" cap="none" spc="-10" baseline="0" dirty="0">
              <a:solidFill>
                <a:srgbClr val="375F92"/>
              </a:solidFill>
              <a:latin typeface="Times New Roman" pitchFamily="18" charset="0"/>
              <a:ea typeface="宋体" charset="0"/>
              <a:cs typeface="Times New Roman" pitchFamily="18" charset="0"/>
            </a:endParaRPr>
          </a:p>
        </p:txBody>
      </p:sp>
      <p:sp>
        <p:nvSpPr>
          <p:cNvPr id="20" name="文本框"/>
          <p:cNvSpPr>
            <a:spLocks noGrp="1"/>
          </p:cNvSpPr>
          <p:nvPr>
            <p:ph type="body" idx="1"/>
          </p:nvPr>
        </p:nvSpPr>
        <p:spPr>
          <a:xfrm>
            <a:off x="653494" y="2514600"/>
            <a:ext cx="8751412" cy="3209853"/>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0" indent="0" algn="ctr">
              <a:lnSpc>
                <a:spcPct val="100000"/>
              </a:lnSpc>
              <a:spcBef>
                <a:spcPts val="0"/>
              </a:spcBef>
              <a:spcAft>
                <a:spcPts val="0"/>
              </a:spcAft>
              <a:buNone/>
            </a:pPr>
            <a:r>
              <a:rPr lang="en-US" altLang="zh-CN" sz="2000" b="0" i="0" u="none" strike="noStrike" kern="0" cap="none" spc="0" baseline="0" dirty="0">
                <a:solidFill>
                  <a:schemeClr val="tx1"/>
                </a:solidFill>
                <a:latin typeface="Aptos" pitchFamily="34" charset="0"/>
                <a:ea typeface="宋体" charset="0"/>
                <a:cs typeface="Palatino Linotype" charset="0"/>
              </a:rPr>
              <a:t> </a:t>
            </a:r>
            <a:r>
              <a:rPr lang="en-US" altLang="zh-CN" sz="2800" b="1" i="1" u="none" strike="noStrike" kern="0" cap="none" spc="0" baseline="0" dirty="0">
                <a:solidFill>
                  <a:srgbClr val="141414"/>
                </a:solidFill>
                <a:latin typeface="Times New Roman" pitchFamily="18" charset="0"/>
                <a:ea typeface="宋体" charset="0"/>
                <a:cs typeface="Palatino Linotype" charset="0"/>
              </a:rPr>
              <a:t>Library Management System</a:t>
            </a:r>
            <a:endParaRPr lang="en-US" altLang="zh-CN" sz="2400" b="1" i="1" u="none" strike="noStrike" kern="0" cap="none" spc="0" baseline="0" dirty="0">
              <a:solidFill>
                <a:srgbClr val="141414"/>
              </a:solidFill>
              <a:latin typeface="Times New Roman" pitchFamily="18" charset="0"/>
              <a:ea typeface="宋体" charset="0"/>
              <a:cs typeface="Palatino Linotype" charset="0"/>
            </a:endParaRPr>
          </a:p>
          <a:p>
            <a:pPr marL="0" indent="0" algn="ctr">
              <a:lnSpc>
                <a:spcPct val="100000"/>
              </a:lnSpc>
              <a:spcBef>
                <a:spcPts val="0"/>
              </a:spcBef>
              <a:spcAft>
                <a:spcPts val="0"/>
              </a:spcAft>
              <a:buNone/>
            </a:pPr>
            <a:endParaRPr lang="en-US" altLang="zh-CN" sz="2200" b="1" i="0" u="none" strike="noStrike" kern="0" cap="none" spc="0" baseline="0" dirty="0">
              <a:solidFill>
                <a:srgbClr val="FF0000"/>
              </a:solidFill>
              <a:latin typeface="Times New Roman" pitchFamily="18" charset="0"/>
              <a:ea typeface="宋体" charset="0"/>
              <a:cs typeface="Times New Roman" pitchFamily="18" charset="0"/>
            </a:endParaRPr>
          </a:p>
          <a:p>
            <a:pPr marL="0" indent="0" algn="ctr">
              <a:lnSpc>
                <a:spcPct val="100000"/>
              </a:lnSpc>
              <a:spcBef>
                <a:spcPts val="130"/>
              </a:spcBef>
              <a:spcAft>
                <a:spcPts val="0"/>
              </a:spcAft>
              <a:buNone/>
            </a:pPr>
            <a:r>
              <a:rPr lang="en-US" altLang="zh-CN" sz="2200" b="1" i="0" u="none" strike="noStrike" kern="0" cap="none" spc="0" baseline="0" dirty="0">
                <a:solidFill>
                  <a:srgbClr val="FF0000"/>
                </a:solidFill>
                <a:latin typeface="Times New Roman" pitchFamily="18" charset="0"/>
                <a:ea typeface="宋体" charset="0"/>
                <a:cs typeface="Times New Roman" pitchFamily="18" charset="0"/>
              </a:rPr>
              <a:t>Presented</a:t>
            </a:r>
            <a:r>
              <a:rPr lang="en-US" altLang="zh-CN" sz="2200" b="1" i="0" u="none" strike="noStrike" kern="0" cap="none" spc="80" baseline="0" dirty="0">
                <a:solidFill>
                  <a:srgbClr val="FF0000"/>
                </a:solidFill>
                <a:latin typeface="Times New Roman" pitchFamily="18" charset="0"/>
                <a:ea typeface="宋体" charset="0"/>
                <a:cs typeface="Times New Roman" pitchFamily="18" charset="0"/>
              </a:rPr>
              <a:t> </a:t>
            </a:r>
            <a:r>
              <a:rPr lang="en-US" altLang="zh-CN" sz="2200" b="1" i="0" u="none" strike="noStrike" kern="0" cap="none" spc="-25" baseline="0" dirty="0">
                <a:solidFill>
                  <a:srgbClr val="FF0000"/>
                </a:solidFill>
                <a:latin typeface="Times New Roman" pitchFamily="18" charset="0"/>
                <a:ea typeface="宋体" charset="0"/>
                <a:cs typeface="Times New Roman" pitchFamily="18" charset="0"/>
              </a:rPr>
              <a:t>by</a:t>
            </a:r>
          </a:p>
          <a:p>
            <a:pPr marL="0" indent="0" algn="ctr">
              <a:lnSpc>
                <a:spcPct val="100000"/>
              </a:lnSpc>
              <a:spcBef>
                <a:spcPts val="130"/>
              </a:spcBef>
              <a:spcAft>
                <a:spcPts val="0"/>
              </a:spcAft>
              <a:buNone/>
            </a:pPr>
            <a:endParaRPr lang="en-US" altLang="zh-CN" sz="900" b="1" i="0" u="none" strike="noStrike" kern="0" cap="none" spc="-25" baseline="0" dirty="0">
              <a:solidFill>
                <a:srgbClr val="FF0000"/>
              </a:solidFill>
              <a:latin typeface="Times New Roman" pitchFamily="18" charset="0"/>
              <a:ea typeface="宋体" charset="0"/>
              <a:cs typeface="Times New Roman" pitchFamily="18" charset="0"/>
            </a:endParaRPr>
          </a:p>
          <a:p>
            <a:pPr marL="0" indent="0" algn="ctr">
              <a:lnSpc>
                <a:spcPct val="100000"/>
              </a:lnSpc>
              <a:spcBef>
                <a:spcPts val="0"/>
              </a:spcBef>
              <a:spcAft>
                <a:spcPts val="0"/>
              </a:spcAft>
              <a:buNone/>
            </a:pPr>
            <a:r>
              <a:rPr lang="en-US" altLang="zh-CN" sz="1950" b="1" i="0" u="none" strike="noStrike" kern="0" cap="none" spc="0" baseline="0" dirty="0">
                <a:solidFill>
                  <a:schemeClr val="tx1"/>
                </a:solidFill>
                <a:latin typeface="Palatino Linotype" charset="0"/>
                <a:ea typeface="宋体" charset="0"/>
                <a:cs typeface="Palatino Linotype" charset="0"/>
              </a:rPr>
              <a:t>G. Sirisha (25B11CS111) </a:t>
            </a:r>
            <a:endParaRPr lang="en-US" altLang="zh-CN" sz="1950" b="0" i="0" u="none" strike="noStrike" kern="0" cap="none" spc="0" baseline="0" dirty="0">
              <a:solidFill>
                <a:schemeClr val="tx1"/>
              </a:solidFill>
              <a:latin typeface="Palatino Linotype" charset="0"/>
              <a:ea typeface="宋体" charset="0"/>
              <a:cs typeface="Palatino Linotype" charset="0"/>
            </a:endParaRPr>
          </a:p>
          <a:p>
            <a:pPr marL="0" indent="0" algn="ctr">
              <a:lnSpc>
                <a:spcPct val="100000"/>
              </a:lnSpc>
              <a:spcBef>
                <a:spcPts val="0"/>
              </a:spcBef>
              <a:spcAft>
                <a:spcPts val="0"/>
              </a:spcAft>
              <a:buNone/>
            </a:pPr>
            <a:r>
              <a:rPr lang="en-US" altLang="zh-CN" sz="1950" b="1" i="0" u="none" strike="noStrike" kern="0" cap="none" spc="0" baseline="0" dirty="0">
                <a:solidFill>
                  <a:schemeClr val="tx1"/>
                </a:solidFill>
                <a:latin typeface="Palatino Linotype" charset="0"/>
                <a:ea typeface="宋体" charset="0"/>
                <a:cs typeface="Palatino Linotype" charset="0"/>
              </a:rPr>
              <a:t>G. Manasa (25B11CS271) </a:t>
            </a:r>
            <a:endParaRPr lang="en-US" altLang="zh-CN" sz="1950" b="0" i="0" u="none" strike="noStrike" kern="0" cap="none" spc="0" baseline="0" dirty="0">
              <a:solidFill>
                <a:schemeClr val="tx1"/>
              </a:solidFill>
              <a:latin typeface="Palatino Linotype" charset="0"/>
              <a:ea typeface="宋体" charset="0"/>
              <a:cs typeface="Palatino Linotype" charset="0"/>
            </a:endParaRPr>
          </a:p>
          <a:p>
            <a:pPr marL="0" indent="0" algn="ctr">
              <a:lnSpc>
                <a:spcPct val="100000"/>
              </a:lnSpc>
              <a:spcBef>
                <a:spcPts val="0"/>
              </a:spcBef>
              <a:spcAft>
                <a:spcPts val="0"/>
              </a:spcAft>
              <a:buNone/>
            </a:pPr>
            <a:r>
              <a:rPr lang="en-US" altLang="zh-CN" sz="1950" b="1" i="0" u="none" strike="noStrike" kern="0" cap="none" spc="0" baseline="0" dirty="0">
                <a:solidFill>
                  <a:schemeClr val="tx1"/>
                </a:solidFill>
                <a:latin typeface="Palatino Linotype" charset="0"/>
                <a:ea typeface="宋体" charset="0"/>
                <a:cs typeface="Palatino Linotype" charset="0"/>
              </a:rPr>
              <a:t>G. Pujitha (25B11CS330) </a:t>
            </a:r>
            <a:endParaRPr lang="en-US" altLang="zh-CN" sz="1950" b="0" i="0" u="none" strike="noStrike" kern="0" cap="none" spc="0" baseline="0" dirty="0">
              <a:solidFill>
                <a:schemeClr val="tx1"/>
              </a:solidFill>
              <a:latin typeface="Palatino Linotype" charset="0"/>
              <a:ea typeface="宋体" charset="0"/>
              <a:cs typeface="Palatino Linotype" charset="0"/>
            </a:endParaRPr>
          </a:p>
          <a:p>
            <a:pPr marL="0" indent="0" algn="ctr">
              <a:lnSpc>
                <a:spcPct val="100000"/>
              </a:lnSpc>
              <a:spcBef>
                <a:spcPts val="0"/>
              </a:spcBef>
              <a:spcAft>
                <a:spcPts val="0"/>
              </a:spcAft>
              <a:buNone/>
            </a:pPr>
            <a:r>
              <a:rPr lang="en-US" altLang="zh-CN" sz="1950" b="1" i="0" u="none" strike="noStrike" kern="0" cap="none" spc="0" baseline="0" dirty="0">
                <a:solidFill>
                  <a:schemeClr val="tx1"/>
                </a:solidFill>
                <a:latin typeface="Palatino Linotype" charset="0"/>
                <a:ea typeface="宋体" charset="0"/>
                <a:cs typeface="Palatino Linotype" charset="0"/>
              </a:rPr>
              <a:t>P. Bhavya Sri (25B11CS790) </a:t>
            </a:r>
            <a:endParaRPr lang="en-US" altLang="zh-CN" sz="1950" b="0" i="0" u="none" strike="noStrike" kern="0" cap="none" spc="0" baseline="0" dirty="0">
              <a:solidFill>
                <a:schemeClr val="tx1"/>
              </a:solidFill>
              <a:latin typeface="Palatino Linotype" charset="0"/>
              <a:ea typeface="宋体" charset="0"/>
              <a:cs typeface="Palatino Linotype" charset="0"/>
            </a:endParaRPr>
          </a:p>
          <a:p>
            <a:pPr marL="0" indent="0" algn="ctr">
              <a:lnSpc>
                <a:spcPct val="100000"/>
              </a:lnSpc>
              <a:spcBef>
                <a:spcPts val="0"/>
              </a:spcBef>
              <a:spcAft>
                <a:spcPts val="0"/>
              </a:spcAft>
              <a:buNone/>
            </a:pPr>
            <a:endParaRPr lang="en-US" altLang="zh-CN" sz="1650" b="1" i="0" u="none" strike="noStrike" kern="0" cap="none" spc="-10" baseline="0" dirty="0">
              <a:solidFill>
                <a:schemeClr val="tx1"/>
              </a:solidFill>
              <a:latin typeface="Times New Roman" pitchFamily="18" charset="0"/>
              <a:ea typeface="宋体" charset="0"/>
              <a:cs typeface="Times New Roman" pitchFamily="18" charset="0"/>
            </a:endParaRPr>
          </a:p>
          <a:p>
            <a:pPr marL="1270" indent="0" algn="ctr">
              <a:lnSpc>
                <a:spcPct val="100000"/>
              </a:lnSpc>
              <a:spcBef>
                <a:spcPts val="993"/>
              </a:spcBef>
              <a:spcAft>
                <a:spcPts val="0"/>
              </a:spcAft>
              <a:buNone/>
            </a:pPr>
            <a:r>
              <a:rPr lang="en-US" altLang="zh-CN" sz="2200" b="1" i="0" u="none" strike="noStrike" kern="0" cap="none" spc="0" baseline="0" dirty="0">
                <a:solidFill>
                  <a:srgbClr val="943735"/>
                </a:solidFill>
                <a:latin typeface="Times New Roman" pitchFamily="18" charset="0"/>
                <a:ea typeface="宋体" charset="0"/>
                <a:cs typeface="Times New Roman" pitchFamily="18" charset="0"/>
              </a:rPr>
              <a:t>Department</a:t>
            </a:r>
            <a:r>
              <a:rPr lang="en-US" altLang="zh-CN" sz="2200" b="1" i="0" u="none" strike="noStrike" kern="0" cap="none" spc="-60" baseline="0" dirty="0">
                <a:solidFill>
                  <a:srgbClr val="943735"/>
                </a:solidFill>
                <a:latin typeface="Times New Roman" pitchFamily="18" charset="0"/>
                <a:ea typeface="宋体" charset="0"/>
                <a:cs typeface="Times New Roman" pitchFamily="18" charset="0"/>
              </a:rPr>
              <a:t> </a:t>
            </a:r>
            <a:r>
              <a:rPr lang="en-US" altLang="zh-CN" sz="2200" b="1" i="0" u="none" strike="noStrike" kern="0" cap="none" spc="0" baseline="0" dirty="0">
                <a:solidFill>
                  <a:srgbClr val="943735"/>
                </a:solidFill>
                <a:latin typeface="Times New Roman" pitchFamily="18" charset="0"/>
                <a:ea typeface="宋体" charset="0"/>
                <a:cs typeface="Times New Roman" pitchFamily="18" charset="0"/>
              </a:rPr>
              <a:t>of Computer Science and Engineering</a:t>
            </a:r>
            <a:endParaRPr lang="zh-CN" altLang="en-US" sz="1650" b="1" i="0" u="none" strike="noStrike" kern="0" cap="none" spc="-10" baseline="0" dirty="0">
              <a:solidFill>
                <a:srgbClr val="943735"/>
              </a:solidFill>
              <a:latin typeface="Times New Roman" pitchFamily="18" charset="0"/>
              <a:ea typeface="宋体" charset="0"/>
              <a:cs typeface="Times New Roman" pitchFamily="18" charset="0"/>
            </a:endParaRPr>
          </a:p>
        </p:txBody>
      </p:sp>
    </p:spTree>
    <p:extLst>
      <p:ext uri="{BB962C8B-B14F-4D97-AF65-F5344CB8AC3E}">
        <p14:creationId xmlns:p14="http://schemas.microsoft.com/office/powerpoint/2010/main" val="858785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sp>
        <p:nvSpPr>
          <p:cNvPr id="32" name="矩形"/>
          <p:cNvSpPr>
            <a:spLocks/>
          </p:cNvSpPr>
          <p:nvPr/>
        </p:nvSpPr>
        <p:spPr>
          <a:xfrm>
            <a:off x="1260405" y="1191211"/>
            <a:ext cx="5223076" cy="7127875"/>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0" baseline="0" dirty="0">
                <a:solidFill>
                  <a:schemeClr val="tx1"/>
                </a:solidFill>
                <a:latin typeface="Times New Roman" pitchFamily="18" charset="0"/>
                <a:ea typeface="Droid Sans" charset="0"/>
                <a:cs typeface="Times New Roman" pitchFamily="18" charset="0"/>
              </a:rPr>
              <a:t>Project Overview</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0" baseline="0" dirty="0">
                <a:solidFill>
                  <a:schemeClr val="tx1"/>
                </a:solidFill>
                <a:latin typeface="Times New Roman" pitchFamily="18" charset="0"/>
                <a:ea typeface="Droid Sans" charset="0"/>
                <a:cs typeface="Times New Roman" pitchFamily="18" charset="0"/>
              </a:rPr>
              <a:t>Problem Statement</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0" baseline="0" dirty="0">
                <a:solidFill>
                  <a:schemeClr val="tx1"/>
                </a:solidFill>
                <a:latin typeface="Times New Roman" pitchFamily="18" charset="0"/>
                <a:ea typeface="Droid Sans" charset="0"/>
                <a:cs typeface="Times New Roman" pitchFamily="18" charset="0"/>
              </a:rPr>
              <a:t>Project Objectives</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0" baseline="0" dirty="0">
                <a:solidFill>
                  <a:schemeClr val="tx1"/>
                </a:solidFill>
                <a:latin typeface="Times New Roman" pitchFamily="18" charset="0"/>
                <a:ea typeface="Droid Sans" charset="0"/>
                <a:cs typeface="Times New Roman" pitchFamily="18" charset="0"/>
              </a:rPr>
              <a:t>Requirement Analysis</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Functional Requirements</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 Non-Functional Requirements</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Entities &amp; Attributes</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Relationships &amp; Cardinality </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Complete ER Diagram </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 ER Diagram Explanation</a:t>
            </a:r>
          </a:p>
          <a:p>
            <a:pPr marL="389890" indent="-377190" algn="l">
              <a:lnSpc>
                <a:spcPct val="100000"/>
              </a:lnSpc>
              <a:spcBef>
                <a:spcPts val="2060"/>
              </a:spcBef>
              <a:spcAft>
                <a:spcPts val="0"/>
              </a:spcAft>
              <a:buClrTx/>
              <a:buAutoNum type="arabicPeriod"/>
              <a:tabLst>
                <a:tab pos="389890" algn="l"/>
              </a:tabLst>
            </a:pPr>
            <a:r>
              <a:rPr lang="en-US" altLang="zh-CN" sz="2000" b="0" i="0" u="none" strike="noStrike" kern="0" cap="none" spc="50" baseline="0" dirty="0">
                <a:solidFill>
                  <a:schemeClr val="tx1"/>
                </a:solidFill>
                <a:latin typeface="Times New Roman" pitchFamily="18" charset="0"/>
                <a:ea typeface="Droid Sans" charset="0"/>
                <a:cs typeface="Times New Roman" pitchFamily="18" charset="0"/>
              </a:rPr>
              <a:t>Conclusion</a:t>
            </a:r>
          </a:p>
          <a:p>
            <a:pPr marL="389890" indent="-377190" algn="l">
              <a:lnSpc>
                <a:spcPct val="100000"/>
              </a:lnSpc>
              <a:spcBef>
                <a:spcPts val="2060"/>
              </a:spcBef>
              <a:spcAft>
                <a:spcPts val="0"/>
              </a:spcAft>
              <a:buClrTx/>
              <a:buAutoNum type="arabicPeriod"/>
              <a:tabLst>
                <a:tab pos="389890" algn="l"/>
              </a:tabLst>
            </a:pPr>
            <a:endParaRPr lang="en-US" altLang="zh-CN" sz="2400" b="0" i="0" u="none" strike="noStrike" kern="0" cap="none" spc="50" baseline="0" dirty="0">
              <a:solidFill>
                <a:schemeClr val="tx1"/>
              </a:solidFill>
              <a:latin typeface="Times New Roman" pitchFamily="18" charset="0"/>
              <a:ea typeface="Droid Sans" charset="0"/>
              <a:cs typeface="Times New Roman" pitchFamily="18" charset="0"/>
            </a:endParaRPr>
          </a:p>
          <a:p>
            <a:pPr marL="389890" indent="-377190" algn="l">
              <a:lnSpc>
                <a:spcPct val="100000"/>
              </a:lnSpc>
              <a:spcBef>
                <a:spcPts val="2060"/>
              </a:spcBef>
              <a:spcAft>
                <a:spcPts val="0"/>
              </a:spcAft>
              <a:buClrTx/>
              <a:buAutoNum type="arabicPeriod"/>
              <a:tabLst>
                <a:tab pos="389890" algn="l"/>
              </a:tabLst>
            </a:pPr>
            <a:endParaRPr lang="zh-CN" altLang="en-US" sz="2400" b="0" i="0" u="none" strike="noStrike" kern="0" cap="none" spc="50" baseline="0">
              <a:solidFill>
                <a:schemeClr val="tx1"/>
              </a:solidFill>
              <a:latin typeface="Times New Roman" pitchFamily="18" charset="0"/>
              <a:ea typeface="Droid Sans" charset="0"/>
              <a:cs typeface="Times New Roman" pitchFamily="18" charset="0"/>
            </a:endParaRPr>
          </a:p>
        </p:txBody>
      </p:sp>
      <p:grpSp>
        <p:nvGrpSpPr>
          <p:cNvPr id="37" name="组合"/>
          <p:cNvGrpSpPr>
            <a:grpSpLocks/>
          </p:cNvGrpSpPr>
          <p:nvPr/>
        </p:nvGrpSpPr>
        <p:grpSpPr>
          <a:xfrm>
            <a:off x="2438400" y="33670"/>
            <a:ext cx="5334000" cy="1198310"/>
            <a:chOff x="2438400" y="33670"/>
            <a:chExt cx="5334000" cy="1198310"/>
          </a:xfrm>
        </p:grpSpPr>
        <p:pic>
          <p:nvPicPr>
            <p:cNvPr id="33" name="图片"/>
            <p:cNvPicPr>
              <a:picLocks/>
            </p:cNvPicPr>
            <p:nvPr/>
          </p:nvPicPr>
          <p:blipFill>
            <a:blip r:embed="rId4" cstate="print"/>
            <a:stretch>
              <a:fillRect/>
            </a:stretch>
          </p:blipFill>
          <p:spPr>
            <a:xfrm>
              <a:off x="2438400" y="33670"/>
              <a:ext cx="5334000" cy="1198310"/>
            </a:xfrm>
            <a:prstGeom prst="rect">
              <a:avLst/>
            </a:prstGeom>
            <a:noFill/>
            <a:ln w="12700" cap="flat" cmpd="sng">
              <a:noFill/>
              <a:prstDash val="solid"/>
              <a:miter/>
            </a:ln>
          </p:spPr>
        </p:pic>
        <p:pic>
          <p:nvPicPr>
            <p:cNvPr id="34" name="图片"/>
            <p:cNvPicPr>
              <a:picLocks/>
            </p:cNvPicPr>
            <p:nvPr/>
          </p:nvPicPr>
          <p:blipFill>
            <a:blip r:embed="rId5" cstate="print"/>
            <a:stretch>
              <a:fillRect/>
            </a:stretch>
          </p:blipFill>
          <p:spPr>
            <a:xfrm>
              <a:off x="2495887" y="72961"/>
              <a:ext cx="5223079" cy="1092278"/>
            </a:xfrm>
            <a:prstGeom prst="rect">
              <a:avLst/>
            </a:prstGeom>
            <a:noFill/>
            <a:ln w="12700" cap="flat" cmpd="sng">
              <a:noFill/>
              <a:prstDash val="solid"/>
              <a:miter/>
            </a:ln>
          </p:spPr>
        </p:pic>
        <p:pic>
          <p:nvPicPr>
            <p:cNvPr id="35" name="图片"/>
            <p:cNvPicPr>
              <a:picLocks/>
            </p:cNvPicPr>
            <p:nvPr/>
          </p:nvPicPr>
          <p:blipFill>
            <a:blip r:embed="rId6" cstate="print"/>
            <a:stretch>
              <a:fillRect/>
            </a:stretch>
          </p:blipFill>
          <p:spPr>
            <a:xfrm>
              <a:off x="2627285" y="230071"/>
              <a:ext cx="4791984" cy="522564"/>
            </a:xfrm>
            <a:prstGeom prst="rect">
              <a:avLst/>
            </a:prstGeom>
            <a:noFill/>
            <a:ln w="12700" cap="flat" cmpd="sng">
              <a:noFill/>
              <a:prstDash val="solid"/>
              <a:miter/>
            </a:ln>
          </p:spPr>
        </p:pic>
        <p:sp>
          <p:nvSpPr>
            <p:cNvPr id="36" name="曲线"/>
            <p:cNvSpPr>
              <a:spLocks/>
            </p:cNvSpPr>
            <p:nvPr/>
          </p:nvSpPr>
          <p:spPr>
            <a:xfrm>
              <a:off x="2684771" y="269414"/>
              <a:ext cx="4681227" cy="416558"/>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49" y="282"/>
                  </a:lnTo>
                  <a:lnTo>
                    <a:pt x="117" y="1053"/>
                  </a:lnTo>
                  <a:lnTo>
                    <a:pt x="32" y="2194"/>
                  </a:lnTo>
                  <a:lnTo>
                    <a:pt x="0" y="3596"/>
                  </a:lnTo>
                  <a:lnTo>
                    <a:pt x="0" y="17988"/>
                  </a:lnTo>
                  <a:lnTo>
                    <a:pt x="32" y="19390"/>
                  </a:lnTo>
                  <a:lnTo>
                    <a:pt x="117" y="20531"/>
                  </a:lnTo>
                  <a:lnTo>
                    <a:pt x="249" y="21302"/>
                  </a:lnTo>
                  <a:lnTo>
                    <a:pt x="409" y="21585"/>
                  </a:lnTo>
                  <a:lnTo>
                    <a:pt x="21189" y="21585"/>
                  </a:lnTo>
                  <a:lnTo>
                    <a:pt x="21349" y="21302"/>
                  </a:lnTo>
                  <a:lnTo>
                    <a:pt x="21479" y="20531"/>
                  </a:lnTo>
                  <a:lnTo>
                    <a:pt x="21565" y="19390"/>
                  </a:lnTo>
                  <a:lnTo>
                    <a:pt x="21599" y="17988"/>
                  </a:lnTo>
                  <a:lnTo>
                    <a:pt x="21599" y="3596"/>
                  </a:lnTo>
                  <a:lnTo>
                    <a:pt x="21565" y="2194"/>
                  </a:lnTo>
                  <a:lnTo>
                    <a:pt x="21479" y="1053"/>
                  </a:lnTo>
                  <a:lnTo>
                    <a:pt x="21349" y="282"/>
                  </a:lnTo>
                  <a:lnTo>
                    <a:pt x="21189" y="0"/>
                  </a:lnTo>
                  <a:close/>
                </a:path>
              </a:pathLst>
            </a:custGeom>
            <a:solidFill>
              <a:srgbClr val="FF6600"/>
            </a:solidFill>
            <a:ln cap="flat" cmpd="sng">
              <a:noFill/>
              <a:prstDash val="solid"/>
              <a:miter/>
            </a:ln>
          </p:spPr>
          <p:txBody>
            <a:bodyPr/>
            <a:lstStyle/>
            <a:p>
              <a:r>
                <a:rPr lang="en-US" dirty="0"/>
                <a:t>             </a:t>
              </a:r>
              <a:endParaRPr lang="en-IN" dirty="0"/>
            </a:p>
          </p:txBody>
        </p:sp>
      </p:grpSp>
      <p:sp>
        <p:nvSpPr>
          <p:cNvPr id="38" name="矩形"/>
          <p:cNvSpPr>
            <a:spLocks/>
          </p:cNvSpPr>
          <p:nvPr/>
        </p:nvSpPr>
        <p:spPr>
          <a:xfrm>
            <a:off x="3604543" y="286092"/>
            <a:ext cx="2853687" cy="386003"/>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ctr">
              <a:lnSpc>
                <a:spcPct val="100000"/>
              </a:lnSpc>
              <a:spcBef>
                <a:spcPts val="130"/>
              </a:spcBef>
              <a:spcAft>
                <a:spcPts val="0"/>
              </a:spcAft>
              <a:buNone/>
            </a:pPr>
            <a:r>
              <a:rPr lang="en-US" altLang="zh-CN" b="1" i="0" u="none" strike="noStrike" kern="0" cap="none" spc="0" baseline="0" dirty="0">
                <a:solidFill>
                  <a:schemeClr val="bg1"/>
                </a:solidFill>
                <a:latin typeface="Times New Roman" pitchFamily="18" charset="0"/>
                <a:ea typeface="宋体" charset="0"/>
                <a:cs typeface="Times New Roman" pitchFamily="18" charset="0"/>
              </a:rPr>
              <a:t>Presentation</a:t>
            </a:r>
            <a:r>
              <a:rPr lang="en-US" altLang="zh-CN" sz="2200" b="1" i="0" u="none" strike="noStrike" kern="0" cap="none" spc="0" baseline="0" dirty="0">
                <a:solidFill>
                  <a:schemeClr val="bg1"/>
                </a:solidFill>
                <a:latin typeface="Times New Roman" pitchFamily="18" charset="0"/>
                <a:ea typeface="宋体" charset="0"/>
                <a:cs typeface="Times New Roman" pitchFamily="18" charset="0"/>
              </a:rPr>
              <a:t> Outline</a:t>
            </a:r>
            <a:endParaRPr lang="zh-CN" altLang="en-US" sz="2200" b="1" i="0" u="none" strike="noStrike" kern="0" cap="none" spc="0" baseline="0" dirty="0">
              <a:solidFill>
                <a:schemeClr val="bg1"/>
              </a:solidFill>
              <a:latin typeface="Times New Roman" pitchFamily="18" charset="0"/>
              <a:ea typeface="宋体" charset="0"/>
              <a:cs typeface="Times New Roman" pitchFamily="18" charset="0"/>
            </a:endParaRPr>
          </a:p>
        </p:txBody>
      </p:sp>
    </p:spTree>
    <p:extLst>
      <p:ext uri="{BB962C8B-B14F-4D97-AF65-F5344CB8AC3E}">
        <p14:creationId xmlns:p14="http://schemas.microsoft.com/office/powerpoint/2010/main" val="1441484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45" name="组合"/>
          <p:cNvGrpSpPr>
            <a:grpSpLocks/>
          </p:cNvGrpSpPr>
          <p:nvPr/>
        </p:nvGrpSpPr>
        <p:grpSpPr>
          <a:xfrm>
            <a:off x="2667000" y="53695"/>
            <a:ext cx="5103903" cy="1198311"/>
            <a:chOff x="2667000" y="53695"/>
            <a:chExt cx="5103903" cy="1198311"/>
          </a:xfrm>
        </p:grpSpPr>
        <p:pic>
          <p:nvPicPr>
            <p:cNvPr id="41" name="图片"/>
            <p:cNvPicPr>
              <a:picLocks/>
            </p:cNvPicPr>
            <p:nvPr/>
          </p:nvPicPr>
          <p:blipFill>
            <a:blip r:embed="rId3" cstate="print"/>
            <a:stretch>
              <a:fillRect/>
            </a:stretch>
          </p:blipFill>
          <p:spPr>
            <a:xfrm>
              <a:off x="2667000" y="53695"/>
              <a:ext cx="5103903" cy="1198311"/>
            </a:xfrm>
            <a:prstGeom prst="rect">
              <a:avLst/>
            </a:prstGeom>
            <a:noFill/>
            <a:ln w="12700" cap="flat" cmpd="sng">
              <a:noFill/>
              <a:prstDash val="solid"/>
              <a:miter/>
            </a:ln>
          </p:spPr>
        </p:pic>
        <p:pic>
          <p:nvPicPr>
            <p:cNvPr id="42" name="图片"/>
            <p:cNvPicPr>
              <a:picLocks/>
            </p:cNvPicPr>
            <p:nvPr/>
          </p:nvPicPr>
          <p:blipFill>
            <a:blip r:embed="rId4" cstate="print"/>
            <a:stretch>
              <a:fillRect/>
            </a:stretch>
          </p:blipFill>
          <p:spPr>
            <a:xfrm>
              <a:off x="2722006" y="92985"/>
              <a:ext cx="4997766" cy="1092279"/>
            </a:xfrm>
            <a:prstGeom prst="rect">
              <a:avLst/>
            </a:prstGeom>
            <a:noFill/>
            <a:ln w="12700" cap="flat" cmpd="sng">
              <a:noFill/>
              <a:prstDash val="solid"/>
              <a:miter/>
            </a:ln>
          </p:spPr>
        </p:pic>
        <p:pic>
          <p:nvPicPr>
            <p:cNvPr id="43" name="图片"/>
            <p:cNvPicPr>
              <a:picLocks/>
            </p:cNvPicPr>
            <p:nvPr/>
          </p:nvPicPr>
          <p:blipFill>
            <a:blip r:embed="rId5" cstate="print"/>
            <a:stretch>
              <a:fillRect/>
            </a:stretch>
          </p:blipFill>
          <p:spPr>
            <a:xfrm>
              <a:off x="2847736" y="250096"/>
              <a:ext cx="4585268" cy="522565"/>
            </a:xfrm>
            <a:prstGeom prst="rect">
              <a:avLst/>
            </a:prstGeom>
            <a:noFill/>
            <a:ln w="12700" cap="flat" cmpd="sng">
              <a:noFill/>
              <a:prstDash val="solid"/>
              <a:miter/>
            </a:ln>
          </p:spPr>
        </p:pic>
        <p:sp>
          <p:nvSpPr>
            <p:cNvPr id="44" name="曲线"/>
            <p:cNvSpPr>
              <a:spLocks/>
            </p:cNvSpPr>
            <p:nvPr/>
          </p:nvSpPr>
          <p:spPr>
            <a:xfrm>
              <a:off x="2902743" y="289439"/>
              <a:ext cx="4479290" cy="416558"/>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2"/>
                  </a:lnTo>
                  <a:lnTo>
                    <a:pt x="118" y="1053"/>
                  </a:lnTo>
                  <a:lnTo>
                    <a:pt x="32" y="2193"/>
                  </a:lnTo>
                  <a:lnTo>
                    <a:pt x="0" y="3596"/>
                  </a:lnTo>
                  <a:lnTo>
                    <a:pt x="0" y="17988"/>
                  </a:lnTo>
                  <a:lnTo>
                    <a:pt x="32" y="19390"/>
                  </a:lnTo>
                  <a:lnTo>
                    <a:pt x="118" y="20531"/>
                  </a:lnTo>
                  <a:lnTo>
                    <a:pt x="250" y="21302"/>
                  </a:lnTo>
                  <a:lnTo>
                    <a:pt x="409" y="21585"/>
                  </a:lnTo>
                  <a:lnTo>
                    <a:pt x="21188" y="21585"/>
                  </a:lnTo>
                  <a:lnTo>
                    <a:pt x="21349" y="21302"/>
                  </a:lnTo>
                  <a:lnTo>
                    <a:pt x="21479" y="20531"/>
                  </a:lnTo>
                  <a:lnTo>
                    <a:pt x="21566" y="19390"/>
                  </a:lnTo>
                  <a:lnTo>
                    <a:pt x="21599" y="17988"/>
                  </a:lnTo>
                  <a:lnTo>
                    <a:pt x="21599" y="3596"/>
                  </a:lnTo>
                  <a:lnTo>
                    <a:pt x="21566" y="2193"/>
                  </a:lnTo>
                  <a:lnTo>
                    <a:pt x="21479" y="1053"/>
                  </a:lnTo>
                  <a:lnTo>
                    <a:pt x="21349" y="282"/>
                  </a:lnTo>
                  <a:lnTo>
                    <a:pt x="21188" y="0"/>
                  </a:lnTo>
                  <a:close/>
                </a:path>
              </a:pathLst>
            </a:custGeom>
            <a:solidFill>
              <a:srgbClr val="FF6600"/>
            </a:solidFill>
            <a:ln cap="flat" cmpd="sng">
              <a:noFill/>
              <a:prstDash val="solid"/>
              <a:miter/>
            </a:ln>
          </p:spPr>
        </p:sp>
      </p:grpSp>
      <p:sp>
        <p:nvSpPr>
          <p:cNvPr id="46" name="文本框"/>
          <p:cNvSpPr>
            <a:spLocks noGrp="1"/>
          </p:cNvSpPr>
          <p:nvPr>
            <p:ph type="title"/>
          </p:nvPr>
        </p:nvSpPr>
        <p:spPr>
          <a:xfrm>
            <a:off x="3444980" y="289438"/>
            <a:ext cx="4043030" cy="386003"/>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400" b="1" i="0" u="none" strike="noStrike" kern="0" cap="none" spc="0" baseline="0" dirty="0">
                <a:solidFill>
                  <a:schemeClr val="bg1"/>
                </a:solidFill>
                <a:latin typeface="Times New Roman" pitchFamily="18" charset="0"/>
                <a:ea typeface="宋体" charset="0"/>
                <a:cs typeface="Times New Roman" pitchFamily="18" charset="0"/>
              </a:rPr>
              <a:t>     Project Overview</a:t>
            </a:r>
            <a:endParaRPr lang="zh-CN" altLang="en-US" sz="2400"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47"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48" name="矩形"/>
          <p:cNvSpPr>
            <a:spLocks/>
          </p:cNvSpPr>
          <p:nvPr/>
        </p:nvSpPr>
        <p:spPr>
          <a:xfrm>
            <a:off x="6812280" y="2270550"/>
            <a:ext cx="4114798" cy="384721"/>
          </a:xfrm>
          <a:prstGeom prst="rect">
            <a:avLst/>
          </a:prstGeom>
          <a:noFill/>
          <a:ln w="12700" cap="flat" cmpd="sng">
            <a:noFill/>
            <a:prstDash val="solid"/>
            <a:miter/>
          </a:ln>
        </p:spPr>
      </p:sp>
      <p:sp>
        <p:nvSpPr>
          <p:cNvPr id="49" name="矩形"/>
          <p:cNvSpPr>
            <a:spLocks/>
          </p:cNvSpPr>
          <p:nvPr/>
        </p:nvSpPr>
        <p:spPr>
          <a:xfrm>
            <a:off x="91441" y="1234440"/>
            <a:ext cx="10058401" cy="6057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700" b="0" i="0" u="none" strike="noStrike" kern="0" cap="none" spc="0" baseline="0" dirty="0">
                <a:solidFill>
                  <a:srgbClr val="141414"/>
                </a:solidFill>
                <a:latin typeface="Times New Roman" pitchFamily="18" charset="0"/>
                <a:ea typeface="Droid Sans" charset="0"/>
                <a:cs typeface="Lucida Sans" charset="0"/>
              </a:rPr>
              <a:t>A Library Management System is a database application used to manage the activities of a library efficiently.</a:t>
            </a:r>
            <a:endParaRPr lang="zh-CN" altLang="en-US" sz="1700" b="0" i="0" u="none" strike="noStrike" kern="0" cap="none" spc="0" baseline="0">
              <a:solidFill>
                <a:srgbClr val="141414"/>
              </a:solidFill>
              <a:latin typeface="Times New Roman" pitchFamily="18" charset="0"/>
              <a:ea typeface="Droid Sans" charset="0"/>
              <a:cs typeface="Lucida Sans" charset="0"/>
            </a:endParaRPr>
          </a:p>
        </p:txBody>
      </p:sp>
      <p:sp>
        <p:nvSpPr>
          <p:cNvPr id="50" name="圆角矩形"/>
          <p:cNvSpPr>
            <a:spLocks/>
          </p:cNvSpPr>
          <p:nvPr/>
        </p:nvSpPr>
        <p:spPr>
          <a:xfrm>
            <a:off x="5486401" y="2148840"/>
            <a:ext cx="4389120" cy="160020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51" name="矩形"/>
          <p:cNvSpPr>
            <a:spLocks/>
          </p:cNvSpPr>
          <p:nvPr/>
        </p:nvSpPr>
        <p:spPr>
          <a:xfrm>
            <a:off x="5623561" y="2258568"/>
            <a:ext cx="4114798" cy="4616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b="1" i="0" u="none" strike="noStrike" kern="0" cap="none" spc="0" baseline="0" dirty="0">
                <a:solidFill>
                  <a:srgbClr val="234B78"/>
                </a:solidFill>
                <a:latin typeface="Times New Roman" pitchFamily="18" charset="0"/>
                <a:ea typeface="Droid Sans" charset="0"/>
                <a:cs typeface="Lucida Sans" charset="0"/>
              </a:rPr>
              <a:t>PURPOSE</a:t>
            </a:r>
            <a:endParaRPr lang="zh-CN" altLang="en-US" b="1" i="0" u="none" strike="noStrike" kern="0" cap="none" spc="0" baseline="0" dirty="0">
              <a:solidFill>
                <a:srgbClr val="234B78"/>
              </a:solidFill>
              <a:latin typeface="Times New Roman" pitchFamily="18" charset="0"/>
              <a:ea typeface="Droid Sans" charset="0"/>
              <a:cs typeface="Lucida Sans" charset="0"/>
            </a:endParaRPr>
          </a:p>
        </p:txBody>
      </p:sp>
      <p:sp>
        <p:nvSpPr>
          <p:cNvPr id="52" name="矩形"/>
          <p:cNvSpPr>
            <a:spLocks/>
          </p:cNvSpPr>
          <p:nvPr/>
        </p:nvSpPr>
        <p:spPr>
          <a:xfrm>
            <a:off x="5623561" y="2578608"/>
            <a:ext cx="4251960" cy="92333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endParaRPr lang="en-US" altLang="zh-CN" sz="1800" b="0" i="0" u="none" strike="noStrike" kern="0" cap="none" spc="0" baseline="0" dirty="0">
              <a:solidFill>
                <a:srgbClr val="141414"/>
              </a:solidFill>
              <a:latin typeface="Times New Roman" pitchFamily="18" charset="0"/>
              <a:ea typeface="Droid Sans" charset="0"/>
              <a:cs typeface="Lucida Sans" charset="0"/>
            </a:endParaRPr>
          </a:p>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To replace manual record management with a structured and reliable database system.</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54" name="圆角矩形"/>
          <p:cNvSpPr>
            <a:spLocks/>
          </p:cNvSpPr>
          <p:nvPr/>
        </p:nvSpPr>
        <p:spPr>
          <a:xfrm>
            <a:off x="290750" y="1953406"/>
            <a:ext cx="4937760" cy="3156605"/>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l">
              <a:lnSpc>
                <a:spcPct val="100000"/>
              </a:lnSpc>
              <a:spcBef>
                <a:spcPts val="0"/>
              </a:spcBef>
              <a:spcAft>
                <a:spcPts val="0"/>
              </a:spcAft>
              <a:buNone/>
            </a:pPr>
            <a:endParaRPr lang="en-US" altLang="zh-CN" b="1" i="0" u="none" strike="noStrike" kern="0" cap="none" spc="0" baseline="0" dirty="0">
              <a:solidFill>
                <a:srgbClr val="234B78"/>
              </a:solidFill>
              <a:latin typeface="Times New Roman" pitchFamily="18" charset="0"/>
              <a:ea typeface="宋体" charset="0"/>
              <a:cs typeface="Calibri" charset="0"/>
            </a:endParaRPr>
          </a:p>
          <a:p>
            <a:pPr marL="0" indent="0" algn="l">
              <a:lnSpc>
                <a:spcPct val="100000"/>
              </a:lnSpc>
              <a:spcBef>
                <a:spcPts val="0"/>
              </a:spcBef>
              <a:spcAft>
                <a:spcPts val="0"/>
              </a:spcAft>
              <a:buNone/>
            </a:pPr>
            <a:r>
              <a:rPr lang="en-US" altLang="zh-CN" b="1" i="0" u="none" strike="noStrike" kern="0" cap="none" spc="0" baseline="0" dirty="0">
                <a:solidFill>
                  <a:srgbClr val="234B78"/>
                </a:solidFill>
                <a:latin typeface="Times New Roman" pitchFamily="18" charset="0"/>
                <a:ea typeface="宋体" charset="0"/>
                <a:cs typeface="Calibri" charset="0"/>
              </a:rPr>
              <a:t>It maintains information about:</a:t>
            </a:r>
          </a:p>
          <a:p>
            <a:pPr marL="0" indent="0" algn="l">
              <a:lnSpc>
                <a:spcPct val="100000"/>
              </a:lnSpc>
              <a:spcBef>
                <a:spcPts val="0"/>
              </a:spcBef>
              <a:spcAft>
                <a:spcPts val="0"/>
              </a:spcAft>
              <a:buNone/>
            </a:pPr>
            <a:endParaRPr lang="en-US" altLang="zh-CN" b="1" i="0" u="none" strike="noStrike" kern="0" cap="none" spc="0" baseline="0" dirty="0">
              <a:solidFill>
                <a:srgbClr val="234B78"/>
              </a:solidFill>
              <a:latin typeface="Times New Roman" pitchFamily="18" charset="0"/>
              <a:ea typeface="宋体" charset="0"/>
              <a:cs typeface="Calibri" charset="0"/>
            </a:endParaRPr>
          </a:p>
          <a:p>
            <a:pPr marL="0" indent="0" algn="l">
              <a:lnSpc>
                <a:spcPct val="100000"/>
              </a:lnSpc>
              <a:spcBef>
                <a:spcPts val="0"/>
              </a:spcBef>
              <a:spcAft>
                <a:spcPts val="700"/>
              </a:spcAft>
              <a:buNone/>
            </a:pPr>
            <a:r>
              <a:rPr lang="en-US" altLang="zh-CN" sz="1550" b="0" i="0" u="none" strike="noStrike" kern="0" cap="none" spc="0" baseline="0" dirty="0">
                <a:solidFill>
                  <a:srgbClr val="141414"/>
                </a:solidFill>
                <a:latin typeface="Times New Roman" pitchFamily="18" charset="0"/>
                <a:ea typeface="宋体" charset="0"/>
                <a:cs typeface="Calibri" charset="0"/>
              </a:rPr>
              <a:t>• </a:t>
            </a:r>
            <a:r>
              <a:rPr lang="en-US" altLang="zh-CN" sz="1800" b="0" i="0" u="none" strike="noStrike" kern="0" cap="none" spc="0" baseline="0" dirty="0">
                <a:solidFill>
                  <a:srgbClr val="141414"/>
                </a:solidFill>
                <a:latin typeface="Times New Roman" pitchFamily="18" charset="0"/>
                <a:ea typeface="宋体" charset="0"/>
                <a:cs typeface="Calibri" charset="0"/>
              </a:rPr>
              <a:t>Books</a:t>
            </a:r>
          </a:p>
          <a:p>
            <a:pPr marL="0" indent="0" algn="l">
              <a:lnSpc>
                <a:spcPct val="100000"/>
              </a:lnSpc>
              <a:spcBef>
                <a:spcPts val="0"/>
              </a:spcBef>
              <a:spcAft>
                <a:spcPts val="7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Members</a:t>
            </a:r>
          </a:p>
          <a:p>
            <a:pPr marL="0" indent="0" algn="l">
              <a:lnSpc>
                <a:spcPct val="100000"/>
              </a:lnSpc>
              <a:spcBef>
                <a:spcPts val="0"/>
              </a:spcBef>
              <a:spcAft>
                <a:spcPts val="7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Librarians</a:t>
            </a:r>
          </a:p>
          <a:p>
            <a:pPr marL="0" indent="0" algn="l">
              <a:lnSpc>
                <a:spcPct val="100000"/>
              </a:lnSpc>
              <a:spcBef>
                <a:spcPts val="0"/>
              </a:spcBef>
              <a:spcAft>
                <a:spcPts val="7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Authors</a:t>
            </a:r>
          </a:p>
          <a:p>
            <a:pPr marL="0" indent="0" algn="l">
              <a:lnSpc>
                <a:spcPct val="100000"/>
              </a:lnSpc>
              <a:spcBef>
                <a:spcPts val="0"/>
              </a:spcBef>
              <a:spcAft>
                <a:spcPts val="7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Categories</a:t>
            </a:r>
          </a:p>
          <a:p>
            <a:pPr marL="0" indent="0" algn="l">
              <a:lnSpc>
                <a:spcPct val="100000"/>
              </a:lnSpc>
              <a:spcBef>
                <a:spcPts val="0"/>
              </a:spcBef>
              <a:spcAft>
                <a:spcPts val="7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Book Issue and Return Transactions</a:t>
            </a:r>
            <a:endParaRPr lang="en-US" altLang="zh-CN" sz="1800" b="1" i="0" u="none" strike="noStrike" kern="0" cap="none" spc="0" baseline="0" dirty="0">
              <a:solidFill>
                <a:srgbClr val="234B78"/>
              </a:solidFill>
              <a:latin typeface="Times New Roman" pitchFamily="18" charset="0"/>
              <a:ea typeface="宋体" charset="0"/>
              <a:cs typeface="Calibri" charset="0"/>
            </a:endParaRPr>
          </a:p>
          <a:p>
            <a:pPr marL="0" indent="0" algn="l">
              <a:lnSpc>
                <a:spcPct val="100000"/>
              </a:lnSpc>
              <a:spcBef>
                <a:spcPts val="0"/>
              </a:spcBef>
              <a:spcAft>
                <a:spcPts val="0"/>
              </a:spcAft>
              <a:buNone/>
            </a:pPr>
            <a:endParaRPr lang="zh-CN" altLang="en-US" sz="2400" b="1" i="0" u="none" strike="noStrike" kern="0" cap="none" spc="0" baseline="0" dirty="0">
              <a:solidFill>
                <a:srgbClr val="234B78"/>
              </a:solidFill>
              <a:latin typeface="Times New Roman" pitchFamily="18" charset="0"/>
              <a:ea typeface="宋体" charset="0"/>
              <a:cs typeface="Calibri" charset="0"/>
            </a:endParaRPr>
          </a:p>
        </p:txBody>
      </p:sp>
    </p:spTree>
    <p:extLst>
      <p:ext uri="{BB962C8B-B14F-4D97-AF65-F5344CB8AC3E}">
        <p14:creationId xmlns:p14="http://schemas.microsoft.com/office/powerpoint/2010/main" val="1309684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组合"/>
          <p:cNvGrpSpPr>
            <a:grpSpLocks/>
          </p:cNvGrpSpPr>
          <p:nvPr/>
        </p:nvGrpSpPr>
        <p:grpSpPr>
          <a:xfrm>
            <a:off x="2667000" y="85007"/>
            <a:ext cx="5103903" cy="1198311"/>
            <a:chOff x="2667000" y="85007"/>
            <a:chExt cx="5103903" cy="1198311"/>
          </a:xfrm>
        </p:grpSpPr>
        <p:pic>
          <p:nvPicPr>
            <p:cNvPr id="57" name="图片"/>
            <p:cNvPicPr>
              <a:picLocks/>
            </p:cNvPicPr>
            <p:nvPr/>
          </p:nvPicPr>
          <p:blipFill>
            <a:blip r:embed="rId3" cstate="print"/>
            <a:stretch>
              <a:fillRect/>
            </a:stretch>
          </p:blipFill>
          <p:spPr>
            <a:xfrm>
              <a:off x="2667000" y="85007"/>
              <a:ext cx="5103903" cy="1198311"/>
            </a:xfrm>
            <a:prstGeom prst="rect">
              <a:avLst/>
            </a:prstGeom>
            <a:noFill/>
            <a:ln w="12700" cap="flat" cmpd="sng">
              <a:noFill/>
              <a:prstDash val="solid"/>
              <a:miter/>
            </a:ln>
          </p:spPr>
        </p:pic>
        <p:pic>
          <p:nvPicPr>
            <p:cNvPr id="58" name="图片"/>
            <p:cNvPicPr>
              <a:picLocks/>
            </p:cNvPicPr>
            <p:nvPr/>
          </p:nvPicPr>
          <p:blipFill>
            <a:blip r:embed="rId4" cstate="print"/>
            <a:stretch>
              <a:fillRect/>
            </a:stretch>
          </p:blipFill>
          <p:spPr>
            <a:xfrm>
              <a:off x="2722006" y="124299"/>
              <a:ext cx="4997766" cy="1092279"/>
            </a:xfrm>
            <a:prstGeom prst="rect">
              <a:avLst/>
            </a:prstGeom>
            <a:noFill/>
            <a:ln w="12700" cap="flat" cmpd="sng">
              <a:noFill/>
              <a:prstDash val="solid"/>
              <a:miter/>
            </a:ln>
          </p:spPr>
        </p:pic>
        <p:pic>
          <p:nvPicPr>
            <p:cNvPr id="59" name="图片"/>
            <p:cNvPicPr>
              <a:picLocks/>
            </p:cNvPicPr>
            <p:nvPr/>
          </p:nvPicPr>
          <p:blipFill>
            <a:blip r:embed="rId5" cstate="print"/>
            <a:stretch>
              <a:fillRect/>
            </a:stretch>
          </p:blipFill>
          <p:spPr>
            <a:xfrm>
              <a:off x="2847736" y="281409"/>
              <a:ext cx="4585268" cy="522565"/>
            </a:xfrm>
            <a:prstGeom prst="rect">
              <a:avLst/>
            </a:prstGeom>
            <a:noFill/>
            <a:ln w="12700" cap="flat" cmpd="sng">
              <a:noFill/>
              <a:prstDash val="solid"/>
              <a:miter/>
            </a:ln>
          </p:spPr>
        </p:pic>
        <p:sp>
          <p:nvSpPr>
            <p:cNvPr id="60" name="曲线"/>
            <p:cNvSpPr>
              <a:spLocks/>
            </p:cNvSpPr>
            <p:nvPr/>
          </p:nvSpPr>
          <p:spPr>
            <a:xfrm>
              <a:off x="2902743" y="320752"/>
              <a:ext cx="4479290" cy="416558"/>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1"/>
                  </a:lnTo>
                  <a:lnTo>
                    <a:pt x="32" y="2193"/>
                  </a:lnTo>
                  <a:lnTo>
                    <a:pt x="0" y="3595"/>
                  </a:lnTo>
                  <a:lnTo>
                    <a:pt x="0" y="17987"/>
                  </a:lnTo>
                  <a:lnTo>
                    <a:pt x="32" y="19389"/>
                  </a:lnTo>
                  <a:lnTo>
                    <a:pt x="118" y="20531"/>
                  </a:lnTo>
                  <a:lnTo>
                    <a:pt x="250" y="21302"/>
                  </a:lnTo>
                  <a:lnTo>
                    <a:pt x="409" y="21585"/>
                  </a:lnTo>
                  <a:lnTo>
                    <a:pt x="21188" y="21585"/>
                  </a:lnTo>
                  <a:lnTo>
                    <a:pt x="21349" y="21302"/>
                  </a:lnTo>
                  <a:lnTo>
                    <a:pt x="21479" y="20531"/>
                  </a:lnTo>
                  <a:lnTo>
                    <a:pt x="21566" y="19389"/>
                  </a:lnTo>
                  <a:lnTo>
                    <a:pt x="21599" y="17987"/>
                  </a:lnTo>
                  <a:lnTo>
                    <a:pt x="21599" y="3595"/>
                  </a:lnTo>
                  <a:lnTo>
                    <a:pt x="21566" y="2193"/>
                  </a:lnTo>
                  <a:lnTo>
                    <a:pt x="21479" y="1051"/>
                  </a:lnTo>
                  <a:lnTo>
                    <a:pt x="21349" y="281"/>
                  </a:lnTo>
                  <a:lnTo>
                    <a:pt x="21188" y="0"/>
                  </a:lnTo>
                  <a:close/>
                </a:path>
              </a:pathLst>
            </a:custGeom>
            <a:solidFill>
              <a:srgbClr val="FF6600"/>
            </a:solidFill>
            <a:ln cap="flat" cmpd="sng">
              <a:noFill/>
              <a:prstDash val="solid"/>
              <a:miter/>
            </a:ln>
          </p:spPr>
        </p:sp>
      </p:grpSp>
      <p:sp>
        <p:nvSpPr>
          <p:cNvPr id="62" name="矩形"/>
          <p:cNvSpPr>
            <a:spLocks/>
          </p:cNvSpPr>
          <p:nvPr/>
        </p:nvSpPr>
        <p:spPr>
          <a:xfrm>
            <a:off x="2718452" y="332720"/>
            <a:ext cx="5029200" cy="681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000" b="1" i="0" u="none" strike="noStrike" kern="0" cap="none" spc="0" baseline="0" dirty="0">
                <a:solidFill>
                  <a:srgbClr val="FFFFFF"/>
                </a:solidFill>
                <a:latin typeface="Times New Roman" pitchFamily="18" charset="0"/>
                <a:ea typeface="Droid Sans" charset="0"/>
                <a:cs typeface="Lucida Sans" charset="0"/>
              </a:rPr>
              <a:t>PROBLEM STATEMENT</a:t>
            </a:r>
          </a:p>
          <a:p>
            <a:pPr marL="0" indent="0" algn="l">
              <a:lnSpc>
                <a:spcPct val="100000"/>
              </a:lnSpc>
              <a:spcBef>
                <a:spcPts val="0"/>
              </a:spcBef>
              <a:spcAft>
                <a:spcPts val="0"/>
              </a:spcAft>
              <a:buNone/>
            </a:pPr>
            <a:endParaRPr lang="zh-CN" altLang="en-US" sz="1950" b="1" i="0" u="none" strike="noStrike" kern="0" cap="none" spc="0" baseline="0" dirty="0">
              <a:solidFill>
                <a:schemeClr val="bg1"/>
              </a:solidFill>
              <a:latin typeface="Times New Roman" pitchFamily="18" charset="0"/>
              <a:ea typeface="Droid Sans" charset="0"/>
              <a:cs typeface="Times New Roman" pitchFamily="18" charset="0"/>
            </a:endParaRPr>
          </a:p>
        </p:txBody>
      </p:sp>
      <p:pic>
        <p:nvPicPr>
          <p:cNvPr id="63"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64" name="矩形"/>
          <p:cNvSpPr>
            <a:spLocks/>
          </p:cNvSpPr>
          <p:nvPr/>
        </p:nvSpPr>
        <p:spPr>
          <a:xfrm>
            <a:off x="152400" y="1270755"/>
            <a:ext cx="10424161" cy="37718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900" b="1" i="0" u="none" strike="noStrike" kern="0" cap="none" spc="0" baseline="0" dirty="0">
                <a:solidFill>
                  <a:srgbClr val="234B78"/>
                </a:solidFill>
                <a:latin typeface="Times New Roman" pitchFamily="18" charset="0"/>
                <a:ea typeface="Droid Sans" charset="0"/>
                <a:cs typeface="Lucida Sans" charset="0"/>
              </a:rPr>
              <a:t>Traditional/manual library management faces several difficulties:</a:t>
            </a:r>
            <a:endParaRPr lang="zh-CN" altLang="en-US" sz="1900" b="1" i="0" u="none" strike="noStrike" kern="0" cap="none" spc="0" baseline="0">
              <a:solidFill>
                <a:srgbClr val="234B78"/>
              </a:solidFill>
              <a:latin typeface="Times New Roman" pitchFamily="18" charset="0"/>
              <a:ea typeface="Droid Sans" charset="0"/>
              <a:cs typeface="Lucida Sans" charset="0"/>
            </a:endParaRPr>
          </a:p>
        </p:txBody>
      </p:sp>
      <p:sp>
        <p:nvSpPr>
          <p:cNvPr id="65" name="圆角矩形"/>
          <p:cNvSpPr>
            <a:spLocks/>
          </p:cNvSpPr>
          <p:nvPr/>
        </p:nvSpPr>
        <p:spPr>
          <a:xfrm>
            <a:off x="6341884" y="2190880"/>
            <a:ext cx="3383279" cy="256032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66" name="矩形"/>
          <p:cNvSpPr>
            <a:spLocks/>
          </p:cNvSpPr>
          <p:nvPr/>
        </p:nvSpPr>
        <p:spPr>
          <a:xfrm>
            <a:off x="6601337" y="2495467"/>
            <a:ext cx="310896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Problem Statement</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67" name="矩形"/>
          <p:cNvSpPr>
            <a:spLocks/>
          </p:cNvSpPr>
          <p:nvPr/>
        </p:nvSpPr>
        <p:spPr>
          <a:xfrm>
            <a:off x="6492240" y="2844111"/>
            <a:ext cx="3108960" cy="175432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To develop a database-based Library Management System that efficiently stores, manages, retrieves, and maintains library information while reducing manual effort and data errors.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69" name="圆角矩形"/>
          <p:cNvSpPr>
            <a:spLocks/>
          </p:cNvSpPr>
          <p:nvPr/>
        </p:nvSpPr>
        <p:spPr>
          <a:xfrm>
            <a:off x="488794" y="2014579"/>
            <a:ext cx="5245830" cy="344808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Maintaining large numbers of book records</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Finding book information quickly</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Tracking available and issued books</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Managing member information</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Recording issue and return dates</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Avoiding duplicate or incorrect records</a:t>
            </a:r>
          </a:p>
          <a:p>
            <a:pPr marL="0" indent="0" algn="l">
              <a:lnSpc>
                <a:spcPct val="100000"/>
              </a:lnSpc>
              <a:spcBef>
                <a:spcPts val="0"/>
              </a:spcBef>
              <a:spcAft>
                <a:spcPts val="500"/>
              </a:spcAft>
              <a:buNone/>
            </a:pPr>
            <a:r>
              <a:rPr lang="en-US" altLang="zh-CN" sz="1800" b="0" i="0" u="none" strike="noStrike" kern="0" cap="none" spc="0" baseline="0" dirty="0">
                <a:solidFill>
                  <a:srgbClr val="141414"/>
                </a:solidFill>
                <a:latin typeface="Times New Roman" pitchFamily="18" charset="0"/>
                <a:ea typeface="宋体" charset="0"/>
                <a:cs typeface="Calibri" charset="0"/>
              </a:rPr>
              <a:t>• Tracking overdue books and transactions</a:t>
            </a:r>
            <a:endParaRPr lang="zh-CN" altLang="en-US" sz="1800" b="0" i="0" u="none" strike="noStrike" kern="0" cap="none" spc="0" baseline="0" dirty="0">
              <a:solidFill>
                <a:srgbClr val="141414"/>
              </a:solidFill>
              <a:latin typeface="Times New Roman" pitchFamily="18" charset="0"/>
              <a:ea typeface="宋体" charset="0"/>
              <a:cs typeface="Calibri" charset="0"/>
            </a:endParaRPr>
          </a:p>
        </p:txBody>
      </p:sp>
    </p:spTree>
    <p:extLst>
      <p:ext uri="{BB962C8B-B14F-4D97-AF65-F5344CB8AC3E}">
        <p14:creationId xmlns:p14="http://schemas.microsoft.com/office/powerpoint/2010/main" val="1841434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6" name="组合"/>
          <p:cNvGrpSpPr>
            <a:grpSpLocks/>
          </p:cNvGrpSpPr>
          <p:nvPr/>
        </p:nvGrpSpPr>
        <p:grpSpPr>
          <a:xfrm>
            <a:off x="2820895" y="478199"/>
            <a:ext cx="5103901" cy="1198311"/>
            <a:chOff x="2820895" y="478199"/>
            <a:chExt cx="5103901" cy="1198311"/>
          </a:xfrm>
        </p:grpSpPr>
        <p:pic>
          <p:nvPicPr>
            <p:cNvPr id="72" name="图片"/>
            <p:cNvPicPr>
              <a:picLocks/>
            </p:cNvPicPr>
            <p:nvPr/>
          </p:nvPicPr>
          <p:blipFill>
            <a:blip r:embed="rId3" cstate="print"/>
            <a:stretch>
              <a:fillRect/>
            </a:stretch>
          </p:blipFill>
          <p:spPr>
            <a:xfrm>
              <a:off x="2820895" y="478199"/>
              <a:ext cx="5103901" cy="1198311"/>
            </a:xfrm>
            <a:prstGeom prst="rect">
              <a:avLst/>
            </a:prstGeom>
            <a:noFill/>
            <a:ln w="12700" cap="flat" cmpd="sng">
              <a:noFill/>
              <a:prstDash val="solid"/>
              <a:miter/>
            </a:ln>
          </p:spPr>
        </p:pic>
        <p:pic>
          <p:nvPicPr>
            <p:cNvPr id="73" name="图片"/>
            <p:cNvPicPr>
              <a:picLocks/>
            </p:cNvPicPr>
            <p:nvPr/>
          </p:nvPicPr>
          <p:blipFill>
            <a:blip r:embed="rId4" cstate="print"/>
            <a:stretch>
              <a:fillRect/>
            </a:stretch>
          </p:blipFill>
          <p:spPr>
            <a:xfrm>
              <a:off x="2875903" y="517491"/>
              <a:ext cx="4997767" cy="1092279"/>
            </a:xfrm>
            <a:prstGeom prst="rect">
              <a:avLst/>
            </a:prstGeom>
            <a:noFill/>
            <a:ln w="12700" cap="flat" cmpd="sng">
              <a:noFill/>
              <a:prstDash val="solid"/>
              <a:miter/>
            </a:ln>
          </p:spPr>
        </p:pic>
        <p:pic>
          <p:nvPicPr>
            <p:cNvPr id="74" name="图片"/>
            <p:cNvPicPr>
              <a:picLocks/>
            </p:cNvPicPr>
            <p:nvPr/>
          </p:nvPicPr>
          <p:blipFill>
            <a:blip r:embed="rId5" cstate="print"/>
            <a:stretch>
              <a:fillRect/>
            </a:stretch>
          </p:blipFill>
          <p:spPr>
            <a:xfrm>
              <a:off x="3001633" y="674600"/>
              <a:ext cx="4585268" cy="522564"/>
            </a:xfrm>
            <a:prstGeom prst="rect">
              <a:avLst/>
            </a:prstGeom>
            <a:noFill/>
            <a:ln w="12700" cap="flat" cmpd="sng">
              <a:noFill/>
              <a:prstDash val="solid"/>
              <a:miter/>
            </a:ln>
          </p:spPr>
        </p:pic>
        <p:sp>
          <p:nvSpPr>
            <p:cNvPr id="75" name="曲线"/>
            <p:cNvSpPr>
              <a:spLocks/>
            </p:cNvSpPr>
            <p:nvPr/>
          </p:nvSpPr>
          <p:spPr>
            <a:xfrm>
              <a:off x="3056639" y="713943"/>
              <a:ext cx="4479290" cy="416558"/>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1"/>
                  </a:lnTo>
                  <a:lnTo>
                    <a:pt x="32" y="2194"/>
                  </a:lnTo>
                  <a:lnTo>
                    <a:pt x="0" y="3596"/>
                  </a:lnTo>
                  <a:lnTo>
                    <a:pt x="0" y="17987"/>
                  </a:lnTo>
                  <a:lnTo>
                    <a:pt x="32" y="19390"/>
                  </a:lnTo>
                  <a:lnTo>
                    <a:pt x="118" y="20531"/>
                  </a:lnTo>
                  <a:lnTo>
                    <a:pt x="250" y="21301"/>
                  </a:lnTo>
                  <a:lnTo>
                    <a:pt x="409" y="21585"/>
                  </a:lnTo>
                  <a:lnTo>
                    <a:pt x="21188" y="21585"/>
                  </a:lnTo>
                  <a:lnTo>
                    <a:pt x="21349" y="21301"/>
                  </a:lnTo>
                  <a:lnTo>
                    <a:pt x="21479" y="20531"/>
                  </a:lnTo>
                  <a:lnTo>
                    <a:pt x="21566" y="19390"/>
                  </a:lnTo>
                  <a:lnTo>
                    <a:pt x="21599" y="17987"/>
                  </a:lnTo>
                  <a:lnTo>
                    <a:pt x="21599" y="3596"/>
                  </a:lnTo>
                  <a:lnTo>
                    <a:pt x="21566" y="2194"/>
                  </a:lnTo>
                  <a:lnTo>
                    <a:pt x="21479" y="1051"/>
                  </a:lnTo>
                  <a:lnTo>
                    <a:pt x="21349" y="281"/>
                  </a:lnTo>
                  <a:lnTo>
                    <a:pt x="21188" y="0"/>
                  </a:lnTo>
                  <a:close/>
                </a:path>
              </a:pathLst>
            </a:custGeom>
            <a:solidFill>
              <a:srgbClr val="FF6600"/>
            </a:solidFill>
            <a:ln cap="flat" cmpd="sng">
              <a:noFill/>
              <a:prstDash val="solid"/>
              <a:miter/>
            </a:ln>
          </p:spPr>
        </p:sp>
      </p:grpSp>
      <p:sp>
        <p:nvSpPr>
          <p:cNvPr id="77" name="矩形"/>
          <p:cNvSpPr>
            <a:spLocks/>
          </p:cNvSpPr>
          <p:nvPr/>
        </p:nvSpPr>
        <p:spPr>
          <a:xfrm>
            <a:off x="912760" y="3766094"/>
            <a:ext cx="5029200" cy="3867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000" b="1" i="0" u="none" strike="noStrike" kern="0" cap="none" spc="0" baseline="0" dirty="0">
                <a:solidFill>
                  <a:srgbClr val="FFFFFF"/>
                </a:solidFill>
                <a:latin typeface="Times New Roman" pitchFamily="18" charset="0"/>
                <a:ea typeface="Droid Sans" charset="0"/>
                <a:cs typeface="Lucida Sans" charset="0"/>
              </a:rPr>
              <a:t>PROJECT OBJECTIVES</a:t>
            </a:r>
            <a:endParaRPr lang="zh-CN" altLang="en-US" sz="2000" b="1" i="0" u="none" strike="noStrike" kern="0" cap="none" spc="0" baseline="0">
              <a:solidFill>
                <a:srgbClr val="FFFFFF"/>
              </a:solidFill>
              <a:latin typeface="Times New Roman" pitchFamily="18" charset="0"/>
              <a:ea typeface="Droid Sans" charset="0"/>
              <a:cs typeface="Lucida Sans" charset="0"/>
            </a:endParaRPr>
          </a:p>
        </p:txBody>
      </p:sp>
      <p:pic>
        <p:nvPicPr>
          <p:cNvPr id="78" name="图片"/>
          <p:cNvPicPr>
            <a:picLocks/>
          </p:cNvPicPr>
          <p:nvPr/>
        </p:nvPicPr>
        <p:blipFill>
          <a:blip r:embed="rId6" cstate="print"/>
          <a:stretch>
            <a:fillRect/>
          </a:stretch>
        </p:blipFill>
        <p:spPr>
          <a:xfrm>
            <a:off x="360998" y="597503"/>
            <a:ext cx="1163002" cy="424338"/>
          </a:xfrm>
          <a:prstGeom prst="rect">
            <a:avLst/>
          </a:prstGeom>
          <a:noFill/>
          <a:ln w="12700" cap="flat" cmpd="sng">
            <a:noFill/>
            <a:prstDash val="solid"/>
            <a:miter/>
          </a:ln>
        </p:spPr>
      </p:pic>
      <p:sp>
        <p:nvSpPr>
          <p:cNvPr id="79" name="圆角矩形"/>
          <p:cNvSpPr>
            <a:spLocks/>
          </p:cNvSpPr>
          <p:nvPr/>
        </p:nvSpPr>
        <p:spPr>
          <a:xfrm>
            <a:off x="59770" y="1627632"/>
            <a:ext cx="3063239" cy="123443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txBody>
          <a:bodyPr/>
          <a:lstStyle/>
          <a:p>
            <a:endParaRPr lang="en-IN" dirty="0"/>
          </a:p>
        </p:txBody>
      </p:sp>
      <p:sp>
        <p:nvSpPr>
          <p:cNvPr id="80" name="矩形"/>
          <p:cNvSpPr>
            <a:spLocks/>
          </p:cNvSpPr>
          <p:nvPr/>
        </p:nvSpPr>
        <p:spPr>
          <a:xfrm>
            <a:off x="196930" y="1737360"/>
            <a:ext cx="278892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Manage Books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81" name="矩形"/>
          <p:cNvSpPr>
            <a:spLocks/>
          </p:cNvSpPr>
          <p:nvPr/>
        </p:nvSpPr>
        <p:spPr>
          <a:xfrm>
            <a:off x="254545" y="2075688"/>
            <a:ext cx="278892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Store and maintain complete book details.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82" name="圆角矩形"/>
          <p:cNvSpPr>
            <a:spLocks/>
          </p:cNvSpPr>
          <p:nvPr/>
        </p:nvSpPr>
        <p:spPr>
          <a:xfrm>
            <a:off x="3479509" y="1650490"/>
            <a:ext cx="3063239" cy="123443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83" name="矩形"/>
          <p:cNvSpPr>
            <a:spLocks/>
          </p:cNvSpPr>
          <p:nvPr/>
        </p:nvSpPr>
        <p:spPr>
          <a:xfrm>
            <a:off x="3625930" y="1737360"/>
            <a:ext cx="278892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Manage Members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84" name="矩形"/>
          <p:cNvSpPr>
            <a:spLocks/>
          </p:cNvSpPr>
          <p:nvPr/>
        </p:nvSpPr>
        <p:spPr>
          <a:xfrm>
            <a:off x="3625930" y="2057400"/>
            <a:ext cx="2926078"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Maintain member registration and information.</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85" name="圆角矩形"/>
          <p:cNvSpPr>
            <a:spLocks/>
          </p:cNvSpPr>
          <p:nvPr/>
        </p:nvSpPr>
        <p:spPr>
          <a:xfrm>
            <a:off x="6798232" y="1660053"/>
            <a:ext cx="3063238" cy="123443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txBody>
          <a:bodyPr/>
          <a:lstStyle/>
          <a:p>
            <a:endParaRPr lang="en-IN" dirty="0"/>
          </a:p>
        </p:txBody>
      </p:sp>
      <p:sp>
        <p:nvSpPr>
          <p:cNvPr id="86" name="矩形"/>
          <p:cNvSpPr>
            <a:spLocks/>
          </p:cNvSpPr>
          <p:nvPr/>
        </p:nvSpPr>
        <p:spPr>
          <a:xfrm>
            <a:off x="7037310" y="1764620"/>
            <a:ext cx="2806539"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Track Transactions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87" name="矩形"/>
          <p:cNvSpPr>
            <a:spLocks/>
          </p:cNvSpPr>
          <p:nvPr/>
        </p:nvSpPr>
        <p:spPr>
          <a:xfrm>
            <a:off x="7054930" y="2057400"/>
            <a:ext cx="278892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Record book issue and return activities.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88" name="圆角矩形"/>
          <p:cNvSpPr>
            <a:spLocks/>
          </p:cNvSpPr>
          <p:nvPr/>
        </p:nvSpPr>
        <p:spPr>
          <a:xfrm>
            <a:off x="59770" y="3182112"/>
            <a:ext cx="3063239" cy="123444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txBody>
          <a:bodyPr/>
          <a:lstStyle/>
          <a:p>
            <a:endParaRPr lang="en-IN" dirty="0"/>
          </a:p>
        </p:txBody>
      </p:sp>
      <p:sp>
        <p:nvSpPr>
          <p:cNvPr id="89" name="矩形"/>
          <p:cNvSpPr>
            <a:spLocks/>
          </p:cNvSpPr>
          <p:nvPr/>
        </p:nvSpPr>
        <p:spPr>
          <a:xfrm>
            <a:off x="196930" y="3291840"/>
            <a:ext cx="278892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Check Availability</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90" name="矩形"/>
          <p:cNvSpPr>
            <a:spLocks/>
          </p:cNvSpPr>
          <p:nvPr/>
        </p:nvSpPr>
        <p:spPr>
          <a:xfrm>
            <a:off x="196930" y="3611879"/>
            <a:ext cx="278892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Quickly identify available and issued books.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91" name="圆角矩形"/>
          <p:cNvSpPr>
            <a:spLocks/>
          </p:cNvSpPr>
          <p:nvPr/>
        </p:nvSpPr>
        <p:spPr>
          <a:xfrm>
            <a:off x="3488769" y="3182112"/>
            <a:ext cx="3063239" cy="123444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92" name="矩形"/>
          <p:cNvSpPr>
            <a:spLocks/>
          </p:cNvSpPr>
          <p:nvPr/>
        </p:nvSpPr>
        <p:spPr>
          <a:xfrm>
            <a:off x="3625930" y="3291840"/>
            <a:ext cx="278892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Reduce Errors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93" name="矩形"/>
          <p:cNvSpPr>
            <a:spLocks/>
          </p:cNvSpPr>
          <p:nvPr/>
        </p:nvSpPr>
        <p:spPr>
          <a:xfrm>
            <a:off x="3625930" y="3611879"/>
            <a:ext cx="278892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Minimize duplicate and incorrect records.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94" name="圆角矩形"/>
          <p:cNvSpPr>
            <a:spLocks/>
          </p:cNvSpPr>
          <p:nvPr/>
        </p:nvSpPr>
        <p:spPr>
          <a:xfrm>
            <a:off x="6917770" y="3182112"/>
            <a:ext cx="3063238" cy="123444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95" name="矩形"/>
          <p:cNvSpPr>
            <a:spLocks/>
          </p:cNvSpPr>
          <p:nvPr/>
        </p:nvSpPr>
        <p:spPr>
          <a:xfrm>
            <a:off x="7054930" y="3291840"/>
            <a:ext cx="278892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Fast Retrieval</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96" name="矩形"/>
          <p:cNvSpPr>
            <a:spLocks/>
          </p:cNvSpPr>
          <p:nvPr/>
        </p:nvSpPr>
        <p:spPr>
          <a:xfrm>
            <a:off x="6917767" y="3592830"/>
            <a:ext cx="3063239"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Retrieve required information quickly using database queries.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97" name="圆角矩形"/>
          <p:cNvSpPr>
            <a:spLocks/>
          </p:cNvSpPr>
          <p:nvPr/>
        </p:nvSpPr>
        <p:spPr>
          <a:xfrm>
            <a:off x="3488769" y="4736592"/>
            <a:ext cx="3063239" cy="1234438"/>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98" name="矩形"/>
          <p:cNvSpPr>
            <a:spLocks/>
          </p:cNvSpPr>
          <p:nvPr/>
        </p:nvSpPr>
        <p:spPr>
          <a:xfrm>
            <a:off x="3625930" y="4846320"/>
            <a:ext cx="2926078"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Maintain Data Integrity</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99" name="矩形"/>
          <p:cNvSpPr>
            <a:spLocks/>
          </p:cNvSpPr>
          <p:nvPr/>
        </p:nvSpPr>
        <p:spPr>
          <a:xfrm>
            <a:off x="3625930" y="5166360"/>
            <a:ext cx="2926078"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Establish proper relationships between database entities.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100" name="矩形"/>
          <p:cNvSpPr>
            <a:spLocks/>
          </p:cNvSpPr>
          <p:nvPr/>
        </p:nvSpPr>
        <p:spPr>
          <a:xfrm>
            <a:off x="2071450" y="6885432"/>
            <a:ext cx="6766559" cy="20116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850" b="0" i="0" u="none" strike="noStrike" kern="0" cap="none" spc="0" baseline="0" dirty="0">
                <a:solidFill>
                  <a:srgbClr val="AAB4BC"/>
                </a:solidFill>
                <a:latin typeface="Times New Roman" pitchFamily="18" charset="0"/>
                <a:ea typeface="Droid Sans" charset="0"/>
                <a:cs typeface="Lucida Sans" charset="0"/>
              </a:rPr>
              <a:t>Aditya University • Department of Computer Science and Engineering</a:t>
            </a:r>
            <a:endParaRPr lang="zh-CN" altLang="en-US" sz="850" b="0" i="0" u="none" strike="noStrike" kern="0" cap="none" spc="0" baseline="0">
              <a:solidFill>
                <a:srgbClr val="AAB4BC"/>
              </a:solidFill>
              <a:latin typeface="Times New Roman" pitchFamily="18" charset="0"/>
              <a:ea typeface="Droid Sans" charset="0"/>
              <a:cs typeface="Lucida Sans" charset="0"/>
            </a:endParaRPr>
          </a:p>
        </p:txBody>
      </p:sp>
      <p:sp>
        <p:nvSpPr>
          <p:cNvPr id="101" name="矩形"/>
          <p:cNvSpPr>
            <a:spLocks/>
          </p:cNvSpPr>
          <p:nvPr/>
        </p:nvSpPr>
        <p:spPr>
          <a:xfrm>
            <a:off x="2220042" y="762711"/>
            <a:ext cx="5754028"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000" b="1" i="0" u="none" strike="noStrike" kern="0" cap="none" spc="0" baseline="0" dirty="0">
                <a:solidFill>
                  <a:srgbClr val="FFFFFF"/>
                </a:solidFill>
                <a:latin typeface="Times New Roman" pitchFamily="18" charset="0"/>
                <a:ea typeface="Droid Sans" charset="0"/>
                <a:cs typeface="Lucida Sans" charset="0"/>
              </a:rPr>
              <a:t>PROJECT OBJECTIVES</a:t>
            </a:r>
            <a:endParaRPr lang="zh-CN" altLang="en-US" sz="2000" b="1" i="0" u="none" strike="noStrike" kern="0" cap="none" spc="0" baseline="0" dirty="0">
              <a:solidFill>
                <a:srgbClr val="FFFFFF"/>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169774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8" name="组合"/>
          <p:cNvGrpSpPr>
            <a:grpSpLocks/>
          </p:cNvGrpSpPr>
          <p:nvPr/>
        </p:nvGrpSpPr>
        <p:grpSpPr>
          <a:xfrm>
            <a:off x="2590799" y="161097"/>
            <a:ext cx="5103902" cy="1198311"/>
            <a:chOff x="2590799" y="161097"/>
            <a:chExt cx="5103902" cy="1198311"/>
          </a:xfrm>
        </p:grpSpPr>
        <p:pic>
          <p:nvPicPr>
            <p:cNvPr id="104" name="图片"/>
            <p:cNvPicPr>
              <a:picLocks/>
            </p:cNvPicPr>
            <p:nvPr/>
          </p:nvPicPr>
          <p:blipFill>
            <a:blip r:embed="rId3" cstate="print"/>
            <a:stretch>
              <a:fillRect/>
            </a:stretch>
          </p:blipFill>
          <p:spPr>
            <a:xfrm>
              <a:off x="2590799" y="161097"/>
              <a:ext cx="5103902" cy="1198311"/>
            </a:xfrm>
            <a:prstGeom prst="rect">
              <a:avLst/>
            </a:prstGeom>
            <a:noFill/>
            <a:ln w="12700" cap="flat" cmpd="sng">
              <a:noFill/>
              <a:prstDash val="solid"/>
              <a:miter/>
            </a:ln>
          </p:spPr>
        </p:pic>
        <p:pic>
          <p:nvPicPr>
            <p:cNvPr id="105" name="图片"/>
            <p:cNvPicPr>
              <a:picLocks/>
            </p:cNvPicPr>
            <p:nvPr/>
          </p:nvPicPr>
          <p:blipFill>
            <a:blip r:embed="rId4" cstate="print"/>
            <a:stretch>
              <a:fillRect/>
            </a:stretch>
          </p:blipFill>
          <p:spPr>
            <a:xfrm>
              <a:off x="2645807" y="200388"/>
              <a:ext cx="4997765" cy="1092279"/>
            </a:xfrm>
            <a:prstGeom prst="rect">
              <a:avLst/>
            </a:prstGeom>
            <a:noFill/>
            <a:ln w="12700" cap="flat" cmpd="sng">
              <a:noFill/>
              <a:prstDash val="solid"/>
              <a:miter/>
            </a:ln>
          </p:spPr>
        </p:pic>
        <p:pic>
          <p:nvPicPr>
            <p:cNvPr id="106" name="图片"/>
            <p:cNvPicPr>
              <a:picLocks/>
            </p:cNvPicPr>
            <p:nvPr/>
          </p:nvPicPr>
          <p:blipFill>
            <a:blip r:embed="rId5" cstate="print"/>
            <a:stretch>
              <a:fillRect/>
            </a:stretch>
          </p:blipFill>
          <p:spPr>
            <a:xfrm>
              <a:off x="2771537" y="357498"/>
              <a:ext cx="4585268" cy="522565"/>
            </a:xfrm>
            <a:prstGeom prst="rect">
              <a:avLst/>
            </a:prstGeom>
            <a:noFill/>
            <a:ln w="12700" cap="flat" cmpd="sng">
              <a:noFill/>
              <a:prstDash val="solid"/>
              <a:miter/>
            </a:ln>
          </p:spPr>
        </p:pic>
        <p:sp>
          <p:nvSpPr>
            <p:cNvPr id="107" name="曲线"/>
            <p:cNvSpPr>
              <a:spLocks/>
            </p:cNvSpPr>
            <p:nvPr/>
          </p:nvSpPr>
          <p:spPr>
            <a:xfrm>
              <a:off x="2826543" y="396841"/>
              <a:ext cx="4479290" cy="416559"/>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2"/>
                  </a:lnTo>
                  <a:lnTo>
                    <a:pt x="32" y="2194"/>
                  </a:lnTo>
                  <a:lnTo>
                    <a:pt x="0" y="3596"/>
                  </a:lnTo>
                  <a:lnTo>
                    <a:pt x="0" y="17987"/>
                  </a:lnTo>
                  <a:lnTo>
                    <a:pt x="32" y="19390"/>
                  </a:lnTo>
                  <a:lnTo>
                    <a:pt x="118" y="20531"/>
                  </a:lnTo>
                  <a:lnTo>
                    <a:pt x="250" y="21302"/>
                  </a:lnTo>
                  <a:lnTo>
                    <a:pt x="409" y="21584"/>
                  </a:lnTo>
                  <a:lnTo>
                    <a:pt x="21188" y="21584"/>
                  </a:lnTo>
                  <a:lnTo>
                    <a:pt x="21349" y="21302"/>
                  </a:lnTo>
                  <a:lnTo>
                    <a:pt x="21479" y="20531"/>
                  </a:lnTo>
                  <a:lnTo>
                    <a:pt x="21566" y="19390"/>
                  </a:lnTo>
                  <a:lnTo>
                    <a:pt x="21599" y="17987"/>
                  </a:lnTo>
                  <a:lnTo>
                    <a:pt x="21599" y="3596"/>
                  </a:lnTo>
                  <a:lnTo>
                    <a:pt x="21566" y="2194"/>
                  </a:lnTo>
                  <a:lnTo>
                    <a:pt x="21479" y="1052"/>
                  </a:lnTo>
                  <a:lnTo>
                    <a:pt x="21349" y="281"/>
                  </a:lnTo>
                  <a:lnTo>
                    <a:pt x="21188" y="0"/>
                  </a:lnTo>
                  <a:close/>
                </a:path>
              </a:pathLst>
            </a:custGeom>
            <a:solidFill>
              <a:srgbClr val="FF6600"/>
            </a:solidFill>
            <a:ln cap="flat" cmpd="sng">
              <a:noFill/>
              <a:prstDash val="solid"/>
              <a:miter/>
            </a:ln>
          </p:spPr>
        </p:sp>
      </p:grpSp>
      <p:sp>
        <p:nvSpPr>
          <p:cNvPr id="109" name="文本框"/>
          <p:cNvSpPr>
            <a:spLocks noGrp="1"/>
          </p:cNvSpPr>
          <p:nvPr>
            <p:ph type="title"/>
          </p:nvPr>
        </p:nvSpPr>
        <p:spPr>
          <a:xfrm>
            <a:off x="3084930" y="444945"/>
            <a:ext cx="4271875" cy="601447"/>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b="1" i="0" u="none" strike="noStrike" kern="0" cap="none" spc="0" baseline="0" dirty="0">
                <a:solidFill>
                  <a:srgbClr val="FFFFFF"/>
                </a:solidFill>
                <a:latin typeface="Times New Roman" pitchFamily="18" charset="0"/>
                <a:ea typeface="宋体" charset="0"/>
                <a:cs typeface="Palatino Linotype" charset="0"/>
              </a:rPr>
              <a:t>       </a:t>
            </a:r>
            <a:r>
              <a:rPr lang="en-US" altLang="zh-CN" sz="2000" b="1" i="0" u="none" strike="noStrike" kern="0" cap="none" spc="0" baseline="0" dirty="0">
                <a:solidFill>
                  <a:srgbClr val="FFFFFF"/>
                </a:solidFill>
                <a:latin typeface="Times New Roman" pitchFamily="18" charset="0"/>
                <a:ea typeface="宋体" charset="0"/>
                <a:cs typeface="Palatino Linotype" charset="0"/>
              </a:rPr>
              <a:t>REQUIREMENT ANALYSIS</a:t>
            </a:r>
            <a:br>
              <a:rPr lang="zh-CN" altLang="en-US" sz="2000" b="1" i="0" u="none" strike="noStrike" kern="0" cap="none" spc="0" baseline="0" dirty="0">
                <a:solidFill>
                  <a:srgbClr val="FFFFFF"/>
                </a:solidFill>
                <a:latin typeface="Times New Roman" pitchFamily="18" charset="0"/>
                <a:ea typeface="宋体" charset="0"/>
                <a:cs typeface="Palatino Linotype" charset="0"/>
              </a:rPr>
            </a:br>
            <a:endParaRPr lang="zh-CN" altLang="en-US"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110"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11" name="矩形"/>
          <p:cNvSpPr>
            <a:spLocks/>
          </p:cNvSpPr>
          <p:nvPr/>
        </p:nvSpPr>
        <p:spPr>
          <a:xfrm>
            <a:off x="-193629" y="1130808"/>
            <a:ext cx="1051560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000" b="0" i="0" u="none" strike="noStrike" kern="0" cap="none" spc="0" baseline="0" dirty="0">
                <a:solidFill>
                  <a:srgbClr val="141414"/>
                </a:solidFill>
                <a:latin typeface="Times New Roman" pitchFamily="18" charset="0"/>
                <a:ea typeface="Droid Sans" charset="0"/>
                <a:cs typeface="Lucida Sans" charset="0"/>
              </a:rPr>
              <a:t>Requirement analysis identifies what the Library Management System needs to operate effectively.</a:t>
            </a:r>
            <a:endParaRPr lang="zh-CN" altLang="en-US" sz="2000" b="0" i="0" u="none" strike="noStrike" kern="0" cap="none" spc="0" baseline="0" dirty="0">
              <a:solidFill>
                <a:srgbClr val="141414"/>
              </a:solidFill>
              <a:latin typeface="Times New Roman" pitchFamily="18" charset="0"/>
              <a:ea typeface="Droid Sans" charset="0"/>
              <a:cs typeface="Lucida Sans" charset="0"/>
            </a:endParaRPr>
          </a:p>
        </p:txBody>
      </p:sp>
      <p:sp>
        <p:nvSpPr>
          <p:cNvPr id="112" name="圆角矩形"/>
          <p:cNvSpPr>
            <a:spLocks/>
          </p:cNvSpPr>
          <p:nvPr/>
        </p:nvSpPr>
        <p:spPr>
          <a:xfrm>
            <a:off x="562132" y="1769281"/>
            <a:ext cx="3337560" cy="169163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13" name="矩形"/>
          <p:cNvSpPr>
            <a:spLocks/>
          </p:cNvSpPr>
          <p:nvPr/>
        </p:nvSpPr>
        <p:spPr>
          <a:xfrm>
            <a:off x="1239917" y="1871982"/>
            <a:ext cx="3063239" cy="36933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0" cap="none" spc="0" baseline="0" dirty="0">
                <a:solidFill>
                  <a:srgbClr val="234B78"/>
                </a:solidFill>
                <a:latin typeface="Times New Roman" pitchFamily="18" charset="0"/>
                <a:ea typeface="Droid Sans" charset="0"/>
                <a:cs typeface="Lucida Sans" charset="0"/>
              </a:rPr>
              <a:t>HARDWARE</a:t>
            </a:r>
            <a:endParaRPr lang="zh-CN" altLang="en-US" sz="1800" b="1" i="0" u="none" strike="noStrike" kern="0" cap="none" spc="0" baseline="0" dirty="0">
              <a:solidFill>
                <a:srgbClr val="234B78"/>
              </a:solidFill>
              <a:latin typeface="Times New Roman" pitchFamily="18" charset="0"/>
              <a:ea typeface="Droid Sans" charset="0"/>
              <a:cs typeface="Lucida Sans" charset="0"/>
            </a:endParaRPr>
          </a:p>
        </p:txBody>
      </p:sp>
      <p:sp>
        <p:nvSpPr>
          <p:cNvPr id="114" name="矩形"/>
          <p:cNvSpPr>
            <a:spLocks/>
          </p:cNvSpPr>
          <p:nvPr/>
        </p:nvSpPr>
        <p:spPr>
          <a:xfrm>
            <a:off x="1195467" y="2341311"/>
            <a:ext cx="3063239" cy="83099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dirty="0">
                <a:solidFill>
                  <a:srgbClr val="141414"/>
                </a:solidFill>
                <a:latin typeface="Times New Roman" pitchFamily="18" charset="0"/>
                <a:ea typeface="Droid Sans" charset="0"/>
                <a:cs typeface="Lucida Sans" charset="0"/>
              </a:rPr>
              <a:t>Computer/Laptop
Minimum 4 GB RAM
Storage for database</a:t>
            </a:r>
            <a:endParaRPr lang="zh-CN" altLang="en-US" sz="1600" b="0" i="0" u="none" strike="noStrike" kern="0" cap="none" spc="0" baseline="0" dirty="0">
              <a:solidFill>
                <a:srgbClr val="141414"/>
              </a:solidFill>
              <a:latin typeface="Times New Roman" pitchFamily="18" charset="0"/>
              <a:ea typeface="Droid Sans" charset="0"/>
              <a:cs typeface="Lucida Sans" charset="0"/>
            </a:endParaRPr>
          </a:p>
        </p:txBody>
      </p:sp>
      <p:sp>
        <p:nvSpPr>
          <p:cNvPr id="115" name="圆角矩形"/>
          <p:cNvSpPr>
            <a:spLocks/>
          </p:cNvSpPr>
          <p:nvPr/>
        </p:nvSpPr>
        <p:spPr>
          <a:xfrm>
            <a:off x="5389860" y="1818230"/>
            <a:ext cx="3337558" cy="169163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16" name="矩形"/>
          <p:cNvSpPr>
            <a:spLocks/>
          </p:cNvSpPr>
          <p:nvPr/>
        </p:nvSpPr>
        <p:spPr>
          <a:xfrm>
            <a:off x="5890929" y="1950247"/>
            <a:ext cx="3063240" cy="36933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0" cap="none" spc="0" baseline="0" dirty="0">
                <a:solidFill>
                  <a:srgbClr val="234B78"/>
                </a:solidFill>
                <a:latin typeface="Times New Roman" pitchFamily="18" charset="0"/>
                <a:ea typeface="Droid Sans" charset="0"/>
                <a:cs typeface="Lucida Sans" charset="0"/>
              </a:rPr>
              <a:t>SOFTWARE</a:t>
            </a:r>
            <a:endParaRPr lang="zh-CN" altLang="en-US" sz="1800" b="1" i="0" u="none" strike="noStrike" kern="0" cap="none" spc="0" baseline="0" dirty="0">
              <a:solidFill>
                <a:srgbClr val="234B78"/>
              </a:solidFill>
              <a:latin typeface="Times New Roman" pitchFamily="18" charset="0"/>
              <a:ea typeface="Droid Sans" charset="0"/>
              <a:cs typeface="Lucida Sans" charset="0"/>
            </a:endParaRPr>
          </a:p>
        </p:txBody>
      </p:sp>
      <p:sp>
        <p:nvSpPr>
          <p:cNvPr id="117" name="矩形"/>
          <p:cNvSpPr>
            <a:spLocks/>
          </p:cNvSpPr>
          <p:nvPr/>
        </p:nvSpPr>
        <p:spPr>
          <a:xfrm>
            <a:off x="5499895" y="2313390"/>
            <a:ext cx="3337558" cy="83099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dirty="0">
                <a:solidFill>
                  <a:srgbClr val="141414"/>
                </a:solidFill>
                <a:latin typeface="Times New Roman" pitchFamily="18" charset="0"/>
                <a:ea typeface="Droid Sans" charset="0"/>
                <a:cs typeface="Lucida Sans" charset="0"/>
              </a:rPr>
              <a:t>Operating System: Windows/Linux
DBMS: MySQL
SQL Development Environment</a:t>
            </a:r>
            <a:endParaRPr lang="zh-CN" altLang="en-US" sz="1600" b="0" i="0" u="none" strike="noStrike" kern="0" cap="none" spc="0" baseline="0" dirty="0">
              <a:solidFill>
                <a:srgbClr val="141414"/>
              </a:solidFill>
              <a:latin typeface="Times New Roman" pitchFamily="18" charset="0"/>
              <a:ea typeface="Droid Sans" charset="0"/>
              <a:cs typeface="Lucida Sans" charset="0"/>
            </a:endParaRPr>
          </a:p>
        </p:txBody>
      </p:sp>
      <p:sp>
        <p:nvSpPr>
          <p:cNvPr id="118" name="圆角矩形"/>
          <p:cNvSpPr>
            <a:spLocks/>
          </p:cNvSpPr>
          <p:nvPr/>
        </p:nvSpPr>
        <p:spPr>
          <a:xfrm>
            <a:off x="3360419" y="3954780"/>
            <a:ext cx="3337559" cy="242316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19" name="矩形"/>
          <p:cNvSpPr>
            <a:spLocks/>
          </p:cNvSpPr>
          <p:nvPr/>
        </p:nvSpPr>
        <p:spPr>
          <a:xfrm>
            <a:off x="3360419" y="4170788"/>
            <a:ext cx="3474719" cy="36933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0" cap="none" spc="0" baseline="0" dirty="0">
                <a:solidFill>
                  <a:srgbClr val="234B78"/>
                </a:solidFill>
                <a:latin typeface="Times New Roman" pitchFamily="18" charset="0"/>
                <a:ea typeface="Droid Sans" charset="0"/>
                <a:cs typeface="Lucida Sans" charset="0"/>
              </a:rPr>
              <a:t>DATABASE REQUIREMENTS</a:t>
            </a:r>
            <a:endParaRPr lang="zh-CN" altLang="en-US" sz="1800" b="1" i="0" u="none" strike="noStrike" kern="0" cap="none" spc="0" baseline="0" dirty="0">
              <a:solidFill>
                <a:srgbClr val="234B78"/>
              </a:solidFill>
              <a:latin typeface="Times New Roman" pitchFamily="18" charset="0"/>
              <a:ea typeface="Droid Sans" charset="0"/>
              <a:cs typeface="Lucida Sans" charset="0"/>
            </a:endParaRPr>
          </a:p>
        </p:txBody>
      </p:sp>
      <p:sp>
        <p:nvSpPr>
          <p:cNvPr id="120" name="矩形"/>
          <p:cNvSpPr>
            <a:spLocks/>
          </p:cNvSpPr>
          <p:nvPr/>
        </p:nvSpPr>
        <p:spPr>
          <a:xfrm>
            <a:off x="3497580" y="4279870"/>
            <a:ext cx="3859225" cy="187743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endParaRPr lang="en-US" altLang="zh-CN" sz="1600" b="0" i="0" u="none" strike="noStrike" kern="0" cap="none" spc="0" baseline="0" dirty="0">
              <a:solidFill>
                <a:srgbClr val="141414"/>
              </a:solidFill>
              <a:latin typeface="Times New Roman" pitchFamily="18" charset="0"/>
              <a:ea typeface="Droid Sans" charset="0"/>
              <a:cs typeface="Lucida Sans" charset="0"/>
            </a:endParaRPr>
          </a:p>
          <a:p>
            <a:pPr marL="0" indent="0" algn="l">
              <a:lnSpc>
                <a:spcPct val="100000"/>
              </a:lnSpc>
              <a:spcBef>
                <a:spcPts val="0"/>
              </a:spcBef>
              <a:spcAft>
                <a:spcPts val="0"/>
              </a:spcAft>
              <a:buNone/>
            </a:pPr>
            <a:r>
              <a:rPr lang="en-US" altLang="zh-CN" sz="1600" b="0" i="0" u="none" strike="noStrike" kern="0" cap="none" spc="0" baseline="0" dirty="0">
                <a:solidFill>
                  <a:srgbClr val="141414"/>
                </a:solidFill>
                <a:latin typeface="Times New Roman" pitchFamily="18" charset="0"/>
                <a:ea typeface="Droid Sans" charset="0"/>
                <a:cs typeface="Lucida Sans" charset="0"/>
              </a:rPr>
              <a:t>Book details
Member details
Librarian details
Author details
Category details
Issue</a:t>
            </a:r>
            <a:r>
              <a:rPr lang="en-US" altLang="zh-CN" sz="1800" b="0" i="0" u="none" strike="noStrike" kern="0" cap="none" spc="0" baseline="0" dirty="0">
                <a:solidFill>
                  <a:srgbClr val="141414"/>
                </a:solidFill>
                <a:latin typeface="Times New Roman" pitchFamily="18" charset="0"/>
                <a:ea typeface="Droid Sans" charset="0"/>
                <a:cs typeface="Lucida Sans" charset="0"/>
              </a:rPr>
              <a:t>/return transactions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1705135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8" name="组合"/>
          <p:cNvGrpSpPr>
            <a:grpSpLocks/>
          </p:cNvGrpSpPr>
          <p:nvPr/>
        </p:nvGrpSpPr>
        <p:grpSpPr>
          <a:xfrm>
            <a:off x="2590799" y="161097"/>
            <a:ext cx="5103902" cy="1198311"/>
            <a:chOff x="2590799" y="161097"/>
            <a:chExt cx="5103902" cy="1198311"/>
          </a:xfrm>
        </p:grpSpPr>
        <p:pic>
          <p:nvPicPr>
            <p:cNvPr id="124" name="图片"/>
            <p:cNvPicPr>
              <a:picLocks/>
            </p:cNvPicPr>
            <p:nvPr/>
          </p:nvPicPr>
          <p:blipFill>
            <a:blip r:embed="rId3" cstate="print"/>
            <a:stretch>
              <a:fillRect/>
            </a:stretch>
          </p:blipFill>
          <p:spPr>
            <a:xfrm>
              <a:off x="2590799" y="161097"/>
              <a:ext cx="5103902" cy="1198311"/>
            </a:xfrm>
            <a:prstGeom prst="rect">
              <a:avLst/>
            </a:prstGeom>
            <a:noFill/>
            <a:ln w="12700" cap="flat" cmpd="sng">
              <a:noFill/>
              <a:prstDash val="solid"/>
              <a:miter/>
            </a:ln>
          </p:spPr>
        </p:pic>
        <p:pic>
          <p:nvPicPr>
            <p:cNvPr id="125" name="图片"/>
            <p:cNvPicPr>
              <a:picLocks/>
            </p:cNvPicPr>
            <p:nvPr/>
          </p:nvPicPr>
          <p:blipFill>
            <a:blip r:embed="rId4" cstate="print"/>
            <a:stretch>
              <a:fillRect/>
            </a:stretch>
          </p:blipFill>
          <p:spPr>
            <a:xfrm>
              <a:off x="2645807" y="200388"/>
              <a:ext cx="4997765" cy="1092279"/>
            </a:xfrm>
            <a:prstGeom prst="rect">
              <a:avLst/>
            </a:prstGeom>
            <a:noFill/>
            <a:ln w="12700" cap="flat" cmpd="sng">
              <a:noFill/>
              <a:prstDash val="solid"/>
              <a:miter/>
            </a:ln>
          </p:spPr>
        </p:pic>
        <p:pic>
          <p:nvPicPr>
            <p:cNvPr id="126" name="图片"/>
            <p:cNvPicPr>
              <a:picLocks/>
            </p:cNvPicPr>
            <p:nvPr/>
          </p:nvPicPr>
          <p:blipFill>
            <a:blip r:embed="rId5" cstate="print"/>
            <a:stretch>
              <a:fillRect/>
            </a:stretch>
          </p:blipFill>
          <p:spPr>
            <a:xfrm>
              <a:off x="2771537" y="357498"/>
              <a:ext cx="4585268" cy="522565"/>
            </a:xfrm>
            <a:prstGeom prst="rect">
              <a:avLst/>
            </a:prstGeom>
            <a:noFill/>
            <a:ln w="12700" cap="flat" cmpd="sng">
              <a:noFill/>
              <a:prstDash val="solid"/>
              <a:miter/>
            </a:ln>
          </p:spPr>
        </p:pic>
        <p:sp>
          <p:nvSpPr>
            <p:cNvPr id="127" name="曲线"/>
            <p:cNvSpPr>
              <a:spLocks/>
            </p:cNvSpPr>
            <p:nvPr/>
          </p:nvSpPr>
          <p:spPr>
            <a:xfrm>
              <a:off x="2826543" y="396841"/>
              <a:ext cx="4479290" cy="416559"/>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2"/>
                  </a:lnTo>
                  <a:lnTo>
                    <a:pt x="32" y="2194"/>
                  </a:lnTo>
                  <a:lnTo>
                    <a:pt x="0" y="3596"/>
                  </a:lnTo>
                  <a:lnTo>
                    <a:pt x="0" y="17987"/>
                  </a:lnTo>
                  <a:lnTo>
                    <a:pt x="32" y="19390"/>
                  </a:lnTo>
                  <a:lnTo>
                    <a:pt x="118" y="20531"/>
                  </a:lnTo>
                  <a:lnTo>
                    <a:pt x="250" y="21302"/>
                  </a:lnTo>
                  <a:lnTo>
                    <a:pt x="409" y="21584"/>
                  </a:lnTo>
                  <a:lnTo>
                    <a:pt x="21188" y="21584"/>
                  </a:lnTo>
                  <a:lnTo>
                    <a:pt x="21349" y="21302"/>
                  </a:lnTo>
                  <a:lnTo>
                    <a:pt x="21479" y="20531"/>
                  </a:lnTo>
                  <a:lnTo>
                    <a:pt x="21566" y="19390"/>
                  </a:lnTo>
                  <a:lnTo>
                    <a:pt x="21599" y="17987"/>
                  </a:lnTo>
                  <a:lnTo>
                    <a:pt x="21599" y="3596"/>
                  </a:lnTo>
                  <a:lnTo>
                    <a:pt x="21566" y="2194"/>
                  </a:lnTo>
                  <a:lnTo>
                    <a:pt x="21479" y="1052"/>
                  </a:lnTo>
                  <a:lnTo>
                    <a:pt x="21349" y="281"/>
                  </a:lnTo>
                  <a:lnTo>
                    <a:pt x="21188" y="0"/>
                  </a:lnTo>
                  <a:close/>
                </a:path>
              </a:pathLst>
            </a:custGeom>
            <a:solidFill>
              <a:srgbClr val="FF6600"/>
            </a:solidFill>
            <a:ln cap="flat" cmpd="sng">
              <a:noFill/>
              <a:prstDash val="solid"/>
              <a:miter/>
            </a:ln>
          </p:spPr>
        </p:sp>
      </p:grpSp>
      <p:sp>
        <p:nvSpPr>
          <p:cNvPr id="129" name="文本框"/>
          <p:cNvSpPr>
            <a:spLocks noGrp="1"/>
          </p:cNvSpPr>
          <p:nvPr>
            <p:ph type="title"/>
          </p:nvPr>
        </p:nvSpPr>
        <p:spPr>
          <a:xfrm>
            <a:off x="2771537" y="407276"/>
            <a:ext cx="4339955" cy="324448"/>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0" indent="0" algn="ctr">
              <a:lnSpc>
                <a:spcPct val="100000"/>
              </a:lnSpc>
              <a:spcBef>
                <a:spcPts val="0"/>
              </a:spcBef>
              <a:spcAft>
                <a:spcPts val="0"/>
              </a:spcAft>
              <a:buNone/>
            </a:pPr>
            <a:r>
              <a:rPr lang="en-US" altLang="zh-CN" sz="2000" b="1" i="0" u="none" strike="noStrike" kern="0" cap="none" spc="0" baseline="0" dirty="0">
                <a:solidFill>
                  <a:srgbClr val="FFFFFF"/>
                </a:solidFill>
                <a:latin typeface="Times New Roman" pitchFamily="18" charset="0"/>
                <a:ea typeface="宋体" charset="0"/>
                <a:cs typeface="Palatino Linotype" charset="0"/>
              </a:rPr>
              <a:t>FUNCTIONAL REQUIREMENTS</a:t>
            </a:r>
            <a:endParaRPr lang="zh-CN" altLang="en-US" sz="2000" b="1" i="0" u="none" strike="noStrike" kern="0" cap="none" spc="0" baseline="0" dirty="0">
              <a:solidFill>
                <a:srgbClr val="FFFFFF"/>
              </a:solidFill>
              <a:latin typeface="Times New Roman" pitchFamily="18" charset="0"/>
              <a:ea typeface="宋体" charset="0"/>
              <a:cs typeface="Palatino Linotype" charset="0"/>
            </a:endParaRPr>
          </a:p>
        </p:txBody>
      </p:sp>
      <p:pic>
        <p:nvPicPr>
          <p:cNvPr id="130"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31" name="矩形"/>
          <p:cNvSpPr>
            <a:spLocks/>
          </p:cNvSpPr>
          <p:nvPr/>
        </p:nvSpPr>
        <p:spPr>
          <a:xfrm>
            <a:off x="0" y="1155192"/>
            <a:ext cx="10332720" cy="4533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2400" b="1" i="0" u="none" strike="noStrike" kern="0" cap="none" spc="0" baseline="0" dirty="0">
                <a:solidFill>
                  <a:srgbClr val="234B78"/>
                </a:solidFill>
                <a:latin typeface="Times New Roman" pitchFamily="18" charset="0"/>
                <a:ea typeface="Droid Sans" charset="0"/>
                <a:cs typeface="Lucida Sans" charset="0"/>
              </a:rPr>
              <a:t>These describe what the system should do.</a:t>
            </a:r>
            <a:endParaRPr lang="zh-CN" altLang="en-US" sz="2400" b="1" i="0" u="none" strike="noStrike" kern="0" cap="none" spc="0" baseline="0">
              <a:solidFill>
                <a:srgbClr val="234B78"/>
              </a:solidFill>
              <a:latin typeface="Times New Roman" pitchFamily="18" charset="0"/>
              <a:ea typeface="Droid Sans" charset="0"/>
              <a:cs typeface="Lucida Sans" charset="0"/>
            </a:endParaRPr>
          </a:p>
        </p:txBody>
      </p:sp>
      <p:sp>
        <p:nvSpPr>
          <p:cNvPr id="132" name="圆角矩形"/>
          <p:cNvSpPr>
            <a:spLocks/>
          </p:cNvSpPr>
          <p:nvPr/>
        </p:nvSpPr>
        <p:spPr>
          <a:xfrm>
            <a:off x="128015" y="1703831"/>
            <a:ext cx="3072384" cy="209011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33" name="矩形"/>
          <p:cNvSpPr>
            <a:spLocks/>
          </p:cNvSpPr>
          <p:nvPr/>
        </p:nvSpPr>
        <p:spPr>
          <a:xfrm>
            <a:off x="336767" y="1804500"/>
            <a:ext cx="3154680"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1" i="0" u="none" strike="noStrike" kern="0" cap="none" spc="0" baseline="0" dirty="0">
                <a:solidFill>
                  <a:srgbClr val="234B78"/>
                </a:solidFill>
                <a:latin typeface="Times New Roman" pitchFamily="18" charset="0"/>
                <a:ea typeface="Droid Sans" charset="0"/>
                <a:cs typeface="Lucida Sans" charset="0"/>
              </a:rPr>
              <a:t>BOOK MANAGEMENT</a:t>
            </a:r>
            <a:endParaRPr lang="zh-CN" altLang="en-US" sz="1400" b="1" i="0" u="none" strike="noStrike" kern="0" cap="none" spc="0" baseline="0">
              <a:solidFill>
                <a:srgbClr val="234B78"/>
              </a:solidFill>
              <a:latin typeface="Times New Roman" pitchFamily="18" charset="0"/>
              <a:ea typeface="Droid Sans" charset="0"/>
              <a:cs typeface="Lucida Sans" charset="0"/>
            </a:endParaRPr>
          </a:p>
        </p:txBody>
      </p:sp>
      <p:sp>
        <p:nvSpPr>
          <p:cNvPr id="134" name="矩形"/>
          <p:cNvSpPr>
            <a:spLocks/>
          </p:cNvSpPr>
          <p:nvPr/>
        </p:nvSpPr>
        <p:spPr>
          <a:xfrm>
            <a:off x="352936" y="2174980"/>
            <a:ext cx="3154680" cy="12820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dirty="0">
                <a:solidFill>
                  <a:srgbClr val="141414"/>
                </a:solidFill>
                <a:latin typeface="Times New Roman" pitchFamily="18" charset="0"/>
                <a:ea typeface="Droid Sans" charset="0"/>
                <a:cs typeface="Lucida Sans" charset="0"/>
              </a:rPr>
              <a:t>Add new books
Update book details
Delete book records
Search books
Check availability</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135" name="圆角矩形"/>
          <p:cNvSpPr>
            <a:spLocks/>
          </p:cNvSpPr>
          <p:nvPr/>
        </p:nvSpPr>
        <p:spPr>
          <a:xfrm>
            <a:off x="3315676" y="1689055"/>
            <a:ext cx="3566158" cy="2119659"/>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36" name="矩形"/>
          <p:cNvSpPr>
            <a:spLocks/>
          </p:cNvSpPr>
          <p:nvPr/>
        </p:nvSpPr>
        <p:spPr>
          <a:xfrm>
            <a:off x="3611880" y="1813560"/>
            <a:ext cx="3154680"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1" i="0" u="none" strike="noStrike" kern="0" cap="none" spc="0" baseline="0" dirty="0">
                <a:solidFill>
                  <a:srgbClr val="234B78"/>
                </a:solidFill>
                <a:latin typeface="Times New Roman" pitchFamily="18" charset="0"/>
                <a:ea typeface="Droid Sans" charset="0"/>
                <a:cs typeface="Lucida Sans" charset="0"/>
              </a:rPr>
              <a:t>MEMBER MANAGEMENT</a:t>
            </a:r>
            <a:endParaRPr lang="zh-CN" altLang="en-US" sz="1400" b="1" i="0" u="none" strike="noStrike" kern="0" cap="none" spc="0" baseline="0">
              <a:solidFill>
                <a:srgbClr val="234B78"/>
              </a:solidFill>
              <a:latin typeface="Times New Roman" pitchFamily="18" charset="0"/>
              <a:ea typeface="Droid Sans" charset="0"/>
              <a:cs typeface="Lucida Sans" charset="0"/>
            </a:endParaRPr>
          </a:p>
        </p:txBody>
      </p:sp>
      <p:sp>
        <p:nvSpPr>
          <p:cNvPr id="137" name="矩形"/>
          <p:cNvSpPr>
            <a:spLocks/>
          </p:cNvSpPr>
          <p:nvPr/>
        </p:nvSpPr>
        <p:spPr>
          <a:xfrm>
            <a:off x="3574793" y="2267678"/>
            <a:ext cx="3154678" cy="1272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0" i="0" u="none" strike="noStrike" kern="0" cap="none" spc="0" baseline="0" dirty="0">
                <a:solidFill>
                  <a:srgbClr val="141414"/>
                </a:solidFill>
                <a:latin typeface="Times New Roman" pitchFamily="18" charset="0"/>
                <a:ea typeface="Droid Sans" charset="0"/>
                <a:cs typeface="Lucida Sans" charset="0"/>
              </a:rPr>
              <a:t>Register members
Update member information
Search member records</a:t>
            </a:r>
            <a:endParaRPr lang="zh-CN" altLang="en-US" sz="2000" b="0" i="0" u="none" strike="noStrike" kern="0" cap="none" spc="0" baseline="0">
              <a:solidFill>
                <a:srgbClr val="141414"/>
              </a:solidFill>
              <a:latin typeface="Times New Roman" pitchFamily="18" charset="0"/>
              <a:ea typeface="Droid Sans" charset="0"/>
              <a:cs typeface="Lucida Sans" charset="0"/>
            </a:endParaRPr>
          </a:p>
        </p:txBody>
      </p:sp>
      <p:sp>
        <p:nvSpPr>
          <p:cNvPr id="138" name="圆角矩形"/>
          <p:cNvSpPr>
            <a:spLocks/>
          </p:cNvSpPr>
          <p:nvPr/>
        </p:nvSpPr>
        <p:spPr>
          <a:xfrm>
            <a:off x="7044318" y="1702159"/>
            <a:ext cx="2880360" cy="2066841"/>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39" name="矩形"/>
          <p:cNvSpPr>
            <a:spLocks/>
          </p:cNvSpPr>
          <p:nvPr/>
        </p:nvSpPr>
        <p:spPr>
          <a:xfrm>
            <a:off x="7020715" y="1791463"/>
            <a:ext cx="3154678"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1" i="0" u="none" strike="noStrike" kern="0" cap="none" spc="0" baseline="0" dirty="0">
                <a:solidFill>
                  <a:srgbClr val="234B78"/>
                </a:solidFill>
                <a:latin typeface="Times New Roman" pitchFamily="18" charset="0"/>
                <a:ea typeface="Droid Sans" charset="0"/>
                <a:cs typeface="Lucida Sans" charset="0"/>
              </a:rPr>
              <a:t>TRANSACTION MANAGEMENT</a:t>
            </a:r>
            <a:endParaRPr lang="zh-CN" altLang="en-US" sz="1400" b="1" i="0" u="none" strike="noStrike" kern="0" cap="none" spc="0" baseline="0">
              <a:solidFill>
                <a:srgbClr val="234B78"/>
              </a:solidFill>
              <a:latin typeface="Times New Roman" pitchFamily="18" charset="0"/>
              <a:ea typeface="Droid Sans" charset="0"/>
              <a:cs typeface="Lucida Sans" charset="0"/>
            </a:endParaRPr>
          </a:p>
        </p:txBody>
      </p:sp>
      <p:sp>
        <p:nvSpPr>
          <p:cNvPr id="140" name="矩形"/>
          <p:cNvSpPr>
            <a:spLocks/>
          </p:cNvSpPr>
          <p:nvPr/>
        </p:nvSpPr>
        <p:spPr>
          <a:xfrm>
            <a:off x="7305833" y="2092454"/>
            <a:ext cx="2043966" cy="16916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Issue books
Record return of books
Track due dates
Maintain transaction history</a:t>
            </a:r>
            <a:endParaRPr lang="zh-CN" altLang="en-US" sz="1800" b="0" i="0" u="none" strike="noStrike" kern="0" cap="none" spc="0" baseline="0">
              <a:solidFill>
                <a:srgbClr val="141414"/>
              </a:solidFill>
              <a:latin typeface="Times New Roman" pitchFamily="18" charset="0"/>
              <a:ea typeface="Droid Sans" charset="0"/>
              <a:cs typeface="Lucida Sans" charset="0"/>
            </a:endParaRPr>
          </a:p>
        </p:txBody>
      </p:sp>
      <p:sp>
        <p:nvSpPr>
          <p:cNvPr id="141" name="圆角矩形"/>
          <p:cNvSpPr>
            <a:spLocks/>
          </p:cNvSpPr>
          <p:nvPr/>
        </p:nvSpPr>
        <p:spPr>
          <a:xfrm>
            <a:off x="3384256" y="4556630"/>
            <a:ext cx="3429000" cy="1733085"/>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42" name="矩形"/>
          <p:cNvSpPr>
            <a:spLocks/>
          </p:cNvSpPr>
          <p:nvPr/>
        </p:nvSpPr>
        <p:spPr>
          <a:xfrm>
            <a:off x="3611880" y="4693920"/>
            <a:ext cx="3154680"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1" i="0" u="none" strike="noStrike" kern="0" cap="none" spc="0" baseline="0" dirty="0">
                <a:solidFill>
                  <a:srgbClr val="234B78"/>
                </a:solidFill>
                <a:latin typeface="Times New Roman" pitchFamily="18" charset="0"/>
                <a:ea typeface="Droid Sans" charset="0"/>
                <a:cs typeface="Lucida Sans" charset="0"/>
              </a:rPr>
              <a:t>DATABASE OPERATIONS</a:t>
            </a:r>
            <a:endParaRPr lang="zh-CN" altLang="en-US" sz="1400" b="1" i="0" u="none" strike="noStrike" kern="0" cap="none" spc="0" baseline="0">
              <a:solidFill>
                <a:srgbClr val="234B78"/>
              </a:solidFill>
              <a:latin typeface="Times New Roman" pitchFamily="18" charset="0"/>
              <a:ea typeface="Droid Sans" charset="0"/>
              <a:cs typeface="Lucida Sans" charset="0"/>
            </a:endParaRPr>
          </a:p>
        </p:txBody>
      </p:sp>
      <p:sp>
        <p:nvSpPr>
          <p:cNvPr id="143" name="矩形"/>
          <p:cNvSpPr>
            <a:spLocks/>
          </p:cNvSpPr>
          <p:nvPr/>
        </p:nvSpPr>
        <p:spPr>
          <a:xfrm>
            <a:off x="3611880" y="5095005"/>
            <a:ext cx="3154680" cy="1043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dirty="0">
                <a:solidFill>
                  <a:srgbClr val="141414"/>
                </a:solidFill>
                <a:latin typeface="Times New Roman" pitchFamily="18" charset="0"/>
                <a:ea typeface="Droid Sans" charset="0"/>
                <a:cs typeface="Lucida Sans" charset="0"/>
              </a:rPr>
              <a:t>Insert records
Update records
Delete records
Retrieve records</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5498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1" name="组合"/>
          <p:cNvGrpSpPr>
            <a:grpSpLocks/>
          </p:cNvGrpSpPr>
          <p:nvPr/>
        </p:nvGrpSpPr>
        <p:grpSpPr>
          <a:xfrm>
            <a:off x="1676400" y="139606"/>
            <a:ext cx="7585260" cy="1210503"/>
            <a:chOff x="1676400" y="139606"/>
            <a:chExt cx="7585260" cy="1210503"/>
          </a:xfrm>
        </p:grpSpPr>
        <p:pic>
          <p:nvPicPr>
            <p:cNvPr id="147" name="图片"/>
            <p:cNvPicPr>
              <a:picLocks/>
            </p:cNvPicPr>
            <p:nvPr/>
          </p:nvPicPr>
          <p:blipFill>
            <a:blip r:embed="rId3" cstate="print"/>
            <a:stretch>
              <a:fillRect/>
            </a:stretch>
          </p:blipFill>
          <p:spPr>
            <a:xfrm>
              <a:off x="1676400" y="139606"/>
              <a:ext cx="7585260" cy="1210503"/>
            </a:xfrm>
            <a:prstGeom prst="rect">
              <a:avLst/>
            </a:prstGeom>
            <a:noFill/>
            <a:ln w="12700" cap="flat" cmpd="sng">
              <a:noFill/>
              <a:prstDash val="solid"/>
              <a:miter/>
            </a:ln>
          </p:spPr>
        </p:pic>
        <p:pic>
          <p:nvPicPr>
            <p:cNvPr id="148" name="图片"/>
            <p:cNvPicPr>
              <a:picLocks/>
            </p:cNvPicPr>
            <p:nvPr/>
          </p:nvPicPr>
          <p:blipFill>
            <a:blip r:embed="rId4" cstate="print"/>
            <a:stretch>
              <a:fillRect/>
            </a:stretch>
          </p:blipFill>
          <p:spPr>
            <a:xfrm>
              <a:off x="1758148" y="179296"/>
              <a:ext cx="7427524" cy="1103391"/>
            </a:xfrm>
            <a:prstGeom prst="rect">
              <a:avLst/>
            </a:prstGeom>
            <a:noFill/>
            <a:ln w="12700" cap="flat" cmpd="sng">
              <a:noFill/>
              <a:prstDash val="solid"/>
              <a:miter/>
            </a:ln>
          </p:spPr>
        </p:pic>
        <p:pic>
          <p:nvPicPr>
            <p:cNvPr id="149" name="图片"/>
            <p:cNvPicPr>
              <a:picLocks/>
            </p:cNvPicPr>
            <p:nvPr/>
          </p:nvPicPr>
          <p:blipFill>
            <a:blip r:embed="rId5" cstate="print"/>
            <a:stretch>
              <a:fillRect/>
            </a:stretch>
          </p:blipFill>
          <p:spPr>
            <a:xfrm>
              <a:off x="1945006" y="338005"/>
              <a:ext cx="6814481" cy="527881"/>
            </a:xfrm>
            <a:prstGeom prst="rect">
              <a:avLst/>
            </a:prstGeom>
            <a:noFill/>
            <a:ln w="12700" cap="flat" cmpd="sng">
              <a:noFill/>
              <a:prstDash val="solid"/>
              <a:miter/>
            </a:ln>
          </p:spPr>
        </p:pic>
        <p:sp>
          <p:nvSpPr>
            <p:cNvPr id="150" name="曲线"/>
            <p:cNvSpPr>
              <a:spLocks/>
            </p:cNvSpPr>
            <p:nvPr/>
          </p:nvSpPr>
          <p:spPr>
            <a:xfrm>
              <a:off x="2023756" y="391546"/>
              <a:ext cx="6656980" cy="420795"/>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50" y="282"/>
                  </a:lnTo>
                  <a:lnTo>
                    <a:pt x="118" y="1051"/>
                  </a:lnTo>
                  <a:lnTo>
                    <a:pt x="31" y="2192"/>
                  </a:lnTo>
                  <a:lnTo>
                    <a:pt x="0" y="3596"/>
                  </a:lnTo>
                  <a:lnTo>
                    <a:pt x="0" y="17987"/>
                  </a:lnTo>
                  <a:lnTo>
                    <a:pt x="31" y="19389"/>
                  </a:lnTo>
                  <a:lnTo>
                    <a:pt x="118" y="20530"/>
                  </a:lnTo>
                  <a:lnTo>
                    <a:pt x="250" y="21302"/>
                  </a:lnTo>
                  <a:lnTo>
                    <a:pt x="409" y="21584"/>
                  </a:lnTo>
                  <a:lnTo>
                    <a:pt x="21189" y="21584"/>
                  </a:lnTo>
                  <a:lnTo>
                    <a:pt x="21349" y="21302"/>
                  </a:lnTo>
                  <a:lnTo>
                    <a:pt x="21477" y="20530"/>
                  </a:lnTo>
                  <a:lnTo>
                    <a:pt x="21566" y="19389"/>
                  </a:lnTo>
                  <a:lnTo>
                    <a:pt x="21599" y="17987"/>
                  </a:lnTo>
                  <a:lnTo>
                    <a:pt x="21599" y="3596"/>
                  </a:lnTo>
                  <a:lnTo>
                    <a:pt x="21566" y="2192"/>
                  </a:lnTo>
                  <a:lnTo>
                    <a:pt x="21477" y="1051"/>
                  </a:lnTo>
                  <a:lnTo>
                    <a:pt x="21349" y="282"/>
                  </a:lnTo>
                  <a:lnTo>
                    <a:pt x="21189" y="0"/>
                  </a:lnTo>
                  <a:close/>
                </a:path>
              </a:pathLst>
            </a:custGeom>
            <a:solidFill>
              <a:srgbClr val="FF6600"/>
            </a:solidFill>
            <a:ln cap="flat" cmpd="sng">
              <a:noFill/>
              <a:prstDash val="solid"/>
              <a:miter/>
            </a:ln>
          </p:spPr>
        </p:sp>
      </p:grpSp>
      <p:sp>
        <p:nvSpPr>
          <p:cNvPr id="152" name="文本框"/>
          <p:cNvSpPr>
            <a:spLocks noGrp="1"/>
          </p:cNvSpPr>
          <p:nvPr>
            <p:ph type="title"/>
          </p:nvPr>
        </p:nvSpPr>
        <p:spPr>
          <a:xfrm>
            <a:off x="2220809" y="391546"/>
            <a:ext cx="6538677" cy="601447"/>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000" b="1" i="0" u="none" strike="noStrike" kern="0" cap="none" spc="0" baseline="0" dirty="0">
                <a:solidFill>
                  <a:srgbClr val="FFFFFF"/>
                </a:solidFill>
                <a:latin typeface="Times New Roman" pitchFamily="18" charset="0"/>
                <a:ea typeface="宋体" charset="0"/>
                <a:cs typeface="Palatino Linotype" charset="0"/>
              </a:rPr>
              <a:t>NON-FUNCTIONAL REQUIREMENTS &amp; END USERS</a:t>
            </a:r>
            <a:br>
              <a:rPr lang="zh-CN" altLang="en-US" sz="2000" b="1" i="0" u="none" strike="noStrike" kern="0" cap="none" spc="0" baseline="0" dirty="0">
                <a:solidFill>
                  <a:srgbClr val="FFFFFF"/>
                </a:solidFill>
                <a:latin typeface="Times New Roman" pitchFamily="18" charset="0"/>
                <a:ea typeface="宋体" charset="0"/>
                <a:cs typeface="Palatino Linotype" charset="0"/>
              </a:rPr>
            </a:br>
            <a:endParaRPr lang="zh-CN" altLang="en-US"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153"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54" name="圆角矩形"/>
          <p:cNvSpPr>
            <a:spLocks/>
          </p:cNvSpPr>
          <p:nvPr/>
        </p:nvSpPr>
        <p:spPr>
          <a:xfrm>
            <a:off x="455394" y="1981200"/>
            <a:ext cx="4497606" cy="312420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55" name="圆角矩形"/>
          <p:cNvSpPr>
            <a:spLocks/>
          </p:cNvSpPr>
          <p:nvPr/>
        </p:nvSpPr>
        <p:spPr>
          <a:xfrm>
            <a:off x="5118412" y="1981200"/>
            <a:ext cx="4497606" cy="312420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156" name="矩形"/>
          <p:cNvSpPr>
            <a:spLocks/>
          </p:cNvSpPr>
          <p:nvPr/>
        </p:nvSpPr>
        <p:spPr>
          <a:xfrm>
            <a:off x="455394" y="2919177"/>
            <a:ext cx="5029200" cy="18376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Performance — Fast response to queries</a:t>
            </a:r>
          </a:p>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Security — Protect database information</a:t>
            </a:r>
          </a:p>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Reliability — Maintain consistent records</a:t>
            </a:r>
          </a:p>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Accuracy — Reduce data errors</a:t>
            </a:r>
          </a:p>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Usability — Easy-to-use system</a:t>
            </a:r>
          </a:p>
          <a:p>
            <a:pPr marL="0" indent="0" algn="l">
              <a:lnSpc>
                <a:spcPct val="100000"/>
              </a:lnSpc>
              <a:spcBef>
                <a:spcPts val="0"/>
              </a:spcBef>
              <a:spcAft>
                <a:spcPts val="500"/>
              </a:spcAft>
              <a:buNone/>
            </a:pPr>
            <a:r>
              <a:rPr lang="en-US" altLang="zh-CN" sz="1600" b="0" i="0" u="none" strike="noStrike" kern="0" cap="none" spc="0" baseline="0" dirty="0">
                <a:solidFill>
                  <a:schemeClr val="tx1"/>
                </a:solidFill>
                <a:latin typeface="Droid Sans" charset="0"/>
                <a:ea typeface="Droid Sans" charset="0"/>
                <a:cs typeface="Lucida Sans" charset="0"/>
              </a:rPr>
              <a:t>• Scalability — Support increasing library data</a:t>
            </a:r>
            <a:endParaRPr lang="zh-CN" altLang="en-US" sz="1600" b="0" i="0" u="none" strike="noStrike" kern="0" cap="none" spc="0" baseline="0">
              <a:solidFill>
                <a:schemeClr val="tx1"/>
              </a:solidFill>
              <a:latin typeface="Droid Sans" charset="0"/>
              <a:ea typeface="Droid Sans" charset="0"/>
              <a:cs typeface="Lucida Sans" charset="0"/>
            </a:endParaRPr>
          </a:p>
        </p:txBody>
      </p:sp>
      <p:sp>
        <p:nvSpPr>
          <p:cNvPr id="157" name="矩形"/>
          <p:cNvSpPr>
            <a:spLocks/>
          </p:cNvSpPr>
          <p:nvPr/>
        </p:nvSpPr>
        <p:spPr>
          <a:xfrm>
            <a:off x="5289085" y="2738666"/>
            <a:ext cx="4156257" cy="202501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700"/>
              </a:spcAft>
              <a:buNone/>
            </a:pPr>
            <a:r>
              <a:rPr lang="en-US" altLang="zh-CN" sz="1600" b="0" i="0" u="none" strike="noStrike" kern="0" cap="none" spc="0" baseline="0" dirty="0">
                <a:solidFill>
                  <a:schemeClr val="tx1"/>
                </a:solidFill>
                <a:latin typeface="Droid Sans" charset="0"/>
                <a:ea typeface="Droid Sans" charset="0"/>
                <a:cs typeface="Lucida Sans" charset="0"/>
              </a:rPr>
              <a:t>• Librarian / Admin — Manages books, members, and transactions</a:t>
            </a:r>
          </a:p>
          <a:p>
            <a:pPr marL="0" indent="0" algn="l">
              <a:lnSpc>
                <a:spcPct val="100000"/>
              </a:lnSpc>
              <a:spcBef>
                <a:spcPts val="0"/>
              </a:spcBef>
              <a:spcAft>
                <a:spcPts val="700"/>
              </a:spcAft>
              <a:buNone/>
            </a:pPr>
            <a:r>
              <a:rPr lang="en-US" altLang="zh-CN" sz="1600" b="0" i="0" u="none" strike="noStrike" kern="0" cap="none" spc="0" baseline="0" dirty="0">
                <a:solidFill>
                  <a:schemeClr val="tx1"/>
                </a:solidFill>
                <a:latin typeface="Droid Sans" charset="0"/>
                <a:ea typeface="Droid Sans" charset="0"/>
                <a:cs typeface="Lucida Sans" charset="0"/>
              </a:rPr>
              <a:t>• Library Member / Student — Searches and borrows books</a:t>
            </a:r>
          </a:p>
          <a:p>
            <a:pPr marL="0" indent="0" algn="l">
              <a:lnSpc>
                <a:spcPct val="100000"/>
              </a:lnSpc>
              <a:spcBef>
                <a:spcPts val="0"/>
              </a:spcBef>
              <a:spcAft>
                <a:spcPts val="700"/>
              </a:spcAft>
              <a:buNone/>
            </a:pPr>
            <a:r>
              <a:rPr lang="en-US" altLang="zh-CN" sz="1600" b="0" i="0" u="none" strike="noStrike" kern="0" cap="none" spc="0" baseline="0" dirty="0">
                <a:solidFill>
                  <a:schemeClr val="tx1"/>
                </a:solidFill>
                <a:latin typeface="Droid Sans" charset="0"/>
                <a:ea typeface="Droid Sans" charset="0"/>
                <a:cs typeface="Lucida Sans" charset="0"/>
              </a:rPr>
              <a:t>• Library Management — Monitors library records and activities</a:t>
            </a:r>
          </a:p>
          <a:p>
            <a:pPr marL="0" indent="0" algn="l">
              <a:lnSpc>
                <a:spcPct val="100000"/>
              </a:lnSpc>
              <a:spcBef>
                <a:spcPts val="0"/>
              </a:spcBef>
              <a:spcAft>
                <a:spcPts val="500"/>
              </a:spcAft>
              <a:buNone/>
            </a:pPr>
            <a:endParaRPr lang="zh-CN" altLang="en-US" sz="1600" b="0" i="0" u="none" strike="noStrike" kern="0" cap="none" spc="0" baseline="0">
              <a:solidFill>
                <a:schemeClr val="tx1"/>
              </a:solidFill>
              <a:latin typeface="Droid Sans" charset="0"/>
              <a:ea typeface="Droid Sans" charset="0"/>
              <a:cs typeface="Lucida Sans" charset="0"/>
            </a:endParaRPr>
          </a:p>
        </p:txBody>
      </p:sp>
      <p:sp>
        <p:nvSpPr>
          <p:cNvPr id="158" name="矩形"/>
          <p:cNvSpPr>
            <a:spLocks/>
          </p:cNvSpPr>
          <p:nvPr/>
        </p:nvSpPr>
        <p:spPr>
          <a:xfrm>
            <a:off x="609600" y="2372426"/>
            <a:ext cx="457200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Non-Functional Requirements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
        <p:nvSpPr>
          <p:cNvPr id="159" name="矩形"/>
          <p:cNvSpPr>
            <a:spLocks/>
          </p:cNvSpPr>
          <p:nvPr/>
        </p:nvSpPr>
        <p:spPr>
          <a:xfrm>
            <a:off x="5194609" y="2268548"/>
            <a:ext cx="5029199"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000" b="1" i="0" u="none" strike="noStrike" kern="0" cap="none" spc="0" baseline="0" dirty="0">
                <a:solidFill>
                  <a:srgbClr val="234B78"/>
                </a:solidFill>
                <a:latin typeface="Times New Roman" pitchFamily="18" charset="0"/>
                <a:ea typeface="Droid Sans" charset="0"/>
                <a:cs typeface="Lucida Sans" charset="0"/>
              </a:rPr>
              <a:t>  End Users</a:t>
            </a:r>
            <a:endParaRPr lang="zh-CN" altLang="en-US" sz="2000" b="1" i="0" u="none" strike="noStrike" kern="0" cap="none" spc="0" baseline="0" dirty="0">
              <a:solidFill>
                <a:srgbClr val="234B78"/>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185536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6" name="组合"/>
          <p:cNvGrpSpPr>
            <a:grpSpLocks/>
          </p:cNvGrpSpPr>
          <p:nvPr/>
        </p:nvGrpSpPr>
        <p:grpSpPr>
          <a:xfrm>
            <a:off x="2590799" y="161097"/>
            <a:ext cx="5103902" cy="1198311"/>
            <a:chOff x="2590799" y="161097"/>
            <a:chExt cx="5103902" cy="1198311"/>
          </a:xfrm>
        </p:grpSpPr>
        <p:pic>
          <p:nvPicPr>
            <p:cNvPr id="162" name="图片"/>
            <p:cNvPicPr>
              <a:picLocks/>
            </p:cNvPicPr>
            <p:nvPr/>
          </p:nvPicPr>
          <p:blipFill>
            <a:blip r:embed="rId3" cstate="print"/>
            <a:stretch>
              <a:fillRect/>
            </a:stretch>
          </p:blipFill>
          <p:spPr>
            <a:xfrm>
              <a:off x="2590799" y="161097"/>
              <a:ext cx="5103902" cy="1198311"/>
            </a:xfrm>
            <a:prstGeom prst="rect">
              <a:avLst/>
            </a:prstGeom>
            <a:noFill/>
            <a:ln w="12700" cap="flat" cmpd="sng">
              <a:noFill/>
              <a:prstDash val="solid"/>
              <a:miter/>
            </a:ln>
          </p:spPr>
        </p:pic>
        <p:pic>
          <p:nvPicPr>
            <p:cNvPr id="163" name="图片"/>
            <p:cNvPicPr>
              <a:picLocks/>
            </p:cNvPicPr>
            <p:nvPr/>
          </p:nvPicPr>
          <p:blipFill>
            <a:blip r:embed="rId4" cstate="print"/>
            <a:stretch>
              <a:fillRect/>
            </a:stretch>
          </p:blipFill>
          <p:spPr>
            <a:xfrm>
              <a:off x="2645807" y="200388"/>
              <a:ext cx="4997765" cy="1092279"/>
            </a:xfrm>
            <a:prstGeom prst="rect">
              <a:avLst/>
            </a:prstGeom>
            <a:noFill/>
            <a:ln w="12700" cap="flat" cmpd="sng">
              <a:noFill/>
              <a:prstDash val="solid"/>
              <a:miter/>
            </a:ln>
          </p:spPr>
        </p:pic>
        <p:pic>
          <p:nvPicPr>
            <p:cNvPr id="164" name="图片"/>
            <p:cNvPicPr>
              <a:picLocks/>
            </p:cNvPicPr>
            <p:nvPr/>
          </p:nvPicPr>
          <p:blipFill>
            <a:blip r:embed="rId5" cstate="print"/>
            <a:stretch>
              <a:fillRect/>
            </a:stretch>
          </p:blipFill>
          <p:spPr>
            <a:xfrm>
              <a:off x="2771537" y="357498"/>
              <a:ext cx="4585268" cy="522565"/>
            </a:xfrm>
            <a:prstGeom prst="rect">
              <a:avLst/>
            </a:prstGeom>
            <a:noFill/>
            <a:ln w="12700" cap="flat" cmpd="sng">
              <a:noFill/>
              <a:prstDash val="solid"/>
              <a:miter/>
            </a:ln>
          </p:spPr>
        </p:pic>
        <p:sp>
          <p:nvSpPr>
            <p:cNvPr id="165" name="曲线"/>
            <p:cNvSpPr>
              <a:spLocks/>
            </p:cNvSpPr>
            <p:nvPr/>
          </p:nvSpPr>
          <p:spPr>
            <a:xfrm>
              <a:off x="2826543" y="396841"/>
              <a:ext cx="4479290" cy="416559"/>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2"/>
                  </a:lnTo>
                  <a:lnTo>
                    <a:pt x="32" y="2194"/>
                  </a:lnTo>
                  <a:lnTo>
                    <a:pt x="0" y="3596"/>
                  </a:lnTo>
                  <a:lnTo>
                    <a:pt x="0" y="17987"/>
                  </a:lnTo>
                  <a:lnTo>
                    <a:pt x="32" y="19390"/>
                  </a:lnTo>
                  <a:lnTo>
                    <a:pt x="118" y="20531"/>
                  </a:lnTo>
                  <a:lnTo>
                    <a:pt x="250" y="21302"/>
                  </a:lnTo>
                  <a:lnTo>
                    <a:pt x="409" y="21584"/>
                  </a:lnTo>
                  <a:lnTo>
                    <a:pt x="21188" y="21584"/>
                  </a:lnTo>
                  <a:lnTo>
                    <a:pt x="21349" y="21302"/>
                  </a:lnTo>
                  <a:lnTo>
                    <a:pt x="21479" y="20531"/>
                  </a:lnTo>
                  <a:lnTo>
                    <a:pt x="21566" y="19390"/>
                  </a:lnTo>
                  <a:lnTo>
                    <a:pt x="21599" y="17987"/>
                  </a:lnTo>
                  <a:lnTo>
                    <a:pt x="21599" y="3596"/>
                  </a:lnTo>
                  <a:lnTo>
                    <a:pt x="21566" y="2194"/>
                  </a:lnTo>
                  <a:lnTo>
                    <a:pt x="21479" y="1052"/>
                  </a:lnTo>
                  <a:lnTo>
                    <a:pt x="21349" y="281"/>
                  </a:lnTo>
                  <a:lnTo>
                    <a:pt x="21188" y="0"/>
                  </a:lnTo>
                  <a:close/>
                </a:path>
              </a:pathLst>
            </a:custGeom>
            <a:solidFill>
              <a:srgbClr val="FF6600"/>
            </a:solidFill>
            <a:ln cap="flat" cmpd="sng">
              <a:noFill/>
              <a:prstDash val="solid"/>
              <a:miter/>
            </a:ln>
          </p:spPr>
        </p:sp>
      </p:grpSp>
      <p:sp>
        <p:nvSpPr>
          <p:cNvPr id="167" name="文本框"/>
          <p:cNvSpPr>
            <a:spLocks noGrp="1"/>
          </p:cNvSpPr>
          <p:nvPr>
            <p:ph type="title"/>
          </p:nvPr>
        </p:nvSpPr>
        <p:spPr>
          <a:xfrm>
            <a:off x="3179062" y="396841"/>
            <a:ext cx="4072066" cy="686085"/>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400" b="1" i="0" u="none" strike="noStrike" kern="0" cap="none" spc="0" baseline="0" dirty="0">
                <a:solidFill>
                  <a:srgbClr val="FFFFFF"/>
                </a:solidFill>
                <a:latin typeface="Times New Roman" pitchFamily="18" charset="0"/>
                <a:ea typeface="宋体" charset="0"/>
                <a:cs typeface="Palatino Linotype" charset="0"/>
              </a:rPr>
              <a:t>ENTITIES</a:t>
            </a:r>
            <a:r>
              <a:rPr lang="en-US" altLang="zh-CN" sz="2000" b="1" i="0" u="none" strike="noStrike" kern="0" cap="none" spc="0" baseline="0" dirty="0">
                <a:solidFill>
                  <a:srgbClr val="FFFFFF"/>
                </a:solidFill>
                <a:latin typeface="Times New Roman" pitchFamily="18" charset="0"/>
                <a:ea typeface="宋体" charset="0"/>
                <a:cs typeface="Palatino Linotype" charset="0"/>
              </a:rPr>
              <a:t> </a:t>
            </a:r>
            <a:r>
              <a:rPr lang="en-US" altLang="zh-CN" sz="2400" b="1" i="0" u="none" strike="noStrike" kern="0" cap="none" spc="0" baseline="0" dirty="0">
                <a:solidFill>
                  <a:srgbClr val="FFFFFF"/>
                </a:solidFill>
                <a:latin typeface="Times New Roman" pitchFamily="18" charset="0"/>
                <a:ea typeface="宋体" charset="0"/>
                <a:cs typeface="Palatino Linotype" charset="0"/>
              </a:rPr>
              <a:t>&amp; ATTRIBUTES</a:t>
            </a:r>
            <a:br>
              <a:rPr lang="zh-CN" altLang="en-US" sz="2400" b="1" i="0" u="none" strike="noStrike" kern="0" cap="none" spc="0" baseline="0" dirty="0">
                <a:solidFill>
                  <a:srgbClr val="FFFFFF"/>
                </a:solidFill>
                <a:latin typeface="Times New Roman" pitchFamily="18" charset="0"/>
                <a:ea typeface="宋体" charset="0"/>
                <a:cs typeface="Palatino Linotype" charset="0"/>
              </a:rPr>
            </a:br>
            <a:endParaRPr lang="zh-CN" altLang="en-US" sz="1950"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168"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169" name="矩形"/>
          <p:cNvSpPr>
            <a:spLocks/>
          </p:cNvSpPr>
          <p:nvPr/>
        </p:nvSpPr>
        <p:spPr>
          <a:xfrm>
            <a:off x="-30479" y="1112520"/>
            <a:ext cx="2743200" cy="3771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900" b="1" i="0" u="none" strike="noStrike" kern="0" cap="none" spc="0" baseline="0" dirty="0">
                <a:solidFill>
                  <a:srgbClr val="234B78"/>
                </a:solidFill>
                <a:latin typeface="Times New Roman" pitchFamily="18" charset="0"/>
                <a:ea typeface="Droid Sans" charset="0"/>
                <a:cs typeface="Lucida Sans" charset="0"/>
              </a:rPr>
              <a:t>       ER Design</a:t>
            </a:r>
            <a:endParaRPr lang="zh-CN" altLang="en-US" sz="1900" b="1" i="0" u="none" strike="noStrike" kern="0" cap="none" spc="0" baseline="0">
              <a:solidFill>
                <a:srgbClr val="234B78"/>
              </a:solidFill>
              <a:latin typeface="Times New Roman" pitchFamily="18" charset="0"/>
              <a:ea typeface="Droid Sans" charset="0"/>
              <a:cs typeface="Lucida Sans" charset="0"/>
            </a:endParaRPr>
          </a:p>
        </p:txBody>
      </p:sp>
      <p:sp>
        <p:nvSpPr>
          <p:cNvPr id="170" name="矩形"/>
          <p:cNvSpPr>
            <a:spLocks/>
          </p:cNvSpPr>
          <p:nvPr/>
        </p:nvSpPr>
        <p:spPr>
          <a:xfrm>
            <a:off x="103632" y="1606295"/>
            <a:ext cx="2225040" cy="1234440"/>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71" name="矩形"/>
          <p:cNvSpPr>
            <a:spLocks/>
          </p:cNvSpPr>
          <p:nvPr/>
        </p:nvSpPr>
        <p:spPr>
          <a:xfrm>
            <a:off x="0" y="1661160"/>
            <a:ext cx="2313432" cy="28193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dirty="0">
                <a:solidFill>
                  <a:srgbClr val="234B78"/>
                </a:solidFill>
                <a:latin typeface="Times New Roman" pitchFamily="18" charset="0"/>
                <a:ea typeface="Droid Sans" charset="0"/>
                <a:cs typeface="Lucida Sans" charset="0"/>
              </a:rPr>
              <a:t>BOOK</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72" name="矩形"/>
          <p:cNvSpPr>
            <a:spLocks/>
          </p:cNvSpPr>
          <p:nvPr/>
        </p:nvSpPr>
        <p:spPr>
          <a:xfrm>
            <a:off x="161544" y="1940015"/>
            <a:ext cx="2167128" cy="71558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350" b="0" i="0" u="none" strike="noStrike" kern="0" cap="none" spc="0" baseline="0" dirty="0" err="1">
                <a:solidFill>
                  <a:srgbClr val="141414"/>
                </a:solidFill>
                <a:latin typeface="Times New Roman" pitchFamily="18" charset="0"/>
                <a:ea typeface="Droid Sans" charset="0"/>
                <a:cs typeface="Lucida Sans" charset="0"/>
              </a:rPr>
              <a:t>Book_ID</a:t>
            </a:r>
            <a:r>
              <a:rPr lang="en-US" altLang="zh-CN" sz="1350" b="0" i="0" u="none" strike="noStrike" kern="0" cap="none" spc="0" baseline="0">
                <a:solidFill>
                  <a:srgbClr val="141414"/>
                </a:solidFill>
                <a:latin typeface="Times New Roman" pitchFamily="18" charset="0"/>
                <a:ea typeface="Droid Sans" charset="0"/>
                <a:cs typeface="Lucida Sans" charset="0"/>
              </a:rPr>
              <a:t> (PK)
Title, ISBN, Publisher
Quantity, Available_Copies</a:t>
            </a:r>
            <a:endParaRPr lang="zh-CN" altLang="en-US" sz="1350" b="0" i="0" u="none" strike="noStrike" kern="0" cap="none" spc="0" baseline="0">
              <a:solidFill>
                <a:srgbClr val="141414"/>
              </a:solidFill>
              <a:latin typeface="Times New Roman" pitchFamily="18" charset="0"/>
              <a:ea typeface="Droid Sans" charset="0"/>
              <a:cs typeface="Lucida Sans" charset="0"/>
            </a:endParaRPr>
          </a:p>
        </p:txBody>
      </p:sp>
      <p:sp>
        <p:nvSpPr>
          <p:cNvPr id="173" name="矩形"/>
          <p:cNvSpPr>
            <a:spLocks/>
          </p:cNvSpPr>
          <p:nvPr/>
        </p:nvSpPr>
        <p:spPr>
          <a:xfrm>
            <a:off x="2575560" y="1597152"/>
            <a:ext cx="2313432" cy="1198311"/>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74" name="矩形"/>
          <p:cNvSpPr>
            <a:spLocks/>
          </p:cNvSpPr>
          <p:nvPr/>
        </p:nvSpPr>
        <p:spPr>
          <a:xfrm>
            <a:off x="2630424" y="1670304"/>
            <a:ext cx="2313432" cy="28193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MEMBER</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75" name="矩形"/>
          <p:cNvSpPr>
            <a:spLocks/>
          </p:cNvSpPr>
          <p:nvPr/>
        </p:nvSpPr>
        <p:spPr>
          <a:xfrm>
            <a:off x="2688336" y="1851788"/>
            <a:ext cx="2036063" cy="9296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350" b="0" i="0" u="none" strike="noStrike" kern="0" cap="none" spc="0" baseline="0">
                <a:solidFill>
                  <a:srgbClr val="141414"/>
                </a:solidFill>
                <a:latin typeface="Times New Roman" pitchFamily="18" charset="0"/>
                <a:ea typeface="Droid Sans" charset="0"/>
                <a:cs typeface="Lucida Sans" charset="0"/>
              </a:rPr>
              <a:t>Member_ID (PK)
Name, Email, Phone
Address, Membership_Date</a:t>
            </a:r>
            <a:endParaRPr lang="zh-CN" altLang="en-US" sz="1350" b="0" i="0" u="none" strike="noStrike" kern="0" cap="none" spc="0" baseline="0">
              <a:solidFill>
                <a:srgbClr val="141414"/>
              </a:solidFill>
              <a:latin typeface="Times New Roman" pitchFamily="18" charset="0"/>
              <a:ea typeface="Droid Sans" charset="0"/>
              <a:cs typeface="Lucida Sans" charset="0"/>
            </a:endParaRPr>
          </a:p>
        </p:txBody>
      </p:sp>
      <p:sp>
        <p:nvSpPr>
          <p:cNvPr id="176" name="矩形"/>
          <p:cNvSpPr>
            <a:spLocks/>
          </p:cNvSpPr>
          <p:nvPr/>
        </p:nvSpPr>
        <p:spPr>
          <a:xfrm>
            <a:off x="5318760" y="1597152"/>
            <a:ext cx="2038045" cy="1198311"/>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77" name="矩形"/>
          <p:cNvSpPr>
            <a:spLocks/>
          </p:cNvSpPr>
          <p:nvPr/>
        </p:nvSpPr>
        <p:spPr>
          <a:xfrm>
            <a:off x="5226785" y="1649283"/>
            <a:ext cx="2221991" cy="28193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LIBRARIAN</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78" name="矩形"/>
          <p:cNvSpPr>
            <a:spLocks/>
          </p:cNvSpPr>
          <p:nvPr/>
        </p:nvSpPr>
        <p:spPr>
          <a:xfrm>
            <a:off x="5433468" y="1984190"/>
            <a:ext cx="2075687" cy="510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0" cap="none" spc="0" baseline="0">
                <a:solidFill>
                  <a:srgbClr val="141414"/>
                </a:solidFill>
                <a:latin typeface="Times New Roman" pitchFamily="18" charset="0"/>
                <a:ea typeface="Droid Sans" charset="0"/>
                <a:cs typeface="Lucida Sans" charset="0"/>
              </a:rPr>
              <a:t>Librarian_ID (PK)
Name, Email, Phone</a:t>
            </a:r>
            <a:endParaRPr lang="zh-CN" altLang="en-US" sz="1400" b="0" i="0" u="none" strike="noStrike" kern="0" cap="none" spc="0" baseline="0">
              <a:solidFill>
                <a:srgbClr val="141414"/>
              </a:solidFill>
              <a:latin typeface="Times New Roman" pitchFamily="18" charset="0"/>
              <a:ea typeface="Droid Sans" charset="0"/>
              <a:cs typeface="Lucida Sans" charset="0"/>
            </a:endParaRPr>
          </a:p>
        </p:txBody>
      </p:sp>
      <p:sp>
        <p:nvSpPr>
          <p:cNvPr id="179" name="矩形"/>
          <p:cNvSpPr>
            <a:spLocks/>
          </p:cNvSpPr>
          <p:nvPr/>
        </p:nvSpPr>
        <p:spPr>
          <a:xfrm>
            <a:off x="7778496" y="1632113"/>
            <a:ext cx="2148839" cy="1198311"/>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80" name="矩形"/>
          <p:cNvSpPr>
            <a:spLocks/>
          </p:cNvSpPr>
          <p:nvPr/>
        </p:nvSpPr>
        <p:spPr>
          <a:xfrm>
            <a:off x="7732776" y="1697736"/>
            <a:ext cx="2221990" cy="28193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AUTHOR</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81" name="矩形"/>
          <p:cNvSpPr>
            <a:spLocks/>
          </p:cNvSpPr>
          <p:nvPr/>
        </p:nvSpPr>
        <p:spPr>
          <a:xfrm>
            <a:off x="7930845" y="2034896"/>
            <a:ext cx="2075684" cy="510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0" cap="none" spc="0" baseline="0">
                <a:solidFill>
                  <a:srgbClr val="141414"/>
                </a:solidFill>
                <a:latin typeface="Times New Roman" pitchFamily="18" charset="0"/>
                <a:ea typeface="Droid Sans" charset="0"/>
                <a:cs typeface="Lucida Sans" charset="0"/>
              </a:rPr>
              <a:t>Author_ID (PK)
Author_Name</a:t>
            </a:r>
            <a:endParaRPr lang="zh-CN" altLang="en-US" sz="1400" b="0" i="0" u="none" strike="noStrike" kern="0" cap="none" spc="0" baseline="0">
              <a:solidFill>
                <a:srgbClr val="141414"/>
              </a:solidFill>
              <a:latin typeface="Times New Roman" pitchFamily="18" charset="0"/>
              <a:ea typeface="Droid Sans" charset="0"/>
              <a:cs typeface="Lucida Sans" charset="0"/>
            </a:endParaRPr>
          </a:p>
        </p:txBody>
      </p:sp>
      <p:sp>
        <p:nvSpPr>
          <p:cNvPr id="182" name="矩形"/>
          <p:cNvSpPr>
            <a:spLocks/>
          </p:cNvSpPr>
          <p:nvPr/>
        </p:nvSpPr>
        <p:spPr>
          <a:xfrm>
            <a:off x="243839" y="3745992"/>
            <a:ext cx="2468880" cy="1234438"/>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83" name="矩形"/>
          <p:cNvSpPr>
            <a:spLocks/>
          </p:cNvSpPr>
          <p:nvPr/>
        </p:nvSpPr>
        <p:spPr>
          <a:xfrm>
            <a:off x="298704" y="3819144"/>
            <a:ext cx="2359152" cy="281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CATEGORY</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84" name="矩形"/>
          <p:cNvSpPr>
            <a:spLocks/>
          </p:cNvSpPr>
          <p:nvPr/>
        </p:nvSpPr>
        <p:spPr>
          <a:xfrm>
            <a:off x="371856" y="4139182"/>
            <a:ext cx="2212848" cy="45338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200" b="0" i="0" u="none" strike="noStrike" kern="0" cap="none" spc="0" baseline="0">
                <a:solidFill>
                  <a:srgbClr val="141414"/>
                </a:solidFill>
                <a:latin typeface="Times New Roman" pitchFamily="18" charset="0"/>
                <a:ea typeface="Droid Sans" charset="0"/>
                <a:cs typeface="Lucida Sans" charset="0"/>
              </a:rPr>
              <a:t>Category_ID (PK)
Category_Name, Description</a:t>
            </a:r>
            <a:endParaRPr lang="zh-CN" altLang="en-US" sz="1200" b="0" i="0" u="none" strike="noStrike" kern="0" cap="none" spc="0" baseline="0">
              <a:solidFill>
                <a:srgbClr val="141414"/>
              </a:solidFill>
              <a:latin typeface="Times New Roman" pitchFamily="18" charset="0"/>
              <a:ea typeface="Droid Sans" charset="0"/>
              <a:cs typeface="Lucida Sans" charset="0"/>
            </a:endParaRPr>
          </a:p>
        </p:txBody>
      </p:sp>
      <p:sp>
        <p:nvSpPr>
          <p:cNvPr id="185" name="矩形"/>
          <p:cNvSpPr>
            <a:spLocks/>
          </p:cNvSpPr>
          <p:nvPr/>
        </p:nvSpPr>
        <p:spPr>
          <a:xfrm>
            <a:off x="3124200" y="3517392"/>
            <a:ext cx="3886200" cy="1554480"/>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86" name="矩形"/>
          <p:cNvSpPr>
            <a:spLocks/>
          </p:cNvSpPr>
          <p:nvPr/>
        </p:nvSpPr>
        <p:spPr>
          <a:xfrm>
            <a:off x="3179062" y="3590544"/>
            <a:ext cx="3776471" cy="281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ISSUE_TRANSACTION</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87" name="矩形"/>
          <p:cNvSpPr>
            <a:spLocks/>
          </p:cNvSpPr>
          <p:nvPr/>
        </p:nvSpPr>
        <p:spPr>
          <a:xfrm>
            <a:off x="3252214" y="3910583"/>
            <a:ext cx="3630165" cy="92963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0" cap="none" spc="0" baseline="0">
                <a:solidFill>
                  <a:srgbClr val="141414"/>
                </a:solidFill>
                <a:latin typeface="Times New Roman" pitchFamily="18" charset="0"/>
                <a:ea typeface="Droid Sans" charset="0"/>
                <a:cs typeface="Lucida Sans" charset="0"/>
              </a:rPr>
              <a:t>Issue_ID (PK)
Member_ID (FK), Book_ID (FK)
Librarian_ID (FK), Issue_Date, Due_DateReturn_Date, Status</a:t>
            </a:r>
            <a:endParaRPr lang="zh-CN" altLang="en-US" sz="1400" b="0" i="0" u="none" strike="noStrike" kern="0" cap="none" spc="0" baseline="0">
              <a:solidFill>
                <a:srgbClr val="141414"/>
              </a:solidFill>
              <a:latin typeface="Times New Roman" pitchFamily="18" charset="0"/>
              <a:ea typeface="Droid Sans" charset="0"/>
              <a:cs typeface="Lucida Sans" charset="0"/>
            </a:endParaRPr>
          </a:p>
        </p:txBody>
      </p:sp>
      <p:sp>
        <p:nvSpPr>
          <p:cNvPr id="188" name="矩形"/>
          <p:cNvSpPr>
            <a:spLocks/>
          </p:cNvSpPr>
          <p:nvPr/>
        </p:nvSpPr>
        <p:spPr>
          <a:xfrm>
            <a:off x="7421880" y="3660205"/>
            <a:ext cx="2468880" cy="1234439"/>
          </a:xfrm>
          <a:prstGeom prst="rect">
            <a:avLst/>
          </a:prstGeom>
          <a:solidFill>
            <a:srgbClr val="FFFFFF"/>
          </a:solidFill>
          <a:ln w="9525" cap="flat" cmpd="sng">
            <a:solidFill>
              <a:srgbClr val="141414"/>
            </a:solidFill>
            <a:prstDash val="solid"/>
            <a:round/>
          </a:ln>
          <a:effectLst>
            <a:outerShdw blurRad="40000" dist="23000" dir="5400000" rotWithShape="0">
              <a:srgbClr val="000000">
                <a:alpha val="34509"/>
              </a:srgbClr>
            </a:outerShdw>
          </a:effectLst>
        </p:spPr>
      </p:sp>
      <p:sp>
        <p:nvSpPr>
          <p:cNvPr id="189" name="矩形"/>
          <p:cNvSpPr>
            <a:spLocks/>
          </p:cNvSpPr>
          <p:nvPr/>
        </p:nvSpPr>
        <p:spPr>
          <a:xfrm>
            <a:off x="7504175" y="3758184"/>
            <a:ext cx="2359152" cy="281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00" b="1" i="0" u="none" strike="noStrike" kern="0" cap="none" spc="0" baseline="0">
                <a:solidFill>
                  <a:srgbClr val="234B78"/>
                </a:solidFill>
                <a:latin typeface="Times New Roman" pitchFamily="18" charset="0"/>
                <a:ea typeface="Droid Sans" charset="0"/>
                <a:cs typeface="Lucida Sans" charset="0"/>
              </a:rPr>
              <a:t>BOOK_AUTHOR</a:t>
            </a:r>
            <a:endParaRPr lang="zh-CN" altLang="en-US" sz="1300" b="1" i="0" u="none" strike="noStrike" kern="0" cap="none" spc="0" baseline="0">
              <a:solidFill>
                <a:srgbClr val="234B78"/>
              </a:solidFill>
              <a:latin typeface="Times New Roman" pitchFamily="18" charset="0"/>
              <a:ea typeface="Droid Sans" charset="0"/>
              <a:cs typeface="Lucida Sans" charset="0"/>
            </a:endParaRPr>
          </a:p>
        </p:txBody>
      </p:sp>
      <p:sp>
        <p:nvSpPr>
          <p:cNvPr id="190" name="矩形"/>
          <p:cNvSpPr>
            <a:spLocks/>
          </p:cNvSpPr>
          <p:nvPr/>
        </p:nvSpPr>
        <p:spPr>
          <a:xfrm>
            <a:off x="7521409" y="4049074"/>
            <a:ext cx="2212848" cy="510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0" i="0" u="none" strike="noStrike" kern="0" cap="none" spc="0" baseline="0">
                <a:solidFill>
                  <a:srgbClr val="141414"/>
                </a:solidFill>
                <a:latin typeface="Times New Roman" pitchFamily="18" charset="0"/>
                <a:ea typeface="Droid Sans" charset="0"/>
                <a:cs typeface="Lucida Sans" charset="0"/>
              </a:rPr>
              <a:t>Book_ID (FK)
Author_ID (FK)</a:t>
            </a:r>
            <a:endParaRPr lang="zh-CN" altLang="en-US" sz="1400" b="0" i="0" u="none" strike="noStrike" kern="0" cap="none" spc="0" baseline="0">
              <a:solidFill>
                <a:srgbClr val="141414"/>
              </a:solidFill>
              <a:latin typeface="Times New Roman" pitchFamily="18" charset="0"/>
              <a:ea typeface="Droid Sans" charset="0"/>
              <a:cs typeface="Lucida Sans" charset="0"/>
            </a:endParaRPr>
          </a:p>
        </p:txBody>
      </p:sp>
      <p:sp>
        <p:nvSpPr>
          <p:cNvPr id="191" name="矩形"/>
          <p:cNvSpPr>
            <a:spLocks/>
          </p:cNvSpPr>
          <p:nvPr/>
        </p:nvSpPr>
        <p:spPr>
          <a:xfrm>
            <a:off x="2895600" y="5620512"/>
            <a:ext cx="4846320" cy="281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250" b="1" i="0" u="none" strike="noStrike" kern="0" cap="none" spc="0" baseline="0">
                <a:solidFill>
                  <a:srgbClr val="B42D28"/>
                </a:solidFill>
                <a:latin typeface="Times New Roman" pitchFamily="18" charset="0"/>
                <a:ea typeface="Droid Sans" charset="0"/>
                <a:cs typeface="Lucida Sans" charset="0"/>
              </a:rPr>
              <a:t>PK = Primary Key   |   FK = Foreign Key</a:t>
            </a:r>
            <a:endParaRPr lang="zh-CN" altLang="en-US" sz="1250" b="1" i="0" u="none" strike="noStrike" kern="0" cap="none" spc="0" baseline="0">
              <a:solidFill>
                <a:srgbClr val="B42D28"/>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49630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9" name="组合"/>
          <p:cNvGrpSpPr>
            <a:grpSpLocks/>
          </p:cNvGrpSpPr>
          <p:nvPr/>
        </p:nvGrpSpPr>
        <p:grpSpPr>
          <a:xfrm>
            <a:off x="2209800" y="161097"/>
            <a:ext cx="6248400" cy="1198311"/>
            <a:chOff x="2209800" y="161097"/>
            <a:chExt cx="6248400" cy="1198311"/>
          </a:xfrm>
        </p:grpSpPr>
        <p:pic>
          <p:nvPicPr>
            <p:cNvPr id="195" name="图片"/>
            <p:cNvPicPr>
              <a:picLocks/>
            </p:cNvPicPr>
            <p:nvPr/>
          </p:nvPicPr>
          <p:blipFill>
            <a:blip r:embed="rId3" cstate="print"/>
            <a:stretch>
              <a:fillRect/>
            </a:stretch>
          </p:blipFill>
          <p:spPr>
            <a:xfrm>
              <a:off x="2209800" y="161097"/>
              <a:ext cx="6248400" cy="1198311"/>
            </a:xfrm>
            <a:prstGeom prst="rect">
              <a:avLst/>
            </a:prstGeom>
            <a:noFill/>
            <a:ln w="12700" cap="flat" cmpd="sng">
              <a:noFill/>
              <a:prstDash val="solid"/>
              <a:miter/>
            </a:ln>
          </p:spPr>
        </p:pic>
        <p:pic>
          <p:nvPicPr>
            <p:cNvPr id="196" name="图片"/>
            <p:cNvPicPr>
              <a:picLocks/>
            </p:cNvPicPr>
            <p:nvPr/>
          </p:nvPicPr>
          <p:blipFill>
            <a:blip r:embed="rId4" cstate="print"/>
            <a:stretch>
              <a:fillRect/>
            </a:stretch>
          </p:blipFill>
          <p:spPr>
            <a:xfrm>
              <a:off x="2277142" y="200388"/>
              <a:ext cx="6118463" cy="1092279"/>
            </a:xfrm>
            <a:prstGeom prst="rect">
              <a:avLst/>
            </a:prstGeom>
            <a:noFill/>
            <a:ln w="12700" cap="flat" cmpd="sng">
              <a:noFill/>
              <a:prstDash val="solid"/>
              <a:miter/>
            </a:ln>
          </p:spPr>
        </p:pic>
        <p:pic>
          <p:nvPicPr>
            <p:cNvPr id="197" name="图片"/>
            <p:cNvPicPr>
              <a:picLocks/>
            </p:cNvPicPr>
            <p:nvPr/>
          </p:nvPicPr>
          <p:blipFill>
            <a:blip r:embed="rId5" cstate="print"/>
            <a:stretch>
              <a:fillRect/>
            </a:stretch>
          </p:blipFill>
          <p:spPr>
            <a:xfrm>
              <a:off x="2431065" y="357498"/>
              <a:ext cx="5613466" cy="522565"/>
            </a:xfrm>
            <a:prstGeom prst="rect">
              <a:avLst/>
            </a:prstGeom>
            <a:noFill/>
            <a:ln w="12700" cap="flat" cmpd="sng">
              <a:noFill/>
              <a:prstDash val="solid"/>
              <a:miter/>
            </a:ln>
          </p:spPr>
        </p:pic>
        <p:sp>
          <p:nvSpPr>
            <p:cNvPr id="198" name="曲线"/>
            <p:cNvSpPr>
              <a:spLocks/>
            </p:cNvSpPr>
            <p:nvPr/>
          </p:nvSpPr>
          <p:spPr>
            <a:xfrm>
              <a:off x="2498406" y="396841"/>
              <a:ext cx="5483723" cy="416559"/>
            </a:xfrm>
            <a:custGeom>
              <a:avLst/>
              <a:gdLst>
                <a:gd name="T1" fmla="*/ 0 w 21600"/>
                <a:gd name="T2" fmla="*/ 0 h 21600"/>
                <a:gd name="T3" fmla="*/ 21600 w 21600"/>
                <a:gd name="T4" fmla="*/ 21600 h 21600"/>
              </a:gdLst>
              <a:ahLst/>
              <a:cxnLst/>
              <a:rect l="T1" t="T2" r="T3" b="T4"/>
              <a:pathLst>
                <a:path w="21600" h="21600">
                  <a:moveTo>
                    <a:pt x="21187" y="0"/>
                  </a:moveTo>
                  <a:lnTo>
                    <a:pt x="408" y="0"/>
                  </a:lnTo>
                  <a:lnTo>
                    <a:pt x="249" y="281"/>
                  </a:lnTo>
                  <a:lnTo>
                    <a:pt x="119" y="1052"/>
                  </a:lnTo>
                  <a:lnTo>
                    <a:pt x="32" y="2194"/>
                  </a:lnTo>
                  <a:lnTo>
                    <a:pt x="0" y="3596"/>
                  </a:lnTo>
                  <a:lnTo>
                    <a:pt x="0" y="17987"/>
                  </a:lnTo>
                  <a:lnTo>
                    <a:pt x="32" y="19390"/>
                  </a:lnTo>
                  <a:lnTo>
                    <a:pt x="119" y="20531"/>
                  </a:lnTo>
                  <a:lnTo>
                    <a:pt x="249" y="21302"/>
                  </a:lnTo>
                  <a:lnTo>
                    <a:pt x="408" y="21584"/>
                  </a:lnTo>
                  <a:lnTo>
                    <a:pt x="21187" y="21584"/>
                  </a:lnTo>
                  <a:lnTo>
                    <a:pt x="21349" y="21302"/>
                  </a:lnTo>
                  <a:lnTo>
                    <a:pt x="21477" y="20531"/>
                  </a:lnTo>
                  <a:lnTo>
                    <a:pt x="21566" y="19390"/>
                  </a:lnTo>
                  <a:lnTo>
                    <a:pt x="21599" y="17987"/>
                  </a:lnTo>
                  <a:lnTo>
                    <a:pt x="21599" y="3596"/>
                  </a:lnTo>
                  <a:lnTo>
                    <a:pt x="21566" y="2194"/>
                  </a:lnTo>
                  <a:lnTo>
                    <a:pt x="21477" y="1052"/>
                  </a:lnTo>
                  <a:lnTo>
                    <a:pt x="21349" y="281"/>
                  </a:lnTo>
                  <a:lnTo>
                    <a:pt x="21187" y="0"/>
                  </a:lnTo>
                  <a:close/>
                </a:path>
              </a:pathLst>
            </a:custGeom>
            <a:solidFill>
              <a:srgbClr val="FF6600"/>
            </a:solidFill>
            <a:ln cap="flat" cmpd="sng">
              <a:noFill/>
              <a:prstDash val="solid"/>
              <a:miter/>
            </a:ln>
          </p:spPr>
        </p:sp>
      </p:grpSp>
      <p:sp>
        <p:nvSpPr>
          <p:cNvPr id="200" name="文本框"/>
          <p:cNvSpPr>
            <a:spLocks noGrp="1"/>
          </p:cNvSpPr>
          <p:nvPr>
            <p:ph type="title"/>
          </p:nvPr>
        </p:nvSpPr>
        <p:spPr>
          <a:xfrm>
            <a:off x="2719732" y="405448"/>
            <a:ext cx="5613466" cy="697117"/>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400" b="1" i="0" u="none" strike="noStrike" kern="0" cap="none" spc="0" baseline="0" dirty="0">
                <a:solidFill>
                  <a:srgbClr val="FFFFFF"/>
                </a:solidFill>
                <a:latin typeface="Times New Roman" pitchFamily="18" charset="0"/>
                <a:ea typeface="宋体" charset="0"/>
                <a:cs typeface="Palatino Linotype" charset="0"/>
              </a:rPr>
              <a:t>RELATIONSHIPS</a:t>
            </a:r>
            <a:r>
              <a:rPr lang="en-US" altLang="zh-CN" sz="2000" b="1" i="0" u="none" strike="noStrike" kern="0" cap="none" spc="0" baseline="0" dirty="0">
                <a:solidFill>
                  <a:srgbClr val="FFFFFF"/>
                </a:solidFill>
                <a:latin typeface="Times New Roman" pitchFamily="18" charset="0"/>
                <a:ea typeface="宋体" charset="0"/>
                <a:cs typeface="Palatino Linotype" charset="0"/>
              </a:rPr>
              <a:t> </a:t>
            </a:r>
            <a:r>
              <a:rPr lang="en-US" altLang="zh-CN" sz="2400" b="1" i="0" u="none" strike="noStrike" kern="0" cap="none" spc="0" baseline="0" dirty="0">
                <a:solidFill>
                  <a:srgbClr val="FFFFFF"/>
                </a:solidFill>
                <a:latin typeface="Times New Roman" pitchFamily="18" charset="0"/>
                <a:ea typeface="宋体" charset="0"/>
                <a:cs typeface="Palatino Linotype" charset="0"/>
              </a:rPr>
              <a:t>&amp; CARDINALITY</a:t>
            </a:r>
            <a:br>
              <a:rPr lang="zh-CN" altLang="en-US" sz="2400" b="1" i="0" u="none" strike="noStrike" kern="0" cap="none" spc="0" baseline="0" dirty="0">
                <a:solidFill>
                  <a:srgbClr val="FFFFFF"/>
                </a:solidFill>
                <a:latin typeface="Times New Roman" pitchFamily="18" charset="0"/>
                <a:ea typeface="宋体" charset="0"/>
                <a:cs typeface="Palatino Linotype" charset="0"/>
              </a:rPr>
            </a:br>
            <a:endParaRPr lang="zh-CN" altLang="en-US" sz="1950"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201"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202" name="圆角矩形"/>
          <p:cNvSpPr>
            <a:spLocks/>
          </p:cNvSpPr>
          <p:nvPr/>
        </p:nvSpPr>
        <p:spPr>
          <a:xfrm>
            <a:off x="533400" y="1575500"/>
            <a:ext cx="9067800" cy="551110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203" name="矩形"/>
          <p:cNvSpPr>
            <a:spLocks/>
          </p:cNvSpPr>
          <p:nvPr/>
        </p:nvSpPr>
        <p:spPr>
          <a:xfrm>
            <a:off x="868681" y="1840992"/>
            <a:ext cx="2834640" cy="32956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1" i="0" u="none" strike="noStrike" kern="0" cap="none" spc="0" baseline="0">
                <a:solidFill>
                  <a:srgbClr val="234B78"/>
                </a:solidFill>
                <a:latin typeface="Times New Roman" pitchFamily="18" charset="0"/>
                <a:ea typeface="Droid Sans" charset="0"/>
                <a:cs typeface="Lucida Sans" charset="0"/>
              </a:rPr>
              <a:t>Relationship</a:t>
            </a:r>
            <a:endParaRPr lang="zh-CN" altLang="en-US" sz="1600" b="1" i="0" u="none" strike="noStrike" kern="0" cap="none" spc="0" baseline="0">
              <a:solidFill>
                <a:srgbClr val="234B78"/>
              </a:solidFill>
              <a:latin typeface="Times New Roman" pitchFamily="18" charset="0"/>
              <a:ea typeface="Droid Sans" charset="0"/>
              <a:cs typeface="Lucida Sans" charset="0"/>
            </a:endParaRPr>
          </a:p>
        </p:txBody>
      </p:sp>
      <p:sp>
        <p:nvSpPr>
          <p:cNvPr id="204" name="矩形"/>
          <p:cNvSpPr>
            <a:spLocks/>
          </p:cNvSpPr>
          <p:nvPr/>
        </p:nvSpPr>
        <p:spPr>
          <a:xfrm>
            <a:off x="3886200" y="1840992"/>
            <a:ext cx="1280158" cy="32956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600" b="1" i="0" u="none" strike="noStrike" kern="0" cap="none" spc="0" baseline="0">
                <a:solidFill>
                  <a:srgbClr val="234B78"/>
                </a:solidFill>
                <a:latin typeface="Times New Roman" pitchFamily="18" charset="0"/>
                <a:ea typeface="Droid Sans" charset="0"/>
                <a:cs typeface="Lucida Sans" charset="0"/>
              </a:rPr>
              <a:t>Cardinality</a:t>
            </a:r>
            <a:endParaRPr lang="zh-CN" altLang="en-US" sz="1600" b="1" i="0" u="none" strike="noStrike" kern="0" cap="none" spc="0" baseline="0">
              <a:solidFill>
                <a:srgbClr val="234B78"/>
              </a:solidFill>
              <a:latin typeface="Times New Roman" pitchFamily="18" charset="0"/>
              <a:ea typeface="Droid Sans" charset="0"/>
              <a:cs typeface="Lucida Sans" charset="0"/>
            </a:endParaRPr>
          </a:p>
        </p:txBody>
      </p:sp>
      <p:sp>
        <p:nvSpPr>
          <p:cNvPr id="205" name="矩形"/>
          <p:cNvSpPr>
            <a:spLocks/>
          </p:cNvSpPr>
          <p:nvPr/>
        </p:nvSpPr>
        <p:spPr>
          <a:xfrm>
            <a:off x="5303521" y="1840992"/>
            <a:ext cx="5577840" cy="32956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1" i="0" u="none" strike="noStrike" kern="0" cap="none" spc="0" baseline="0">
                <a:solidFill>
                  <a:srgbClr val="234B78"/>
                </a:solidFill>
                <a:latin typeface="Times New Roman" pitchFamily="18" charset="0"/>
                <a:ea typeface="Droid Sans" charset="0"/>
                <a:cs typeface="Lucida Sans" charset="0"/>
              </a:rPr>
              <a:t>Explanation</a:t>
            </a:r>
            <a:endParaRPr lang="zh-CN" altLang="en-US" sz="1600" b="1" i="0" u="none" strike="noStrike" kern="0" cap="none" spc="0" baseline="0">
              <a:solidFill>
                <a:srgbClr val="234B78"/>
              </a:solidFill>
              <a:latin typeface="Times New Roman" pitchFamily="18" charset="0"/>
              <a:ea typeface="Droid Sans" charset="0"/>
              <a:cs typeface="Lucida Sans" charset="0"/>
            </a:endParaRPr>
          </a:p>
        </p:txBody>
      </p:sp>
      <p:sp>
        <p:nvSpPr>
          <p:cNvPr id="206" name="矩形"/>
          <p:cNvSpPr>
            <a:spLocks/>
          </p:cNvSpPr>
          <p:nvPr/>
        </p:nvSpPr>
        <p:spPr>
          <a:xfrm>
            <a:off x="868681" y="2298192"/>
            <a:ext cx="2834640" cy="3295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CATEGORY → BOOK</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07" name="矩形"/>
          <p:cNvSpPr>
            <a:spLocks/>
          </p:cNvSpPr>
          <p:nvPr/>
        </p:nvSpPr>
        <p:spPr>
          <a:xfrm>
            <a:off x="3886200" y="2298192"/>
            <a:ext cx="1280158"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20" b="1" i="0" u="none" strike="noStrike" kern="0" cap="none" spc="0" baseline="0">
                <a:solidFill>
                  <a:srgbClr val="B42D28"/>
                </a:solidFill>
                <a:latin typeface="Times New Roman" pitchFamily="18" charset="0"/>
                <a:ea typeface="Droid Sans" charset="0"/>
                <a:cs typeface="Lucida Sans" charset="0"/>
              </a:rPr>
              <a:t>1 : M</a:t>
            </a:r>
            <a:endParaRPr lang="zh-CN" altLang="en-US" sz="1320" b="1" i="0" u="none" strike="noStrike" kern="0" cap="none" spc="0" baseline="0">
              <a:solidFill>
                <a:srgbClr val="B42D28"/>
              </a:solidFill>
              <a:latin typeface="Times New Roman" pitchFamily="18" charset="0"/>
              <a:ea typeface="Droid Sans" charset="0"/>
              <a:cs typeface="Lucida Sans" charset="0"/>
            </a:endParaRPr>
          </a:p>
        </p:txBody>
      </p:sp>
      <p:sp>
        <p:nvSpPr>
          <p:cNvPr id="208" name="矩形"/>
          <p:cNvSpPr>
            <a:spLocks/>
          </p:cNvSpPr>
          <p:nvPr/>
        </p:nvSpPr>
        <p:spPr>
          <a:xfrm>
            <a:off x="5303521" y="2298192"/>
            <a:ext cx="5577840" cy="3295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One category can contain many books.</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09" name="矩形"/>
          <p:cNvSpPr>
            <a:spLocks/>
          </p:cNvSpPr>
          <p:nvPr/>
        </p:nvSpPr>
        <p:spPr>
          <a:xfrm>
            <a:off x="868681" y="3048000"/>
            <a:ext cx="2834640" cy="56768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MEMBER → ISSUE_TRANSACTION</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0" name="矩形"/>
          <p:cNvSpPr>
            <a:spLocks/>
          </p:cNvSpPr>
          <p:nvPr/>
        </p:nvSpPr>
        <p:spPr>
          <a:xfrm>
            <a:off x="3886200" y="3048000"/>
            <a:ext cx="1280158"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20" b="1" i="0" u="none" strike="noStrike" kern="0" cap="none" spc="0" baseline="0">
                <a:solidFill>
                  <a:srgbClr val="B42D28"/>
                </a:solidFill>
                <a:latin typeface="Times New Roman" pitchFamily="18" charset="0"/>
                <a:ea typeface="Droid Sans" charset="0"/>
                <a:cs typeface="Lucida Sans" charset="0"/>
              </a:rPr>
              <a:t>1 : M</a:t>
            </a:r>
            <a:endParaRPr lang="zh-CN" altLang="en-US" sz="1320" b="1" i="0" u="none" strike="noStrike" kern="0" cap="none" spc="0" baseline="0">
              <a:solidFill>
                <a:srgbClr val="B42D28"/>
              </a:solidFill>
              <a:latin typeface="Times New Roman" pitchFamily="18" charset="0"/>
              <a:ea typeface="Droid Sans" charset="0"/>
              <a:cs typeface="Lucida Sans" charset="0"/>
            </a:endParaRPr>
          </a:p>
        </p:txBody>
      </p:sp>
      <p:sp>
        <p:nvSpPr>
          <p:cNvPr id="211" name="矩形"/>
          <p:cNvSpPr>
            <a:spLocks/>
          </p:cNvSpPr>
          <p:nvPr/>
        </p:nvSpPr>
        <p:spPr>
          <a:xfrm>
            <a:off x="5303521" y="3048000"/>
            <a:ext cx="5577840" cy="3295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One member can have many transactions.</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2" name="矩形"/>
          <p:cNvSpPr>
            <a:spLocks/>
          </p:cNvSpPr>
          <p:nvPr/>
        </p:nvSpPr>
        <p:spPr>
          <a:xfrm>
            <a:off x="868681" y="3797807"/>
            <a:ext cx="2834640" cy="5676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BOOK → ISSUE_TRANSACTION</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3" name="矩形"/>
          <p:cNvSpPr>
            <a:spLocks/>
          </p:cNvSpPr>
          <p:nvPr/>
        </p:nvSpPr>
        <p:spPr>
          <a:xfrm>
            <a:off x="3886200" y="3797807"/>
            <a:ext cx="1280158"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20" b="1" i="0" u="none" strike="noStrike" kern="0" cap="none" spc="0" baseline="0">
                <a:solidFill>
                  <a:srgbClr val="B42D28"/>
                </a:solidFill>
                <a:latin typeface="Times New Roman" pitchFamily="18" charset="0"/>
                <a:ea typeface="Droid Sans" charset="0"/>
                <a:cs typeface="Lucida Sans" charset="0"/>
              </a:rPr>
              <a:t>1 : M</a:t>
            </a:r>
            <a:endParaRPr lang="zh-CN" altLang="en-US" sz="1320" b="1" i="0" u="none" strike="noStrike" kern="0" cap="none" spc="0" baseline="0">
              <a:solidFill>
                <a:srgbClr val="B42D28"/>
              </a:solidFill>
              <a:latin typeface="Times New Roman" pitchFamily="18" charset="0"/>
              <a:ea typeface="Droid Sans" charset="0"/>
              <a:cs typeface="Lucida Sans" charset="0"/>
            </a:endParaRPr>
          </a:p>
        </p:txBody>
      </p:sp>
      <p:sp>
        <p:nvSpPr>
          <p:cNvPr id="214" name="矩形"/>
          <p:cNvSpPr>
            <a:spLocks/>
          </p:cNvSpPr>
          <p:nvPr/>
        </p:nvSpPr>
        <p:spPr>
          <a:xfrm>
            <a:off x="5303521" y="3721381"/>
            <a:ext cx="4480558" cy="5676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One book can appear in many transactions over time.</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5" name="矩形"/>
          <p:cNvSpPr>
            <a:spLocks/>
          </p:cNvSpPr>
          <p:nvPr/>
        </p:nvSpPr>
        <p:spPr>
          <a:xfrm>
            <a:off x="868681" y="4547616"/>
            <a:ext cx="2834640" cy="5676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LIBRARIAN → ISSUE_TRANSACTION</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6" name="矩形"/>
          <p:cNvSpPr>
            <a:spLocks/>
          </p:cNvSpPr>
          <p:nvPr/>
        </p:nvSpPr>
        <p:spPr>
          <a:xfrm>
            <a:off x="3886200" y="4547616"/>
            <a:ext cx="1280158" cy="3009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20" b="1" i="0" u="none" strike="noStrike" kern="0" cap="none" spc="0" baseline="0">
                <a:solidFill>
                  <a:srgbClr val="B42D28"/>
                </a:solidFill>
                <a:latin typeface="Times New Roman" pitchFamily="18" charset="0"/>
                <a:ea typeface="Droid Sans" charset="0"/>
                <a:cs typeface="Lucida Sans" charset="0"/>
              </a:rPr>
              <a:t>1 : M</a:t>
            </a:r>
            <a:endParaRPr lang="zh-CN" altLang="en-US" sz="1320" b="1" i="0" u="none" strike="noStrike" kern="0" cap="none" spc="0" baseline="0">
              <a:solidFill>
                <a:srgbClr val="B42D28"/>
              </a:solidFill>
              <a:latin typeface="Times New Roman" pitchFamily="18" charset="0"/>
              <a:ea typeface="Droid Sans" charset="0"/>
              <a:cs typeface="Lucida Sans" charset="0"/>
            </a:endParaRPr>
          </a:p>
        </p:txBody>
      </p:sp>
      <p:sp>
        <p:nvSpPr>
          <p:cNvPr id="217" name="矩形"/>
          <p:cNvSpPr>
            <a:spLocks/>
          </p:cNvSpPr>
          <p:nvPr/>
        </p:nvSpPr>
        <p:spPr>
          <a:xfrm>
            <a:off x="5303521" y="4547616"/>
            <a:ext cx="5577840" cy="3295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One librarian can manage many transactions.</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8" name="矩形"/>
          <p:cNvSpPr>
            <a:spLocks/>
          </p:cNvSpPr>
          <p:nvPr/>
        </p:nvSpPr>
        <p:spPr>
          <a:xfrm>
            <a:off x="868681" y="5297424"/>
            <a:ext cx="2834640" cy="3295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AUTHOR ↔ BOOK</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19" name="矩形"/>
          <p:cNvSpPr>
            <a:spLocks/>
          </p:cNvSpPr>
          <p:nvPr/>
        </p:nvSpPr>
        <p:spPr>
          <a:xfrm>
            <a:off x="3886200" y="5297424"/>
            <a:ext cx="1280158" cy="3009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320" b="1" i="0" u="none" strike="noStrike" kern="0" cap="none" spc="0" baseline="0">
                <a:solidFill>
                  <a:srgbClr val="B42D28"/>
                </a:solidFill>
                <a:latin typeface="Times New Roman" pitchFamily="18" charset="0"/>
                <a:ea typeface="Droid Sans" charset="0"/>
                <a:cs typeface="Lucida Sans" charset="0"/>
              </a:rPr>
              <a:t>M : N</a:t>
            </a:r>
            <a:endParaRPr lang="zh-CN" altLang="en-US" sz="1320" b="1" i="0" u="none" strike="noStrike" kern="0" cap="none" spc="0" baseline="0">
              <a:solidFill>
                <a:srgbClr val="B42D28"/>
              </a:solidFill>
              <a:latin typeface="Times New Roman" pitchFamily="18" charset="0"/>
              <a:ea typeface="Droid Sans" charset="0"/>
              <a:cs typeface="Lucida Sans" charset="0"/>
            </a:endParaRPr>
          </a:p>
        </p:txBody>
      </p:sp>
      <p:sp>
        <p:nvSpPr>
          <p:cNvPr id="220" name="矩形"/>
          <p:cNvSpPr>
            <a:spLocks/>
          </p:cNvSpPr>
          <p:nvPr/>
        </p:nvSpPr>
        <p:spPr>
          <a:xfrm>
            <a:off x="5303521" y="5297424"/>
            <a:ext cx="3886197" cy="5676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One author can write many books, and one book can have multiple authors.</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
        <p:nvSpPr>
          <p:cNvPr id="221" name="矩形"/>
          <p:cNvSpPr>
            <a:spLocks/>
          </p:cNvSpPr>
          <p:nvPr/>
        </p:nvSpPr>
        <p:spPr>
          <a:xfrm>
            <a:off x="868681" y="5913120"/>
            <a:ext cx="4937760" cy="3009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400" b="1" i="0" u="none" strike="noStrike" kern="0" cap="none" spc="0" baseline="0">
                <a:solidFill>
                  <a:srgbClr val="234B78"/>
                </a:solidFill>
                <a:latin typeface="Times New Roman" pitchFamily="18" charset="0"/>
                <a:ea typeface="Droid Sans" charset="0"/>
                <a:cs typeface="Lucida Sans" charset="0"/>
              </a:rPr>
              <a:t>M:N Relationship</a:t>
            </a:r>
            <a:endParaRPr lang="zh-CN" altLang="en-US" sz="1400" b="1" i="0" u="none" strike="noStrike" kern="0" cap="none" spc="0" baseline="0">
              <a:solidFill>
                <a:srgbClr val="234B78"/>
              </a:solidFill>
              <a:latin typeface="Times New Roman" pitchFamily="18" charset="0"/>
              <a:ea typeface="Droid Sans" charset="0"/>
              <a:cs typeface="Lucida Sans" charset="0"/>
            </a:endParaRPr>
          </a:p>
        </p:txBody>
      </p:sp>
      <p:sp>
        <p:nvSpPr>
          <p:cNvPr id="222" name="矩形"/>
          <p:cNvSpPr>
            <a:spLocks/>
          </p:cNvSpPr>
          <p:nvPr/>
        </p:nvSpPr>
        <p:spPr>
          <a:xfrm>
            <a:off x="868680" y="6261261"/>
            <a:ext cx="7360919" cy="3295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600" b="0" i="0" u="none" strike="noStrike" kern="0" cap="none" spc="0" baseline="0">
                <a:solidFill>
                  <a:srgbClr val="141414"/>
                </a:solidFill>
                <a:latin typeface="Times New Roman" pitchFamily="18" charset="0"/>
                <a:ea typeface="Droid Sans" charset="0"/>
                <a:cs typeface="Lucida Sans" charset="0"/>
              </a:rPr>
              <a:t>The BOOK_AUTHOR entity is used to resolve the many-to-many relationship.</a:t>
            </a:r>
            <a:endParaRPr lang="zh-CN" altLang="en-US" sz="1600" b="0" i="0" u="none" strike="noStrike" kern="0" cap="none" spc="0" baseline="0">
              <a:solidFill>
                <a:srgbClr val="141414"/>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1743064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0" name="组合"/>
          <p:cNvGrpSpPr>
            <a:grpSpLocks/>
          </p:cNvGrpSpPr>
          <p:nvPr/>
        </p:nvGrpSpPr>
        <p:grpSpPr>
          <a:xfrm>
            <a:off x="2743200" y="204311"/>
            <a:ext cx="5103903" cy="1198311"/>
            <a:chOff x="2743200" y="204311"/>
            <a:chExt cx="5103903" cy="1198311"/>
          </a:xfrm>
        </p:grpSpPr>
        <p:pic>
          <p:nvPicPr>
            <p:cNvPr id="226" name="图片"/>
            <p:cNvPicPr>
              <a:picLocks/>
            </p:cNvPicPr>
            <p:nvPr/>
          </p:nvPicPr>
          <p:blipFill>
            <a:blip r:embed="rId3" cstate="print"/>
            <a:stretch>
              <a:fillRect/>
            </a:stretch>
          </p:blipFill>
          <p:spPr>
            <a:xfrm>
              <a:off x="2743200" y="204311"/>
              <a:ext cx="5103903" cy="1198311"/>
            </a:xfrm>
            <a:prstGeom prst="rect">
              <a:avLst/>
            </a:prstGeom>
            <a:noFill/>
            <a:ln w="12700" cap="flat" cmpd="sng">
              <a:noFill/>
              <a:prstDash val="solid"/>
              <a:miter/>
            </a:ln>
          </p:spPr>
        </p:pic>
        <p:pic>
          <p:nvPicPr>
            <p:cNvPr id="227" name="图片"/>
            <p:cNvPicPr>
              <a:picLocks/>
            </p:cNvPicPr>
            <p:nvPr/>
          </p:nvPicPr>
          <p:blipFill>
            <a:blip r:embed="rId4" cstate="print"/>
            <a:stretch>
              <a:fillRect/>
            </a:stretch>
          </p:blipFill>
          <p:spPr>
            <a:xfrm>
              <a:off x="2798207" y="243601"/>
              <a:ext cx="4997767" cy="1092278"/>
            </a:xfrm>
            <a:prstGeom prst="rect">
              <a:avLst/>
            </a:prstGeom>
            <a:noFill/>
            <a:ln w="12700" cap="flat" cmpd="sng">
              <a:noFill/>
              <a:prstDash val="solid"/>
              <a:miter/>
            </a:ln>
          </p:spPr>
        </p:pic>
        <p:pic>
          <p:nvPicPr>
            <p:cNvPr id="228" name="图片"/>
            <p:cNvPicPr>
              <a:picLocks/>
            </p:cNvPicPr>
            <p:nvPr/>
          </p:nvPicPr>
          <p:blipFill>
            <a:blip r:embed="rId5" cstate="print"/>
            <a:stretch>
              <a:fillRect/>
            </a:stretch>
          </p:blipFill>
          <p:spPr>
            <a:xfrm>
              <a:off x="2923937" y="400712"/>
              <a:ext cx="4585268" cy="522565"/>
            </a:xfrm>
            <a:prstGeom prst="rect">
              <a:avLst/>
            </a:prstGeom>
            <a:noFill/>
            <a:ln w="12700" cap="flat" cmpd="sng">
              <a:noFill/>
              <a:prstDash val="solid"/>
              <a:miter/>
            </a:ln>
          </p:spPr>
        </p:pic>
        <p:sp>
          <p:nvSpPr>
            <p:cNvPr id="229" name="曲线"/>
            <p:cNvSpPr>
              <a:spLocks/>
            </p:cNvSpPr>
            <p:nvPr/>
          </p:nvSpPr>
          <p:spPr>
            <a:xfrm>
              <a:off x="2978943" y="440055"/>
              <a:ext cx="4479290" cy="416559"/>
            </a:xfrm>
            <a:custGeom>
              <a:avLst/>
              <a:gdLst>
                <a:gd name="T1" fmla="*/ 0 w 21600"/>
                <a:gd name="T2" fmla="*/ 0 h 21600"/>
                <a:gd name="T3" fmla="*/ 21600 w 21600"/>
                <a:gd name="T4" fmla="*/ 21600 h 21600"/>
              </a:gdLst>
              <a:ahLst/>
              <a:cxnLst/>
              <a:rect l="T1" t="T2" r="T3" b="T4"/>
              <a:pathLst>
                <a:path w="21600" h="21600">
                  <a:moveTo>
                    <a:pt x="21188" y="0"/>
                  </a:moveTo>
                  <a:lnTo>
                    <a:pt x="409" y="0"/>
                  </a:lnTo>
                  <a:lnTo>
                    <a:pt x="250" y="281"/>
                  </a:lnTo>
                  <a:lnTo>
                    <a:pt x="118" y="1052"/>
                  </a:lnTo>
                  <a:lnTo>
                    <a:pt x="32" y="2194"/>
                  </a:lnTo>
                  <a:lnTo>
                    <a:pt x="0" y="3596"/>
                  </a:lnTo>
                  <a:lnTo>
                    <a:pt x="0" y="17987"/>
                  </a:lnTo>
                  <a:lnTo>
                    <a:pt x="32" y="19390"/>
                  </a:lnTo>
                  <a:lnTo>
                    <a:pt x="118" y="20531"/>
                  </a:lnTo>
                  <a:lnTo>
                    <a:pt x="250" y="21302"/>
                  </a:lnTo>
                  <a:lnTo>
                    <a:pt x="409" y="21584"/>
                  </a:lnTo>
                  <a:lnTo>
                    <a:pt x="21188" y="21584"/>
                  </a:lnTo>
                  <a:lnTo>
                    <a:pt x="21349" y="21302"/>
                  </a:lnTo>
                  <a:lnTo>
                    <a:pt x="21479" y="20531"/>
                  </a:lnTo>
                  <a:lnTo>
                    <a:pt x="21566" y="19390"/>
                  </a:lnTo>
                  <a:lnTo>
                    <a:pt x="21599" y="17987"/>
                  </a:lnTo>
                  <a:lnTo>
                    <a:pt x="21599" y="3596"/>
                  </a:lnTo>
                  <a:lnTo>
                    <a:pt x="21566" y="2194"/>
                  </a:lnTo>
                  <a:lnTo>
                    <a:pt x="21479" y="1052"/>
                  </a:lnTo>
                  <a:lnTo>
                    <a:pt x="21349" y="281"/>
                  </a:lnTo>
                  <a:lnTo>
                    <a:pt x="21188" y="0"/>
                  </a:lnTo>
                  <a:close/>
                </a:path>
              </a:pathLst>
            </a:custGeom>
            <a:solidFill>
              <a:srgbClr val="FF6600"/>
            </a:solidFill>
            <a:ln cap="flat" cmpd="sng">
              <a:noFill/>
              <a:prstDash val="solid"/>
              <a:miter/>
            </a:ln>
          </p:spPr>
        </p:sp>
      </p:grpSp>
      <p:sp>
        <p:nvSpPr>
          <p:cNvPr id="231" name="文本框"/>
          <p:cNvSpPr>
            <a:spLocks noGrp="1"/>
          </p:cNvSpPr>
          <p:nvPr>
            <p:ph type="title"/>
          </p:nvPr>
        </p:nvSpPr>
        <p:spPr>
          <a:xfrm>
            <a:off x="3156940" y="449173"/>
            <a:ext cx="4660427" cy="686085"/>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400" b="1" dirty="0">
                <a:solidFill>
                  <a:srgbClr val="FFFFFF"/>
                </a:solidFill>
                <a:latin typeface="Times New Roman" pitchFamily="18" charset="0"/>
                <a:cs typeface="Palatino Linotype" charset="0"/>
              </a:rPr>
              <a:t>           </a:t>
            </a:r>
            <a:r>
              <a:rPr lang="en-US" altLang="zh-CN" sz="2400" b="1" i="0" u="none" strike="noStrike" kern="0" cap="none" spc="0" baseline="0" dirty="0">
                <a:solidFill>
                  <a:srgbClr val="FFFFFF"/>
                </a:solidFill>
                <a:latin typeface="Times New Roman" pitchFamily="18" charset="0"/>
                <a:ea typeface="宋体" charset="0"/>
                <a:cs typeface="Palatino Linotype" charset="0"/>
              </a:rPr>
              <a:t>ER</a:t>
            </a:r>
            <a:r>
              <a:rPr lang="en-US" altLang="zh-CN" sz="2000" b="1" i="0" u="none" strike="noStrike" kern="0" cap="none" spc="0" baseline="0" dirty="0">
                <a:solidFill>
                  <a:srgbClr val="FFFFFF"/>
                </a:solidFill>
                <a:latin typeface="Times New Roman" pitchFamily="18" charset="0"/>
                <a:ea typeface="宋体" charset="0"/>
                <a:cs typeface="Palatino Linotype" charset="0"/>
              </a:rPr>
              <a:t> </a:t>
            </a:r>
            <a:r>
              <a:rPr lang="en-US" altLang="zh-CN" sz="2400" b="1" i="0" u="none" strike="noStrike" kern="0" cap="none" spc="0" baseline="0" dirty="0">
                <a:solidFill>
                  <a:srgbClr val="FFFFFF"/>
                </a:solidFill>
                <a:latin typeface="Times New Roman" pitchFamily="18" charset="0"/>
                <a:ea typeface="宋体" charset="0"/>
                <a:cs typeface="Palatino Linotype" charset="0"/>
              </a:rPr>
              <a:t>DIAGRAM</a:t>
            </a:r>
            <a:br>
              <a:rPr lang="zh-CN" altLang="en-US" sz="2000" b="1" i="0" u="none" strike="noStrike" kern="0" cap="none" spc="0" baseline="0" dirty="0">
                <a:solidFill>
                  <a:srgbClr val="FFFFFF"/>
                </a:solidFill>
                <a:latin typeface="Times New Roman" pitchFamily="18" charset="0"/>
                <a:ea typeface="宋体" charset="0"/>
                <a:cs typeface="Palatino Linotype" charset="0"/>
              </a:rPr>
            </a:br>
            <a:endParaRPr lang="zh-CN" altLang="en-US" sz="1950"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232"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233" name="矩形"/>
          <p:cNvSpPr>
            <a:spLocks/>
          </p:cNvSpPr>
          <p:nvPr/>
        </p:nvSpPr>
        <p:spPr>
          <a:xfrm>
            <a:off x="279527" y="6765776"/>
            <a:ext cx="9052560" cy="30098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400" b="1" i="0" u="none" strike="noStrike" kern="0" cap="none" spc="0" baseline="0" dirty="0">
                <a:solidFill>
                  <a:srgbClr val="234B78"/>
                </a:solidFill>
                <a:latin typeface="Times New Roman" pitchFamily="18" charset="0"/>
                <a:ea typeface="Droid Sans" charset="0"/>
                <a:cs typeface="Lucida Sans" charset="0"/>
              </a:rPr>
              <a:t>Entities • Attributes • Primary Keys • Foreign Keys • Relationships • Cardinality</a:t>
            </a:r>
            <a:endParaRPr lang="zh-CN" altLang="en-US" sz="1400" b="1" i="0" u="none" strike="noStrike" kern="0" cap="none" spc="0" baseline="0" dirty="0">
              <a:solidFill>
                <a:srgbClr val="234B78"/>
              </a:solidFill>
              <a:latin typeface="Times New Roman" pitchFamily="18" charset="0"/>
              <a:ea typeface="Droid Sans" charset="0"/>
              <a:cs typeface="Lucida Sans" charset="0"/>
            </a:endParaRPr>
          </a:p>
        </p:txBody>
      </p:sp>
      <p:pic>
        <p:nvPicPr>
          <p:cNvPr id="4" name="Picture 3">
            <a:extLst>
              <a:ext uri="{FF2B5EF4-FFF2-40B4-BE49-F238E27FC236}">
                <a16:creationId xmlns:a16="http://schemas.microsoft.com/office/drawing/2014/main" id="{144CDD78-9767-F24A-0E0F-29697A0C2AC4}"/>
              </a:ext>
            </a:extLst>
          </p:cNvPr>
          <p:cNvPicPr>
            <a:picLocks noChangeAspect="1"/>
          </p:cNvPicPr>
          <p:nvPr/>
        </p:nvPicPr>
        <p:blipFill>
          <a:blip r:embed="rId7"/>
          <a:stretch>
            <a:fillRect/>
          </a:stretch>
        </p:blipFill>
        <p:spPr>
          <a:xfrm>
            <a:off x="1140660" y="1335879"/>
            <a:ext cx="7705070" cy="5429897"/>
          </a:xfrm>
          <a:prstGeom prst="rect">
            <a:avLst/>
          </a:prstGeom>
        </p:spPr>
      </p:pic>
    </p:spTree>
    <p:extLst>
      <p:ext uri="{BB962C8B-B14F-4D97-AF65-F5344CB8AC3E}">
        <p14:creationId xmlns:p14="http://schemas.microsoft.com/office/powerpoint/2010/main" val="2051793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B354860-2D53-5490-8F69-33E8F2AF76A8}"/>
              </a:ext>
            </a:extLst>
          </p:cNvPr>
          <p:cNvPicPr>
            <a:picLocks noChangeAspect="1"/>
          </p:cNvPicPr>
          <p:nvPr/>
        </p:nvPicPr>
        <p:blipFill>
          <a:blip r:embed="rId2"/>
          <a:srcRect l="1479" t="7701" b="13080"/>
          <a:stretch>
            <a:fillRect/>
          </a:stretch>
        </p:blipFill>
        <p:spPr>
          <a:xfrm>
            <a:off x="348550" y="1437860"/>
            <a:ext cx="9211530" cy="5184720"/>
          </a:xfrm>
          <a:prstGeom prst="rect">
            <a:avLst/>
          </a:prstGeom>
        </p:spPr>
      </p:pic>
    </p:spTree>
    <p:extLst>
      <p:ext uri="{BB962C8B-B14F-4D97-AF65-F5344CB8AC3E}">
        <p14:creationId xmlns:p14="http://schemas.microsoft.com/office/powerpoint/2010/main" val="1632985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1" name="组合"/>
          <p:cNvGrpSpPr>
            <a:grpSpLocks/>
          </p:cNvGrpSpPr>
          <p:nvPr/>
        </p:nvGrpSpPr>
        <p:grpSpPr>
          <a:xfrm>
            <a:off x="2477248" y="152400"/>
            <a:ext cx="5103901" cy="1198311"/>
            <a:chOff x="2477248" y="152400"/>
            <a:chExt cx="5103901" cy="1198311"/>
          </a:xfrm>
        </p:grpSpPr>
        <p:pic>
          <p:nvPicPr>
            <p:cNvPr id="267" name="图片"/>
            <p:cNvPicPr>
              <a:picLocks/>
            </p:cNvPicPr>
            <p:nvPr/>
          </p:nvPicPr>
          <p:blipFill>
            <a:blip r:embed="rId3" cstate="print"/>
            <a:stretch>
              <a:fillRect/>
            </a:stretch>
          </p:blipFill>
          <p:spPr>
            <a:xfrm>
              <a:off x="2477248" y="152400"/>
              <a:ext cx="5103901" cy="1198311"/>
            </a:xfrm>
            <a:prstGeom prst="rect">
              <a:avLst/>
            </a:prstGeom>
            <a:noFill/>
            <a:ln w="12700" cap="flat" cmpd="sng">
              <a:noFill/>
              <a:prstDash val="solid"/>
              <a:miter/>
            </a:ln>
          </p:spPr>
        </p:pic>
        <p:pic>
          <p:nvPicPr>
            <p:cNvPr id="268" name="图片"/>
            <p:cNvPicPr>
              <a:picLocks/>
            </p:cNvPicPr>
            <p:nvPr/>
          </p:nvPicPr>
          <p:blipFill>
            <a:blip r:embed="rId4" cstate="print"/>
            <a:stretch>
              <a:fillRect/>
            </a:stretch>
          </p:blipFill>
          <p:spPr>
            <a:xfrm>
              <a:off x="2532255" y="191691"/>
              <a:ext cx="4997767" cy="1092278"/>
            </a:xfrm>
            <a:prstGeom prst="rect">
              <a:avLst/>
            </a:prstGeom>
            <a:noFill/>
            <a:ln w="12700" cap="flat" cmpd="sng">
              <a:noFill/>
              <a:prstDash val="solid"/>
              <a:miter/>
            </a:ln>
          </p:spPr>
        </p:pic>
        <p:pic>
          <p:nvPicPr>
            <p:cNvPr id="269" name="图片"/>
            <p:cNvPicPr>
              <a:picLocks/>
            </p:cNvPicPr>
            <p:nvPr/>
          </p:nvPicPr>
          <p:blipFill>
            <a:blip r:embed="rId5" cstate="print"/>
            <a:stretch>
              <a:fillRect/>
            </a:stretch>
          </p:blipFill>
          <p:spPr>
            <a:xfrm>
              <a:off x="2657985" y="348801"/>
              <a:ext cx="4585269" cy="522564"/>
            </a:xfrm>
            <a:prstGeom prst="rect">
              <a:avLst/>
            </a:prstGeom>
            <a:noFill/>
            <a:ln w="12700" cap="flat" cmpd="sng">
              <a:noFill/>
              <a:prstDash val="solid"/>
              <a:miter/>
            </a:ln>
          </p:spPr>
        </p:pic>
        <p:sp>
          <p:nvSpPr>
            <p:cNvPr id="270" name="曲线"/>
            <p:cNvSpPr>
              <a:spLocks/>
            </p:cNvSpPr>
            <p:nvPr/>
          </p:nvSpPr>
          <p:spPr>
            <a:xfrm>
              <a:off x="2712991" y="388144"/>
              <a:ext cx="4479289" cy="416558"/>
            </a:xfrm>
            <a:custGeom>
              <a:avLst/>
              <a:gdLst>
                <a:gd name="T1" fmla="*/ 0 w 21600"/>
                <a:gd name="T2" fmla="*/ 0 h 21600"/>
                <a:gd name="T3" fmla="*/ 21600 w 21600"/>
                <a:gd name="T4" fmla="*/ 21600 h 21600"/>
              </a:gdLst>
              <a:ahLst/>
              <a:cxnLst/>
              <a:rect l="T1" t="T2" r="T3" b="T4"/>
              <a:pathLst>
                <a:path w="21600" h="21600">
                  <a:moveTo>
                    <a:pt x="21189" y="0"/>
                  </a:moveTo>
                  <a:lnTo>
                    <a:pt x="409" y="0"/>
                  </a:lnTo>
                  <a:lnTo>
                    <a:pt x="249" y="281"/>
                  </a:lnTo>
                  <a:lnTo>
                    <a:pt x="118" y="1053"/>
                  </a:lnTo>
                  <a:lnTo>
                    <a:pt x="32" y="2193"/>
                  </a:lnTo>
                  <a:lnTo>
                    <a:pt x="0" y="3595"/>
                  </a:lnTo>
                  <a:lnTo>
                    <a:pt x="0" y="17987"/>
                  </a:lnTo>
                  <a:lnTo>
                    <a:pt x="32" y="19389"/>
                  </a:lnTo>
                  <a:lnTo>
                    <a:pt x="118" y="20531"/>
                  </a:lnTo>
                  <a:lnTo>
                    <a:pt x="249" y="21302"/>
                  </a:lnTo>
                  <a:lnTo>
                    <a:pt x="409" y="21585"/>
                  </a:lnTo>
                  <a:lnTo>
                    <a:pt x="21189" y="21585"/>
                  </a:lnTo>
                  <a:lnTo>
                    <a:pt x="21349" y="21302"/>
                  </a:lnTo>
                  <a:lnTo>
                    <a:pt x="21479" y="20531"/>
                  </a:lnTo>
                  <a:lnTo>
                    <a:pt x="21566" y="19389"/>
                  </a:lnTo>
                  <a:lnTo>
                    <a:pt x="21599" y="17987"/>
                  </a:lnTo>
                  <a:lnTo>
                    <a:pt x="21599" y="3595"/>
                  </a:lnTo>
                  <a:lnTo>
                    <a:pt x="21566" y="2193"/>
                  </a:lnTo>
                  <a:lnTo>
                    <a:pt x="21479" y="1053"/>
                  </a:lnTo>
                  <a:lnTo>
                    <a:pt x="21349" y="281"/>
                  </a:lnTo>
                  <a:lnTo>
                    <a:pt x="21189" y="0"/>
                  </a:lnTo>
                  <a:close/>
                </a:path>
              </a:pathLst>
            </a:custGeom>
            <a:solidFill>
              <a:srgbClr val="FF6600"/>
            </a:solidFill>
            <a:ln cap="flat" cmpd="sng">
              <a:noFill/>
              <a:prstDash val="solid"/>
              <a:miter/>
            </a:ln>
          </p:spPr>
          <p:txBody>
            <a:bodyPr/>
            <a:lstStyle/>
            <a:p>
              <a:endParaRPr lang="en-IN" dirty="0"/>
            </a:p>
          </p:txBody>
        </p:sp>
      </p:grpSp>
      <p:sp>
        <p:nvSpPr>
          <p:cNvPr id="272" name="文本框"/>
          <p:cNvSpPr>
            <a:spLocks noGrp="1"/>
          </p:cNvSpPr>
          <p:nvPr>
            <p:ph type="title"/>
          </p:nvPr>
        </p:nvSpPr>
        <p:spPr>
          <a:xfrm>
            <a:off x="3665946" y="432520"/>
            <a:ext cx="5657683" cy="686085"/>
          </a:xfrm>
          <a:prstGeom prst="rect">
            <a:avLst/>
          </a:prstGeom>
          <a:noFill/>
          <a:ln w="12700" cap="flat" cmpd="sng">
            <a:noFill/>
            <a:prstDash val="solid"/>
            <a:miter/>
          </a:ln>
        </p:spPr>
        <p:txBody>
          <a:bodyPr vert="horz" wrap="square" lIns="0" tIns="16510" rIns="0" bIns="0" anchor="t" anchorCtr="0">
            <a:prstTxWarp prst="textNoShape">
              <a:avLst/>
            </a:prstTxWarp>
            <a:spAutoFit/>
          </a:bodyPr>
          <a:lstStyle/>
          <a:p>
            <a:pPr marL="12700" indent="0" algn="l">
              <a:lnSpc>
                <a:spcPct val="100000"/>
              </a:lnSpc>
              <a:spcBef>
                <a:spcPts val="130"/>
              </a:spcBef>
              <a:spcAft>
                <a:spcPts val="0"/>
              </a:spcAft>
              <a:buNone/>
            </a:pPr>
            <a:r>
              <a:rPr lang="en-US" altLang="zh-CN" sz="2400" b="1" i="0" u="none" strike="noStrike" kern="0" cap="none" spc="0" baseline="0" dirty="0">
                <a:solidFill>
                  <a:srgbClr val="FFFFFF"/>
                </a:solidFill>
                <a:latin typeface="Times New Roman" pitchFamily="18" charset="0"/>
                <a:ea typeface="宋体" charset="0"/>
                <a:cs typeface="Palatino Linotype" charset="0"/>
              </a:rPr>
              <a:t>   CONCLUSION</a:t>
            </a:r>
            <a:br>
              <a:rPr lang="zh-CN" altLang="en-US" sz="2000" b="1" i="0" u="none" strike="noStrike" kern="0" cap="none" spc="0" baseline="0" dirty="0">
                <a:solidFill>
                  <a:srgbClr val="FFFFFF"/>
                </a:solidFill>
                <a:latin typeface="Times New Roman" pitchFamily="18" charset="0"/>
                <a:ea typeface="宋体" charset="0"/>
                <a:cs typeface="Palatino Linotype" charset="0"/>
              </a:rPr>
            </a:br>
            <a:endParaRPr lang="zh-CN" altLang="en-US" sz="1950" b="1" i="0" u="none" strike="noStrike" kern="0" cap="none" spc="0" baseline="0" dirty="0">
              <a:solidFill>
                <a:schemeClr val="bg1"/>
              </a:solidFill>
              <a:latin typeface="Times New Roman" pitchFamily="18" charset="0"/>
              <a:ea typeface="宋体" charset="0"/>
              <a:cs typeface="Times New Roman" pitchFamily="18" charset="0"/>
            </a:endParaRPr>
          </a:p>
        </p:txBody>
      </p:sp>
      <p:pic>
        <p:nvPicPr>
          <p:cNvPr id="273" name="图片"/>
          <p:cNvPicPr>
            <a:picLocks/>
          </p:cNvPicPr>
          <p:nvPr/>
        </p:nvPicPr>
        <p:blipFill>
          <a:blip r:embed="rId6" cstate="print"/>
          <a:stretch>
            <a:fillRect/>
          </a:stretch>
        </p:blipFill>
        <p:spPr>
          <a:xfrm>
            <a:off x="290750" y="204311"/>
            <a:ext cx="1163002" cy="424338"/>
          </a:xfrm>
          <a:prstGeom prst="rect">
            <a:avLst/>
          </a:prstGeom>
          <a:noFill/>
          <a:ln w="12700" cap="flat" cmpd="sng">
            <a:noFill/>
            <a:prstDash val="solid"/>
            <a:miter/>
          </a:ln>
        </p:spPr>
      </p:pic>
      <p:sp>
        <p:nvSpPr>
          <p:cNvPr id="274" name="矩形"/>
          <p:cNvSpPr>
            <a:spLocks/>
          </p:cNvSpPr>
          <p:nvPr/>
        </p:nvSpPr>
        <p:spPr>
          <a:xfrm>
            <a:off x="-152400" y="1143000"/>
            <a:ext cx="1021080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The proposed Library Management System provides an organized database solution for managing library operations.</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
        <p:nvSpPr>
          <p:cNvPr id="275" name="矩形"/>
          <p:cNvSpPr>
            <a:spLocks/>
          </p:cNvSpPr>
          <p:nvPr/>
        </p:nvSpPr>
        <p:spPr>
          <a:xfrm>
            <a:off x="2657985" y="1974177"/>
            <a:ext cx="6309359" cy="256993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Manage book and member records</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Track book availability</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Manage issue and return transactions</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Reduce manual work</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Improve data accuracy</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Retrieve information quickly</a:t>
            </a:r>
          </a:p>
          <a:p>
            <a:pPr marL="0" indent="0" algn="l">
              <a:lnSpc>
                <a:spcPct val="100000"/>
              </a:lnSpc>
              <a:spcBef>
                <a:spcPts val="0"/>
              </a:spcBef>
              <a:spcAft>
                <a:spcPts val="700"/>
              </a:spcAft>
              <a:buNone/>
            </a:pPr>
            <a:r>
              <a:rPr lang="en-US" altLang="zh-CN" sz="1800" b="0" i="0" u="none" strike="noStrike" kern="0" cap="none" spc="0" baseline="0" dirty="0">
                <a:solidFill>
                  <a:schemeClr val="tx1"/>
                </a:solidFill>
                <a:latin typeface="Droid Sans" charset="0"/>
                <a:ea typeface="Droid Sans" charset="0"/>
                <a:cs typeface="Lucida Sans" charset="0"/>
              </a:rPr>
              <a:t>• Maintain relationships between data</a:t>
            </a:r>
            <a:endParaRPr lang="zh-CN" altLang="en-US" sz="1800" b="0" i="0" u="none" strike="noStrike" kern="0" cap="none" spc="0" baseline="0" dirty="0">
              <a:solidFill>
                <a:schemeClr val="tx1"/>
              </a:solidFill>
              <a:latin typeface="Droid Sans" charset="0"/>
              <a:ea typeface="Droid Sans" charset="0"/>
              <a:cs typeface="Lucida Sans" charset="0"/>
            </a:endParaRPr>
          </a:p>
        </p:txBody>
      </p:sp>
      <p:sp>
        <p:nvSpPr>
          <p:cNvPr id="276" name="圆角矩形"/>
          <p:cNvSpPr>
            <a:spLocks/>
          </p:cNvSpPr>
          <p:nvPr/>
        </p:nvSpPr>
        <p:spPr>
          <a:xfrm>
            <a:off x="1068650" y="5539740"/>
            <a:ext cx="7877230" cy="624840"/>
          </a:xfrm>
          <a:prstGeom prst="roundRect">
            <a:avLst>
              <a:gd name="adj" fmla="val 16666"/>
            </a:avLst>
          </a:prstGeom>
          <a:solidFill>
            <a:srgbClr val="F5F6F7"/>
          </a:solidFill>
          <a:ln w="12700" cap="flat" cmpd="sng">
            <a:solidFill>
              <a:srgbClr val="AAB4BC"/>
            </a:solidFill>
            <a:prstDash val="solid"/>
            <a:round/>
          </a:ln>
          <a:effectLst>
            <a:outerShdw blurRad="40000" dist="23000" dir="5400000" rotWithShape="0">
              <a:srgbClr val="000000">
                <a:alpha val="34509"/>
              </a:srgbClr>
            </a:outerShdw>
          </a:effectLst>
        </p:spPr>
      </p:sp>
      <p:sp>
        <p:nvSpPr>
          <p:cNvPr id="277" name="矩形"/>
          <p:cNvSpPr>
            <a:spLocks/>
          </p:cNvSpPr>
          <p:nvPr/>
        </p:nvSpPr>
        <p:spPr>
          <a:xfrm>
            <a:off x="492570" y="4918175"/>
            <a:ext cx="8178990" cy="36933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1" i="0" u="none" strike="noStrike" kern="0" cap="none" spc="0" baseline="0" dirty="0">
                <a:solidFill>
                  <a:srgbClr val="234B78"/>
                </a:solidFill>
                <a:latin typeface="Times New Roman" pitchFamily="18" charset="0"/>
                <a:ea typeface="Droid Sans" charset="0"/>
                <a:cs typeface="Lucida Sans" charset="0"/>
              </a:rPr>
              <a:t>FINAL STATEMENT</a:t>
            </a:r>
            <a:endParaRPr lang="zh-CN" altLang="en-US" sz="1800" b="1" i="0" u="none" strike="noStrike" kern="0" cap="none" spc="0" baseline="0" dirty="0">
              <a:solidFill>
                <a:srgbClr val="234B78"/>
              </a:solidFill>
              <a:latin typeface="Times New Roman" pitchFamily="18" charset="0"/>
              <a:ea typeface="Droid Sans" charset="0"/>
              <a:cs typeface="Lucida Sans" charset="0"/>
            </a:endParaRPr>
          </a:p>
        </p:txBody>
      </p:sp>
      <p:sp>
        <p:nvSpPr>
          <p:cNvPr id="278" name="矩形"/>
          <p:cNvSpPr>
            <a:spLocks/>
          </p:cNvSpPr>
          <p:nvPr/>
        </p:nvSpPr>
        <p:spPr>
          <a:xfrm>
            <a:off x="1068651" y="5539739"/>
            <a:ext cx="792110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1800" b="0" i="0" u="none" strike="noStrike" kern="0" cap="none" spc="0" baseline="0" dirty="0">
                <a:solidFill>
                  <a:srgbClr val="141414"/>
                </a:solidFill>
                <a:latin typeface="Times New Roman" pitchFamily="18" charset="0"/>
                <a:ea typeface="Droid Sans" charset="0"/>
                <a:cs typeface="Lucida Sans" charset="0"/>
              </a:rPr>
              <a:t>“The system transforms library data into a structured, connected, and easily manageable database.”</a:t>
            </a:r>
            <a:endParaRPr lang="zh-CN" altLang="en-US" sz="1800" b="0" i="0" u="none" strike="noStrike" kern="0" cap="none" spc="0" baseline="0" dirty="0">
              <a:solidFill>
                <a:srgbClr val="141414"/>
              </a:solidFill>
              <a:latin typeface="Times New Roman" pitchFamily="18" charset="0"/>
              <a:ea typeface="Droid Sans" charset="0"/>
              <a:cs typeface="Lucida Sans" charset="0"/>
            </a:endParaRPr>
          </a:p>
        </p:txBody>
      </p:sp>
    </p:spTree>
    <p:extLst>
      <p:ext uri="{BB962C8B-B14F-4D97-AF65-F5344CB8AC3E}">
        <p14:creationId xmlns:p14="http://schemas.microsoft.com/office/powerpoint/2010/main" val="114775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7" name="文本框"/>
          <p:cNvSpPr>
            <a:spLocks noGrp="1"/>
          </p:cNvSpPr>
          <p:nvPr>
            <p:ph type="ctrTitle"/>
          </p:nvPr>
        </p:nvSpPr>
        <p:spPr>
          <a:xfrm>
            <a:off x="2220810" y="2878059"/>
            <a:ext cx="6408890" cy="127233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a:lnSpc>
                <a:spcPct val="100000"/>
              </a:lnSpc>
              <a:spcBef>
                <a:spcPts val="0"/>
              </a:spcBef>
              <a:spcAft>
                <a:spcPts val="0"/>
              </a:spcAft>
              <a:buNone/>
            </a:pPr>
            <a:r>
              <a:rPr lang="en-US" altLang="zh-CN" sz="7200" b="1" i="0" u="none" strike="noStrike" kern="0" cap="none" spc="0" baseline="0">
                <a:solidFill>
                  <a:srgbClr val="E46D0A"/>
                </a:solidFill>
                <a:latin typeface="Palatino Linotype" charset="0"/>
                <a:ea typeface="宋体" charset="0"/>
                <a:cs typeface="Palatino Linotype" charset="0"/>
              </a:rPr>
              <a:t>THANK YOU</a:t>
            </a:r>
            <a:endParaRPr lang="zh-CN" altLang="en-US" sz="7200" b="1" i="0" u="none" strike="noStrike" kern="0" cap="none" spc="0" baseline="0">
              <a:solidFill>
                <a:srgbClr val="E46D0A"/>
              </a:solidFill>
              <a:latin typeface="Palatino Linotype" charset="0"/>
              <a:ea typeface="宋体" charset="0"/>
              <a:cs typeface="Palatino Linotype" charset="0"/>
            </a:endParaRPr>
          </a:p>
        </p:txBody>
      </p:sp>
      <p:pic>
        <p:nvPicPr>
          <p:cNvPr id="288" name="图片"/>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spTree>
    <p:extLst>
      <p:ext uri="{BB962C8B-B14F-4D97-AF65-F5344CB8AC3E}">
        <p14:creationId xmlns:p14="http://schemas.microsoft.com/office/powerpoint/2010/main" val="1871397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3329B0-3B8C-23F7-F378-43B6E163D9A8}"/>
              </a:ext>
            </a:extLst>
          </p:cNvPr>
          <p:cNvSpPr txBox="1"/>
          <p:nvPr/>
        </p:nvSpPr>
        <p:spPr>
          <a:xfrm>
            <a:off x="1068650" y="1293840"/>
            <a:ext cx="8065120" cy="646331"/>
          </a:xfrm>
          <a:prstGeom prst="rect">
            <a:avLst/>
          </a:prstGeom>
          <a:noFill/>
        </p:spPr>
        <p:txBody>
          <a:bodyPr wrap="square" rtlCol="0">
            <a:spAutoFit/>
          </a:bodyPr>
          <a:lstStyle/>
          <a:p>
            <a:r>
              <a:rPr lang="en-US" sz="3600" b="1" dirty="0"/>
              <a:t>  </a:t>
            </a:r>
            <a:r>
              <a:rPr lang="en-US" sz="3600" b="1" dirty="0">
                <a:solidFill>
                  <a:srgbClr val="FF0000"/>
                </a:solidFill>
              </a:rPr>
              <a:t>LIBRARY MANAGEMENT SYSTEM</a:t>
            </a:r>
            <a:endParaRPr lang="en-IN" sz="3600" b="1" dirty="0">
              <a:solidFill>
                <a:srgbClr val="FF0000"/>
              </a:solidFill>
            </a:endParaRPr>
          </a:p>
        </p:txBody>
      </p:sp>
      <p:sp>
        <p:nvSpPr>
          <p:cNvPr id="3" name="TextBox 2">
            <a:extLst>
              <a:ext uri="{FF2B5EF4-FFF2-40B4-BE49-F238E27FC236}">
                <a16:creationId xmlns:a16="http://schemas.microsoft.com/office/drawing/2014/main" id="{8DF9A2A2-E7C2-70D4-ABDC-333A6DFE3551}"/>
              </a:ext>
            </a:extLst>
          </p:cNvPr>
          <p:cNvSpPr txBox="1"/>
          <p:nvPr/>
        </p:nvSpPr>
        <p:spPr>
          <a:xfrm flipH="1">
            <a:off x="4021059" y="2301980"/>
            <a:ext cx="3672509" cy="461665"/>
          </a:xfrm>
          <a:prstGeom prst="rect">
            <a:avLst/>
          </a:prstGeom>
          <a:noFill/>
        </p:spPr>
        <p:txBody>
          <a:bodyPr wrap="square" rtlCol="0">
            <a:spAutoFit/>
          </a:bodyPr>
          <a:lstStyle/>
          <a:p>
            <a:r>
              <a:rPr lang="en-US" b="1" dirty="0">
                <a:solidFill>
                  <a:srgbClr val="7030A0"/>
                </a:solidFill>
              </a:rPr>
              <a:t>REVIEW - 2</a:t>
            </a:r>
            <a:endParaRPr lang="en-IN" b="1" dirty="0">
              <a:solidFill>
                <a:srgbClr val="7030A0"/>
              </a:solidFill>
            </a:endParaRPr>
          </a:p>
        </p:txBody>
      </p:sp>
      <p:sp>
        <p:nvSpPr>
          <p:cNvPr id="4" name="TextBox 3">
            <a:extLst>
              <a:ext uri="{FF2B5EF4-FFF2-40B4-BE49-F238E27FC236}">
                <a16:creationId xmlns:a16="http://schemas.microsoft.com/office/drawing/2014/main" id="{4AC4DCB1-BCFB-3E09-4BA6-C4E0DAE03A26}"/>
              </a:ext>
            </a:extLst>
          </p:cNvPr>
          <p:cNvSpPr txBox="1"/>
          <p:nvPr/>
        </p:nvSpPr>
        <p:spPr>
          <a:xfrm>
            <a:off x="1716740" y="2950070"/>
            <a:ext cx="7273010" cy="584775"/>
          </a:xfrm>
          <a:prstGeom prst="rect">
            <a:avLst/>
          </a:prstGeom>
          <a:noFill/>
        </p:spPr>
        <p:txBody>
          <a:bodyPr wrap="square" rtlCol="0">
            <a:spAutoFit/>
          </a:bodyPr>
          <a:lstStyle/>
          <a:p>
            <a:r>
              <a:rPr lang="en-US" sz="3200" dirty="0">
                <a:solidFill>
                  <a:srgbClr val="00B050"/>
                </a:solidFill>
              </a:rPr>
              <a:t>  </a:t>
            </a:r>
            <a:r>
              <a:rPr lang="en-US" sz="3200" b="1" dirty="0">
                <a:solidFill>
                  <a:srgbClr val="00B050"/>
                </a:solidFill>
              </a:rPr>
              <a:t>Database implementation &amp; SQL</a:t>
            </a:r>
            <a:endParaRPr lang="en-IN" sz="3200" b="1" dirty="0">
              <a:solidFill>
                <a:srgbClr val="00B050"/>
              </a:solidFill>
            </a:endParaRPr>
          </a:p>
        </p:txBody>
      </p:sp>
      <p:sp>
        <p:nvSpPr>
          <p:cNvPr id="5" name="TextBox 4">
            <a:extLst>
              <a:ext uri="{FF2B5EF4-FFF2-40B4-BE49-F238E27FC236}">
                <a16:creationId xmlns:a16="http://schemas.microsoft.com/office/drawing/2014/main" id="{23169CE6-BB72-0B6B-1F49-2E6329DD1B07}"/>
              </a:ext>
            </a:extLst>
          </p:cNvPr>
          <p:cNvSpPr txBox="1"/>
          <p:nvPr/>
        </p:nvSpPr>
        <p:spPr>
          <a:xfrm>
            <a:off x="5245230" y="5398410"/>
            <a:ext cx="4608640" cy="1569660"/>
          </a:xfrm>
          <a:prstGeom prst="rect">
            <a:avLst/>
          </a:prstGeom>
          <a:noFill/>
        </p:spPr>
        <p:txBody>
          <a:bodyPr wrap="square" rtlCol="0">
            <a:spAutoFit/>
          </a:bodyPr>
          <a:lstStyle/>
          <a:p>
            <a:r>
              <a:rPr lang="en-US" dirty="0">
                <a:solidFill>
                  <a:srgbClr val="0070C0"/>
                </a:solidFill>
              </a:rPr>
              <a:t>B. Sirisha             25B11CS111</a:t>
            </a:r>
          </a:p>
          <a:p>
            <a:r>
              <a:rPr lang="en-US" dirty="0">
                <a:solidFill>
                  <a:srgbClr val="0070C0"/>
                </a:solidFill>
              </a:rPr>
              <a:t>G. Manasa           25B11CS271</a:t>
            </a:r>
          </a:p>
          <a:p>
            <a:r>
              <a:rPr lang="en-US" dirty="0">
                <a:solidFill>
                  <a:srgbClr val="0070C0"/>
                </a:solidFill>
              </a:rPr>
              <a:t>G. Pujitha            25B11CS330</a:t>
            </a:r>
          </a:p>
          <a:p>
            <a:r>
              <a:rPr lang="en-US" dirty="0">
                <a:solidFill>
                  <a:srgbClr val="0070C0"/>
                </a:solidFill>
              </a:rPr>
              <a:t>P. Bhavyasri         25B11CS790</a:t>
            </a:r>
            <a:endParaRPr lang="en-IN" dirty="0">
              <a:solidFill>
                <a:srgbClr val="0070C0"/>
              </a:solidFill>
            </a:endParaRPr>
          </a:p>
        </p:txBody>
      </p:sp>
      <p:sp>
        <p:nvSpPr>
          <p:cNvPr id="6" name="TextBox 5">
            <a:extLst>
              <a:ext uri="{FF2B5EF4-FFF2-40B4-BE49-F238E27FC236}">
                <a16:creationId xmlns:a16="http://schemas.microsoft.com/office/drawing/2014/main" id="{2B6BE196-A5FA-8B2F-8A64-089120035F4A}"/>
              </a:ext>
            </a:extLst>
          </p:cNvPr>
          <p:cNvSpPr txBox="1"/>
          <p:nvPr/>
        </p:nvSpPr>
        <p:spPr>
          <a:xfrm>
            <a:off x="5245230" y="4683352"/>
            <a:ext cx="4032560" cy="461665"/>
          </a:xfrm>
          <a:prstGeom prst="rect">
            <a:avLst/>
          </a:prstGeom>
          <a:noFill/>
        </p:spPr>
        <p:txBody>
          <a:bodyPr wrap="square" rtlCol="0">
            <a:spAutoFit/>
          </a:bodyPr>
          <a:lstStyle/>
          <a:p>
            <a:r>
              <a:rPr lang="en-US" b="1" dirty="0"/>
              <a:t>Presented by:</a:t>
            </a:r>
            <a:endParaRPr lang="en-IN" b="1" dirty="0"/>
          </a:p>
        </p:txBody>
      </p:sp>
      <p:pic>
        <p:nvPicPr>
          <p:cNvPr id="8" name="图片">
            <a:extLst>
              <a:ext uri="{FF2B5EF4-FFF2-40B4-BE49-F238E27FC236}">
                <a16:creationId xmlns:a16="http://schemas.microsoft.com/office/drawing/2014/main" id="{6986BD5B-F796-3536-2FFE-D8A1435A85F4}"/>
              </a:ext>
            </a:extLst>
          </p:cNvPr>
          <p:cNvPicPr>
            <a:picLocks/>
          </p:cNvPicPr>
          <p:nvPr/>
        </p:nvPicPr>
        <p:blipFill>
          <a:blip r:embed="rId2" cstate="print"/>
          <a:stretch>
            <a:fillRect/>
          </a:stretch>
        </p:blipFill>
        <p:spPr>
          <a:xfrm>
            <a:off x="2693969" y="211045"/>
            <a:ext cx="4610910" cy="628649"/>
          </a:xfrm>
          <a:prstGeom prst="rect">
            <a:avLst/>
          </a:prstGeom>
          <a:noFill/>
          <a:ln w="12700" cap="flat" cmpd="sng">
            <a:noFill/>
            <a:prstDash val="solid"/>
            <a:miter/>
          </a:ln>
        </p:spPr>
      </p:pic>
    </p:spTree>
    <p:extLst>
      <p:ext uri="{BB962C8B-B14F-4D97-AF65-F5344CB8AC3E}">
        <p14:creationId xmlns:p14="http://schemas.microsoft.com/office/powerpoint/2010/main" val="1547087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5C95A8A-CC83-7247-16C5-DD3EBB1B3521}"/>
              </a:ext>
            </a:extLst>
          </p:cNvPr>
          <p:cNvPicPr>
            <a:picLocks noChangeAspect="1"/>
          </p:cNvPicPr>
          <p:nvPr/>
        </p:nvPicPr>
        <p:blipFill>
          <a:blip r:embed="rId2"/>
          <a:stretch>
            <a:fillRect/>
          </a:stretch>
        </p:blipFill>
        <p:spPr>
          <a:xfrm>
            <a:off x="636590" y="1221829"/>
            <a:ext cx="8641200" cy="5976831"/>
          </a:xfrm>
          <a:prstGeom prst="rect">
            <a:avLst/>
          </a:prstGeom>
        </p:spPr>
      </p:pic>
      <p:sp>
        <p:nvSpPr>
          <p:cNvPr id="3" name="TextBox 2">
            <a:extLst>
              <a:ext uri="{FF2B5EF4-FFF2-40B4-BE49-F238E27FC236}">
                <a16:creationId xmlns:a16="http://schemas.microsoft.com/office/drawing/2014/main" id="{3629CEA9-52FC-EE1B-48F4-53E763704268}"/>
              </a:ext>
            </a:extLst>
          </p:cNvPr>
          <p:cNvSpPr txBox="1"/>
          <p:nvPr/>
        </p:nvSpPr>
        <p:spPr>
          <a:xfrm>
            <a:off x="2796890" y="226255"/>
            <a:ext cx="1440199" cy="69497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20908115-1ABB-7B46-902B-40DA87E6B896}"/>
              </a:ext>
            </a:extLst>
          </p:cNvPr>
          <p:cNvSpPr txBox="1"/>
          <p:nvPr/>
        </p:nvSpPr>
        <p:spPr>
          <a:xfrm>
            <a:off x="2796889" y="226255"/>
            <a:ext cx="4320599" cy="461665"/>
          </a:xfrm>
          <a:prstGeom prst="rect">
            <a:avLst/>
          </a:prstGeom>
          <a:noFill/>
        </p:spPr>
        <p:txBody>
          <a:bodyPr wrap="square" rtlCol="0">
            <a:spAutoFit/>
          </a:bodyPr>
          <a:lstStyle/>
          <a:p>
            <a:r>
              <a:rPr lang="en-US" b="1" dirty="0">
                <a:solidFill>
                  <a:schemeClr val="bg1"/>
                </a:solidFill>
              </a:rPr>
              <a:t>   COMPLETE ER DIAGRAM</a:t>
            </a:r>
            <a:endParaRPr lang="en-IN" b="1" dirty="0">
              <a:solidFill>
                <a:schemeClr val="bg1"/>
              </a:solidFill>
            </a:endParaRPr>
          </a:p>
        </p:txBody>
      </p:sp>
      <p:pic>
        <p:nvPicPr>
          <p:cNvPr id="5" name="图片">
            <a:extLst>
              <a:ext uri="{FF2B5EF4-FFF2-40B4-BE49-F238E27FC236}">
                <a16:creationId xmlns:a16="http://schemas.microsoft.com/office/drawing/2014/main" id="{98465A06-2142-6B16-54C8-7AF1128B8939}"/>
              </a:ext>
            </a:extLst>
          </p:cNvPr>
          <p:cNvPicPr>
            <a:picLocks/>
          </p:cNvPicPr>
          <p:nvPr/>
        </p:nvPicPr>
        <p:blipFill>
          <a:blip r:embed="rId3" cstate="print"/>
          <a:stretch>
            <a:fillRect/>
          </a:stretch>
        </p:blipFill>
        <p:spPr>
          <a:xfrm>
            <a:off x="290750" y="204311"/>
            <a:ext cx="1163002" cy="424338"/>
          </a:xfrm>
          <a:prstGeom prst="rect">
            <a:avLst/>
          </a:prstGeom>
          <a:noFill/>
          <a:ln w="12700" cap="flat" cmpd="sng">
            <a:noFill/>
            <a:prstDash val="solid"/>
            <a:miter/>
          </a:ln>
        </p:spPr>
      </p:pic>
    </p:spTree>
    <p:extLst>
      <p:ext uri="{BB962C8B-B14F-4D97-AF65-F5344CB8AC3E}">
        <p14:creationId xmlns:p14="http://schemas.microsoft.com/office/powerpoint/2010/main" val="493447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1504C79-5FA4-210B-021F-6C5E34E6DB38}"/>
              </a:ext>
            </a:extLst>
          </p:cNvPr>
          <p:cNvSpPr txBox="1"/>
          <p:nvPr/>
        </p:nvSpPr>
        <p:spPr>
          <a:xfrm>
            <a:off x="2724880" y="285700"/>
            <a:ext cx="4464620" cy="461665"/>
          </a:xfrm>
          <a:prstGeom prst="rect">
            <a:avLst/>
          </a:prstGeom>
          <a:noFill/>
        </p:spPr>
        <p:txBody>
          <a:bodyPr wrap="square" rtlCol="0">
            <a:spAutoFit/>
          </a:bodyPr>
          <a:lstStyle/>
          <a:p>
            <a:r>
              <a:rPr lang="en-US" b="1" dirty="0">
                <a:solidFill>
                  <a:schemeClr val="bg1"/>
                </a:solidFill>
              </a:rPr>
              <a:t>     SQL TABLE CREATION</a:t>
            </a:r>
            <a:endParaRPr lang="en-IN" b="1" dirty="0">
              <a:solidFill>
                <a:schemeClr val="bg1"/>
              </a:solidFill>
            </a:endParaRPr>
          </a:p>
        </p:txBody>
      </p:sp>
      <p:pic>
        <p:nvPicPr>
          <p:cNvPr id="4" name="图片">
            <a:extLst>
              <a:ext uri="{FF2B5EF4-FFF2-40B4-BE49-F238E27FC236}">
                <a16:creationId xmlns:a16="http://schemas.microsoft.com/office/drawing/2014/main" id="{ED1ACE3C-C1FC-150C-204B-0F785D1F67BC}"/>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pic>
        <p:nvPicPr>
          <p:cNvPr id="3" name="Picture 2">
            <a:extLst>
              <a:ext uri="{FF2B5EF4-FFF2-40B4-BE49-F238E27FC236}">
                <a16:creationId xmlns:a16="http://schemas.microsoft.com/office/drawing/2014/main" id="{323C3477-B493-13B2-B1D3-F380533164D7}"/>
              </a:ext>
            </a:extLst>
          </p:cNvPr>
          <p:cNvPicPr>
            <a:picLocks noChangeAspect="1"/>
          </p:cNvPicPr>
          <p:nvPr/>
        </p:nvPicPr>
        <p:blipFill>
          <a:blip r:embed="rId3"/>
          <a:stretch>
            <a:fillRect/>
          </a:stretch>
        </p:blipFill>
        <p:spPr>
          <a:xfrm>
            <a:off x="924630" y="1042672"/>
            <a:ext cx="8137130" cy="3168440"/>
          </a:xfrm>
          <a:prstGeom prst="rect">
            <a:avLst/>
          </a:prstGeom>
        </p:spPr>
      </p:pic>
      <p:sp>
        <p:nvSpPr>
          <p:cNvPr id="8" name="TextBox 7">
            <a:extLst>
              <a:ext uri="{FF2B5EF4-FFF2-40B4-BE49-F238E27FC236}">
                <a16:creationId xmlns:a16="http://schemas.microsoft.com/office/drawing/2014/main" id="{5AA7F748-39DA-16D5-F2DC-4B5F9A3626EC}"/>
              </a:ext>
            </a:extLst>
          </p:cNvPr>
          <p:cNvSpPr txBox="1"/>
          <p:nvPr/>
        </p:nvSpPr>
        <p:spPr>
          <a:xfrm>
            <a:off x="362760" y="5254390"/>
            <a:ext cx="3658300" cy="1815882"/>
          </a:xfrm>
          <a:prstGeom prst="rect">
            <a:avLst/>
          </a:prstGeom>
          <a:noFill/>
          <a:ln>
            <a:solidFill>
              <a:schemeClr val="tx1">
                <a:lumMod val="50000"/>
                <a:lumOff val="50000"/>
              </a:schemeClr>
            </a:solidFill>
          </a:ln>
        </p:spPr>
        <p:txBody>
          <a:bodyPr wrap="square">
            <a:spAutoFit/>
          </a:bodyPr>
          <a:lstStyle/>
          <a:p>
            <a:r>
              <a:rPr lang="en-IN" sz="1600" dirty="0"/>
              <a:t>CREATE TABLE Member (</a:t>
            </a:r>
          </a:p>
          <a:p>
            <a:r>
              <a:rPr lang="en-IN" sz="1600" dirty="0"/>
              <a:t>    </a:t>
            </a:r>
            <a:r>
              <a:rPr lang="en-IN" sz="1600" dirty="0" err="1"/>
              <a:t>Member_ID</a:t>
            </a:r>
            <a:r>
              <a:rPr lang="en-IN" sz="1600" dirty="0"/>
              <a:t> NUMBER PRIMARY KEY,</a:t>
            </a:r>
          </a:p>
          <a:p>
            <a:r>
              <a:rPr lang="en-IN" sz="1600" dirty="0"/>
              <a:t>    Name VARCHAR2(50),</a:t>
            </a:r>
          </a:p>
          <a:p>
            <a:r>
              <a:rPr lang="en-IN" sz="1600" dirty="0"/>
              <a:t>    Email VARCHAR2(100),</a:t>
            </a:r>
          </a:p>
          <a:p>
            <a:r>
              <a:rPr lang="en-IN" sz="1600" dirty="0"/>
              <a:t>    </a:t>
            </a:r>
            <a:r>
              <a:rPr lang="en-IN" sz="1600" dirty="0" err="1"/>
              <a:t>Phone_No</a:t>
            </a:r>
            <a:r>
              <a:rPr lang="en-IN" sz="1600" dirty="0"/>
              <a:t> VARCHAR2(15),</a:t>
            </a:r>
          </a:p>
          <a:p>
            <a:r>
              <a:rPr lang="en-IN" sz="1600" dirty="0"/>
              <a:t>    ...</a:t>
            </a:r>
          </a:p>
          <a:p>
            <a:r>
              <a:rPr lang="en-IN" sz="1600" dirty="0"/>
              <a:t>);</a:t>
            </a:r>
          </a:p>
        </p:txBody>
      </p:sp>
      <p:sp>
        <p:nvSpPr>
          <p:cNvPr id="12" name="TextBox 11">
            <a:extLst>
              <a:ext uri="{FF2B5EF4-FFF2-40B4-BE49-F238E27FC236}">
                <a16:creationId xmlns:a16="http://schemas.microsoft.com/office/drawing/2014/main" id="{1FF68C83-5AB5-976E-A746-A03C7BCAE9EB}"/>
              </a:ext>
            </a:extLst>
          </p:cNvPr>
          <p:cNvSpPr txBox="1"/>
          <p:nvPr/>
        </p:nvSpPr>
        <p:spPr>
          <a:xfrm>
            <a:off x="5893320" y="4563895"/>
            <a:ext cx="3888540" cy="3046988"/>
          </a:xfrm>
          <a:prstGeom prst="rect">
            <a:avLst/>
          </a:prstGeom>
          <a:noFill/>
          <a:ln>
            <a:solidFill>
              <a:schemeClr val="tx1">
                <a:lumMod val="50000"/>
                <a:lumOff val="50000"/>
              </a:schemeClr>
            </a:solidFill>
          </a:ln>
        </p:spPr>
        <p:txBody>
          <a:bodyPr wrap="square" rtlCol="0">
            <a:spAutoFit/>
          </a:bodyPr>
          <a:lstStyle/>
          <a:p>
            <a:r>
              <a:rPr lang="en-US" sz="1600" dirty="0"/>
              <a:t>CREATE TABLE </a:t>
            </a:r>
            <a:r>
              <a:rPr lang="en-US" sz="1600" dirty="0" err="1"/>
              <a:t>Issue_Transaction</a:t>
            </a:r>
            <a:r>
              <a:rPr lang="en-US" sz="1600" dirty="0"/>
              <a:t> (</a:t>
            </a:r>
          </a:p>
          <a:p>
            <a:r>
              <a:rPr lang="en-US" sz="1600" dirty="0"/>
              <a:t>    </a:t>
            </a:r>
            <a:r>
              <a:rPr lang="en-US" sz="1600" dirty="0" err="1"/>
              <a:t>Issue_ID</a:t>
            </a:r>
            <a:r>
              <a:rPr lang="en-US" sz="1600" dirty="0"/>
              <a:t> NUMBER PRIMARY KEY,</a:t>
            </a:r>
          </a:p>
          <a:p>
            <a:r>
              <a:rPr lang="en-US" sz="1600" dirty="0"/>
              <a:t>    </a:t>
            </a:r>
            <a:r>
              <a:rPr lang="en-US" sz="1600" dirty="0" err="1"/>
              <a:t>Member_ID</a:t>
            </a:r>
            <a:r>
              <a:rPr lang="en-US" sz="1600" dirty="0"/>
              <a:t> NUMBER,</a:t>
            </a:r>
          </a:p>
          <a:p>
            <a:r>
              <a:rPr lang="en-US" sz="1600" dirty="0"/>
              <a:t>    </a:t>
            </a:r>
            <a:r>
              <a:rPr lang="en-US" sz="1600" dirty="0" err="1"/>
              <a:t>Book_ID</a:t>
            </a:r>
            <a:r>
              <a:rPr lang="en-US" sz="1600" dirty="0"/>
              <a:t> NUMBER,</a:t>
            </a:r>
          </a:p>
          <a:p>
            <a:r>
              <a:rPr lang="en-US" sz="1600" dirty="0"/>
              <a:t>    </a:t>
            </a:r>
            <a:r>
              <a:rPr lang="en-US" sz="1600" dirty="0" err="1"/>
              <a:t>Librarian_ID</a:t>
            </a:r>
            <a:r>
              <a:rPr lang="en-US" sz="1600" dirty="0"/>
              <a:t> NUMBER,</a:t>
            </a:r>
          </a:p>
          <a:p>
            <a:r>
              <a:rPr lang="en-US" sz="1600" dirty="0"/>
              <a:t>    FOREIGN KEY (</a:t>
            </a:r>
            <a:r>
              <a:rPr lang="en-US" sz="1600" dirty="0" err="1"/>
              <a:t>Member_ID</a:t>
            </a:r>
            <a:r>
              <a:rPr lang="en-US" sz="1600" dirty="0"/>
              <a:t>)</a:t>
            </a:r>
          </a:p>
          <a:p>
            <a:r>
              <a:rPr lang="en-US" sz="1600" dirty="0"/>
              <a:t>        REFERENCES Member(</a:t>
            </a:r>
            <a:r>
              <a:rPr lang="en-US" sz="1600" dirty="0" err="1"/>
              <a:t>Member_ID</a:t>
            </a:r>
            <a:r>
              <a:rPr lang="en-US" sz="1600" dirty="0"/>
              <a:t>),</a:t>
            </a:r>
          </a:p>
          <a:p>
            <a:r>
              <a:rPr lang="en-US" sz="1600" dirty="0"/>
              <a:t>    FOREIGN KEY (</a:t>
            </a:r>
            <a:r>
              <a:rPr lang="en-US" sz="1600" dirty="0" err="1"/>
              <a:t>Book_ID</a:t>
            </a:r>
            <a:r>
              <a:rPr lang="en-US" sz="1600" dirty="0"/>
              <a:t>)</a:t>
            </a:r>
          </a:p>
          <a:p>
            <a:r>
              <a:rPr lang="en-US" sz="1600" dirty="0"/>
              <a:t>        REFERENCES Book(</a:t>
            </a:r>
            <a:r>
              <a:rPr lang="en-US" sz="1600" dirty="0" err="1"/>
              <a:t>Book_ID</a:t>
            </a:r>
            <a:r>
              <a:rPr lang="en-US" sz="1600" dirty="0"/>
              <a:t>),</a:t>
            </a:r>
          </a:p>
          <a:p>
            <a:r>
              <a:rPr lang="en-US" sz="1600" dirty="0"/>
              <a:t>    FOREIGN KEY (</a:t>
            </a:r>
            <a:r>
              <a:rPr lang="en-US" sz="1600" dirty="0" err="1"/>
              <a:t>Librarian_ID</a:t>
            </a:r>
            <a:r>
              <a:rPr lang="en-US" sz="1600" dirty="0"/>
              <a:t>)</a:t>
            </a:r>
          </a:p>
          <a:p>
            <a:r>
              <a:rPr lang="en-US" sz="1600" dirty="0"/>
              <a:t>        REFERENCES Librarian(</a:t>
            </a:r>
            <a:r>
              <a:rPr lang="en-US" sz="1600" dirty="0" err="1"/>
              <a:t>Librarian_ID</a:t>
            </a:r>
            <a:r>
              <a:rPr lang="en-US" sz="1600" dirty="0"/>
              <a:t>)</a:t>
            </a:r>
          </a:p>
          <a:p>
            <a:r>
              <a:rPr lang="en-US" sz="1600" dirty="0"/>
              <a:t>);</a:t>
            </a:r>
            <a:endParaRPr lang="en-IN" sz="1600" dirty="0"/>
          </a:p>
        </p:txBody>
      </p:sp>
      <p:sp>
        <p:nvSpPr>
          <p:cNvPr id="15" name="TextBox 14">
            <a:extLst>
              <a:ext uri="{FF2B5EF4-FFF2-40B4-BE49-F238E27FC236}">
                <a16:creationId xmlns:a16="http://schemas.microsoft.com/office/drawing/2014/main" id="{E5CE85C8-94F7-FFA7-05C5-5C935C95BC73}"/>
              </a:ext>
            </a:extLst>
          </p:cNvPr>
          <p:cNvSpPr txBox="1"/>
          <p:nvPr/>
        </p:nvSpPr>
        <p:spPr>
          <a:xfrm>
            <a:off x="5893320" y="4102230"/>
            <a:ext cx="3888540" cy="461665"/>
          </a:xfrm>
          <a:prstGeom prst="rect">
            <a:avLst/>
          </a:prstGeom>
          <a:noFill/>
        </p:spPr>
        <p:txBody>
          <a:bodyPr wrap="square" rtlCol="0">
            <a:spAutoFit/>
          </a:bodyPr>
          <a:lstStyle/>
          <a:p>
            <a:r>
              <a:rPr lang="en-US" dirty="0" err="1">
                <a:solidFill>
                  <a:srgbClr val="FF0000"/>
                </a:solidFill>
              </a:rPr>
              <a:t>Issue_Transaction</a:t>
            </a:r>
            <a:r>
              <a:rPr lang="en-US" dirty="0">
                <a:solidFill>
                  <a:srgbClr val="FF0000"/>
                </a:solidFill>
              </a:rPr>
              <a:t> Table</a:t>
            </a:r>
            <a:endParaRPr lang="en-IN" dirty="0">
              <a:solidFill>
                <a:srgbClr val="FF0000"/>
              </a:solidFill>
            </a:endParaRPr>
          </a:p>
        </p:txBody>
      </p:sp>
      <p:sp>
        <p:nvSpPr>
          <p:cNvPr id="17" name="TextBox 16">
            <a:extLst>
              <a:ext uri="{FF2B5EF4-FFF2-40B4-BE49-F238E27FC236}">
                <a16:creationId xmlns:a16="http://schemas.microsoft.com/office/drawing/2014/main" id="{C7379182-53E7-8CC0-C6C7-1E0081515FB5}"/>
              </a:ext>
            </a:extLst>
          </p:cNvPr>
          <p:cNvSpPr txBox="1"/>
          <p:nvPr/>
        </p:nvSpPr>
        <p:spPr>
          <a:xfrm>
            <a:off x="362760" y="4288655"/>
            <a:ext cx="3010210" cy="830997"/>
          </a:xfrm>
          <a:prstGeom prst="rect">
            <a:avLst/>
          </a:prstGeom>
          <a:noFill/>
        </p:spPr>
        <p:txBody>
          <a:bodyPr wrap="square" rtlCol="0">
            <a:spAutoFit/>
          </a:bodyPr>
          <a:lstStyle/>
          <a:p>
            <a:endParaRPr lang="en-US" dirty="0">
              <a:solidFill>
                <a:srgbClr val="FF0000"/>
              </a:solidFill>
            </a:endParaRPr>
          </a:p>
          <a:p>
            <a:r>
              <a:rPr lang="en-US" dirty="0">
                <a:solidFill>
                  <a:srgbClr val="FF0000"/>
                </a:solidFill>
              </a:rPr>
              <a:t>Member Table</a:t>
            </a:r>
            <a:endParaRPr lang="en-IN" dirty="0">
              <a:solidFill>
                <a:srgbClr val="FF0000"/>
              </a:solidFill>
            </a:endParaRPr>
          </a:p>
        </p:txBody>
      </p:sp>
    </p:spTree>
    <p:extLst>
      <p:ext uri="{BB962C8B-B14F-4D97-AF65-F5344CB8AC3E}">
        <p14:creationId xmlns:p14="http://schemas.microsoft.com/office/powerpoint/2010/main" val="2979479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1B594E-D1D5-BAD0-BF63-DFC1AB397D60}"/>
              </a:ext>
            </a:extLst>
          </p:cNvPr>
          <p:cNvSpPr txBox="1"/>
          <p:nvPr/>
        </p:nvSpPr>
        <p:spPr>
          <a:xfrm>
            <a:off x="2652870" y="213691"/>
            <a:ext cx="4608640" cy="461665"/>
          </a:xfrm>
          <a:prstGeom prst="rect">
            <a:avLst/>
          </a:prstGeom>
          <a:noFill/>
        </p:spPr>
        <p:txBody>
          <a:bodyPr wrap="square" rtlCol="0">
            <a:spAutoFit/>
          </a:bodyPr>
          <a:lstStyle/>
          <a:p>
            <a:r>
              <a:rPr lang="en-US" dirty="0"/>
              <a:t>     </a:t>
            </a:r>
            <a:r>
              <a:rPr lang="en-US" b="1" dirty="0">
                <a:solidFill>
                  <a:schemeClr val="bg1"/>
                </a:solidFill>
              </a:rPr>
              <a:t>SQL TABLE CREATION</a:t>
            </a:r>
            <a:endParaRPr lang="en-IN" dirty="0"/>
          </a:p>
        </p:txBody>
      </p:sp>
      <p:pic>
        <p:nvPicPr>
          <p:cNvPr id="4" name="Picture 3">
            <a:extLst>
              <a:ext uri="{FF2B5EF4-FFF2-40B4-BE49-F238E27FC236}">
                <a16:creationId xmlns:a16="http://schemas.microsoft.com/office/drawing/2014/main" id="{C1D6A46D-0178-D5EE-DBE6-89C02DAD2A56}"/>
              </a:ext>
            </a:extLst>
          </p:cNvPr>
          <p:cNvPicPr>
            <a:picLocks noChangeAspect="1"/>
          </p:cNvPicPr>
          <p:nvPr/>
        </p:nvPicPr>
        <p:blipFill>
          <a:blip r:embed="rId2"/>
          <a:stretch>
            <a:fillRect/>
          </a:stretch>
        </p:blipFill>
        <p:spPr>
          <a:xfrm>
            <a:off x="1788750" y="1293840"/>
            <a:ext cx="6192860" cy="2301809"/>
          </a:xfrm>
          <a:prstGeom prst="rect">
            <a:avLst/>
          </a:prstGeom>
        </p:spPr>
      </p:pic>
      <p:sp>
        <p:nvSpPr>
          <p:cNvPr id="6" name="TextBox 5">
            <a:extLst>
              <a:ext uri="{FF2B5EF4-FFF2-40B4-BE49-F238E27FC236}">
                <a16:creationId xmlns:a16="http://schemas.microsoft.com/office/drawing/2014/main" id="{A0AED79D-5888-453D-2620-C183E3DF429C}"/>
              </a:ext>
            </a:extLst>
          </p:cNvPr>
          <p:cNvSpPr txBox="1"/>
          <p:nvPr/>
        </p:nvSpPr>
        <p:spPr>
          <a:xfrm>
            <a:off x="3012920" y="4822330"/>
            <a:ext cx="4530880" cy="2308324"/>
          </a:xfrm>
          <a:prstGeom prst="rect">
            <a:avLst/>
          </a:prstGeom>
          <a:noFill/>
          <a:ln>
            <a:solidFill>
              <a:schemeClr val="tx1">
                <a:lumMod val="50000"/>
                <a:lumOff val="50000"/>
              </a:schemeClr>
            </a:solidFill>
          </a:ln>
        </p:spPr>
        <p:txBody>
          <a:bodyPr wrap="square">
            <a:spAutoFit/>
          </a:bodyPr>
          <a:lstStyle/>
          <a:p>
            <a:r>
              <a:rPr lang="en-IN" sz="1600" dirty="0"/>
              <a:t>CREATE TABLE </a:t>
            </a:r>
            <a:r>
              <a:rPr lang="en-IN" sz="1600" dirty="0" err="1"/>
              <a:t>Published_By</a:t>
            </a:r>
            <a:r>
              <a:rPr lang="en-IN" sz="1600" dirty="0"/>
              <a:t> (</a:t>
            </a:r>
          </a:p>
          <a:p>
            <a:r>
              <a:rPr lang="en-IN" sz="1600" dirty="0"/>
              <a:t>    </a:t>
            </a:r>
            <a:r>
              <a:rPr lang="en-IN" sz="1600" dirty="0" err="1"/>
              <a:t>Author_ID</a:t>
            </a:r>
            <a:r>
              <a:rPr lang="en-IN" sz="1600" dirty="0"/>
              <a:t> NUMBER,</a:t>
            </a:r>
          </a:p>
          <a:p>
            <a:r>
              <a:rPr lang="en-IN" sz="1600" dirty="0"/>
              <a:t>    </a:t>
            </a:r>
            <a:r>
              <a:rPr lang="en-IN" sz="1600" dirty="0" err="1"/>
              <a:t>Book_ID</a:t>
            </a:r>
            <a:r>
              <a:rPr lang="en-IN" sz="1600" dirty="0"/>
              <a:t> NUMBER,</a:t>
            </a:r>
          </a:p>
          <a:p>
            <a:r>
              <a:rPr lang="en-IN" sz="1600" dirty="0"/>
              <a:t>    PRIMARY KEY (</a:t>
            </a:r>
            <a:r>
              <a:rPr lang="en-IN" sz="1600" dirty="0" err="1"/>
              <a:t>Author_ID</a:t>
            </a:r>
            <a:r>
              <a:rPr lang="en-IN" sz="1600" dirty="0"/>
              <a:t>, </a:t>
            </a:r>
            <a:r>
              <a:rPr lang="en-IN" sz="1600" dirty="0" err="1"/>
              <a:t>Book_ID</a:t>
            </a:r>
            <a:r>
              <a:rPr lang="en-IN" sz="1600" dirty="0"/>
              <a:t>),</a:t>
            </a:r>
          </a:p>
          <a:p>
            <a:r>
              <a:rPr lang="en-IN" sz="1600" dirty="0"/>
              <a:t>    FOREIGN KEY (</a:t>
            </a:r>
            <a:r>
              <a:rPr lang="en-IN" sz="1600" dirty="0" err="1"/>
              <a:t>Author_ID</a:t>
            </a:r>
            <a:r>
              <a:rPr lang="en-IN" sz="1600" dirty="0"/>
              <a:t>)</a:t>
            </a:r>
          </a:p>
          <a:p>
            <a:r>
              <a:rPr lang="en-IN" sz="1600" dirty="0"/>
              <a:t>        REFERENCES Author(</a:t>
            </a:r>
            <a:r>
              <a:rPr lang="en-IN" sz="1600" dirty="0" err="1"/>
              <a:t>Author_ID</a:t>
            </a:r>
            <a:r>
              <a:rPr lang="en-IN" sz="1600" dirty="0"/>
              <a:t>),</a:t>
            </a:r>
          </a:p>
          <a:p>
            <a:r>
              <a:rPr lang="en-IN" sz="1600" dirty="0"/>
              <a:t>    FOREIGN KEY (</a:t>
            </a:r>
            <a:r>
              <a:rPr lang="en-IN" sz="1600" dirty="0" err="1"/>
              <a:t>Book_ID</a:t>
            </a:r>
            <a:r>
              <a:rPr lang="en-IN" sz="1600" dirty="0"/>
              <a:t>)</a:t>
            </a:r>
          </a:p>
          <a:p>
            <a:r>
              <a:rPr lang="en-IN" sz="1600" dirty="0"/>
              <a:t>        REFERENCES Book(</a:t>
            </a:r>
            <a:r>
              <a:rPr lang="en-IN" sz="1600" dirty="0" err="1"/>
              <a:t>Book_ID</a:t>
            </a:r>
            <a:r>
              <a:rPr lang="en-IN" sz="1600" dirty="0"/>
              <a:t>)</a:t>
            </a:r>
          </a:p>
          <a:p>
            <a:r>
              <a:rPr lang="en-IN" sz="1600" dirty="0"/>
              <a:t>);</a:t>
            </a:r>
          </a:p>
        </p:txBody>
      </p:sp>
      <p:sp>
        <p:nvSpPr>
          <p:cNvPr id="7" name="TextBox 6">
            <a:extLst>
              <a:ext uri="{FF2B5EF4-FFF2-40B4-BE49-F238E27FC236}">
                <a16:creationId xmlns:a16="http://schemas.microsoft.com/office/drawing/2014/main" id="{ADD6E05C-26F7-1083-08E6-12A50DD35E1A}"/>
              </a:ext>
            </a:extLst>
          </p:cNvPr>
          <p:cNvSpPr txBox="1"/>
          <p:nvPr/>
        </p:nvSpPr>
        <p:spPr>
          <a:xfrm>
            <a:off x="3012920" y="3886200"/>
            <a:ext cx="3528490" cy="461665"/>
          </a:xfrm>
          <a:prstGeom prst="rect">
            <a:avLst/>
          </a:prstGeom>
          <a:noFill/>
        </p:spPr>
        <p:txBody>
          <a:bodyPr wrap="square" rtlCol="0">
            <a:spAutoFit/>
          </a:bodyPr>
          <a:lstStyle/>
          <a:p>
            <a:r>
              <a:rPr lang="en-US" dirty="0" err="1">
                <a:solidFill>
                  <a:srgbClr val="FF0000"/>
                </a:solidFill>
              </a:rPr>
              <a:t>Published_By</a:t>
            </a:r>
            <a:r>
              <a:rPr lang="en-US" dirty="0">
                <a:solidFill>
                  <a:srgbClr val="FF0000"/>
                </a:solidFill>
              </a:rPr>
              <a:t> Table</a:t>
            </a:r>
            <a:endParaRPr lang="en-IN" dirty="0">
              <a:solidFill>
                <a:srgbClr val="FF0000"/>
              </a:solidFill>
            </a:endParaRPr>
          </a:p>
        </p:txBody>
      </p:sp>
    </p:spTree>
    <p:extLst>
      <p:ext uri="{BB962C8B-B14F-4D97-AF65-F5344CB8AC3E}">
        <p14:creationId xmlns:p14="http://schemas.microsoft.com/office/powerpoint/2010/main" val="2326804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B4AE63-9F51-A497-91B6-B5149623284F}"/>
              </a:ext>
            </a:extLst>
          </p:cNvPr>
          <p:cNvSpPr txBox="1"/>
          <p:nvPr/>
        </p:nvSpPr>
        <p:spPr>
          <a:xfrm>
            <a:off x="3444980" y="285700"/>
            <a:ext cx="4176580" cy="461665"/>
          </a:xfrm>
          <a:prstGeom prst="rect">
            <a:avLst/>
          </a:prstGeom>
          <a:noFill/>
        </p:spPr>
        <p:txBody>
          <a:bodyPr wrap="square" rtlCol="0">
            <a:spAutoFit/>
          </a:bodyPr>
          <a:lstStyle/>
          <a:p>
            <a:r>
              <a:rPr lang="en-US" b="1" dirty="0">
                <a:solidFill>
                  <a:schemeClr val="bg1"/>
                </a:solidFill>
              </a:rPr>
              <a:t>TABLES CREATED</a:t>
            </a:r>
            <a:endParaRPr lang="en-IN" b="1" dirty="0">
              <a:solidFill>
                <a:schemeClr val="bg1"/>
              </a:solidFill>
            </a:endParaRPr>
          </a:p>
        </p:txBody>
      </p:sp>
      <p:pic>
        <p:nvPicPr>
          <p:cNvPr id="5" name="图片">
            <a:extLst>
              <a:ext uri="{FF2B5EF4-FFF2-40B4-BE49-F238E27FC236}">
                <a16:creationId xmlns:a16="http://schemas.microsoft.com/office/drawing/2014/main" id="{5E896560-9C29-152C-4A81-BF331DD62B1E}"/>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pic>
        <p:nvPicPr>
          <p:cNvPr id="9" name="Picture 8">
            <a:extLst>
              <a:ext uri="{FF2B5EF4-FFF2-40B4-BE49-F238E27FC236}">
                <a16:creationId xmlns:a16="http://schemas.microsoft.com/office/drawing/2014/main" id="{D7E4C264-11FB-230C-CFFC-36D8E2EE9E36}"/>
              </a:ext>
            </a:extLst>
          </p:cNvPr>
          <p:cNvPicPr>
            <a:picLocks noChangeAspect="1"/>
          </p:cNvPicPr>
          <p:nvPr/>
        </p:nvPicPr>
        <p:blipFill>
          <a:blip r:embed="rId3"/>
          <a:stretch>
            <a:fillRect/>
          </a:stretch>
        </p:blipFill>
        <p:spPr>
          <a:xfrm>
            <a:off x="996640" y="1365850"/>
            <a:ext cx="3093230" cy="4968689"/>
          </a:xfrm>
          <a:prstGeom prst="rect">
            <a:avLst/>
          </a:prstGeom>
        </p:spPr>
      </p:pic>
      <p:sp>
        <p:nvSpPr>
          <p:cNvPr id="10" name="TextBox 9">
            <a:extLst>
              <a:ext uri="{FF2B5EF4-FFF2-40B4-BE49-F238E27FC236}">
                <a16:creationId xmlns:a16="http://schemas.microsoft.com/office/drawing/2014/main" id="{6487767E-2F97-C8FF-053E-FCCEA3C3A05A}"/>
              </a:ext>
            </a:extLst>
          </p:cNvPr>
          <p:cNvSpPr txBox="1"/>
          <p:nvPr/>
        </p:nvSpPr>
        <p:spPr>
          <a:xfrm>
            <a:off x="996640" y="6478560"/>
            <a:ext cx="8065119" cy="400110"/>
          </a:xfrm>
          <a:prstGeom prst="rect">
            <a:avLst/>
          </a:prstGeom>
          <a:noFill/>
        </p:spPr>
        <p:txBody>
          <a:bodyPr wrap="square" rtlCol="0">
            <a:spAutoFit/>
          </a:bodyPr>
          <a:lstStyle/>
          <a:p>
            <a:r>
              <a:rPr lang="en-IN" sz="2000" b="1" dirty="0">
                <a:solidFill>
                  <a:srgbClr val="002060"/>
                </a:solidFill>
              </a:rPr>
              <a:t>12 relational tables were successfully created in Oracle Database.</a:t>
            </a:r>
          </a:p>
        </p:txBody>
      </p:sp>
    </p:spTree>
    <p:extLst>
      <p:ext uri="{BB962C8B-B14F-4D97-AF65-F5344CB8AC3E}">
        <p14:creationId xmlns:p14="http://schemas.microsoft.com/office/powerpoint/2010/main" val="2776867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12F629-3D73-62CD-8902-D4A98A012737}"/>
              </a:ext>
            </a:extLst>
          </p:cNvPr>
          <p:cNvSpPr txBox="1"/>
          <p:nvPr/>
        </p:nvSpPr>
        <p:spPr>
          <a:xfrm>
            <a:off x="2652870" y="213690"/>
            <a:ext cx="4752660" cy="461665"/>
          </a:xfrm>
          <a:prstGeom prst="rect">
            <a:avLst/>
          </a:prstGeom>
          <a:noFill/>
        </p:spPr>
        <p:txBody>
          <a:bodyPr wrap="square" rtlCol="0">
            <a:spAutoFit/>
          </a:bodyPr>
          <a:lstStyle/>
          <a:p>
            <a:r>
              <a:rPr lang="en-US" dirty="0"/>
              <a:t>    </a:t>
            </a:r>
            <a:r>
              <a:rPr lang="en-US" b="1" dirty="0">
                <a:solidFill>
                  <a:schemeClr val="bg1"/>
                </a:solidFill>
              </a:rPr>
              <a:t>15 SAMPLE RECORDS</a:t>
            </a:r>
            <a:endParaRPr lang="en-IN" b="1" dirty="0">
              <a:solidFill>
                <a:schemeClr val="bg1"/>
              </a:solidFill>
            </a:endParaRPr>
          </a:p>
        </p:txBody>
      </p:sp>
      <p:pic>
        <p:nvPicPr>
          <p:cNvPr id="5" name="图片">
            <a:extLst>
              <a:ext uri="{FF2B5EF4-FFF2-40B4-BE49-F238E27FC236}">
                <a16:creationId xmlns:a16="http://schemas.microsoft.com/office/drawing/2014/main" id="{21B4218F-85FA-AA7B-EB58-C341F24A982E}"/>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
        <p:nvSpPr>
          <p:cNvPr id="6" name="TextBox 5">
            <a:extLst>
              <a:ext uri="{FF2B5EF4-FFF2-40B4-BE49-F238E27FC236}">
                <a16:creationId xmlns:a16="http://schemas.microsoft.com/office/drawing/2014/main" id="{758497A8-D3B0-306F-9C89-A363B0D46DD8}"/>
              </a:ext>
            </a:extLst>
          </p:cNvPr>
          <p:cNvSpPr txBox="1"/>
          <p:nvPr/>
        </p:nvSpPr>
        <p:spPr>
          <a:xfrm>
            <a:off x="564580" y="1221830"/>
            <a:ext cx="4752660" cy="2585323"/>
          </a:xfrm>
          <a:prstGeom prst="rect">
            <a:avLst/>
          </a:prstGeom>
          <a:noFill/>
        </p:spPr>
        <p:txBody>
          <a:bodyPr wrap="square" rtlCol="0">
            <a:spAutoFit/>
          </a:bodyPr>
          <a:lstStyle/>
          <a:p>
            <a:pPr marL="342900" lvl="0" indent="-342900">
              <a:buFont typeface="Arial" panose="020B0604020202020204" pitchFamily="34" charset="0"/>
              <a:buChar char="•"/>
            </a:pPr>
            <a:r>
              <a:rPr lang="en-IN" sz="1800" dirty="0"/>
              <a:t>Sample data was inserted into all 12 tables. </a:t>
            </a:r>
          </a:p>
          <a:p>
            <a:pPr marL="342900" lvl="0" indent="-342900">
              <a:buFont typeface="Arial" panose="020B0604020202020204" pitchFamily="34" charset="0"/>
              <a:buChar char="•"/>
            </a:pPr>
            <a:r>
              <a:rPr lang="en-IN" sz="1800" b="1" dirty="0"/>
              <a:t>15 records</a:t>
            </a:r>
            <a:r>
              <a:rPr lang="en-IN" sz="1800" dirty="0"/>
              <a:t> were inserted into each table. </a:t>
            </a:r>
          </a:p>
          <a:p>
            <a:pPr marL="342900" lvl="0" indent="-342900">
              <a:buFont typeface="Arial" panose="020B0604020202020204" pitchFamily="34" charset="0"/>
              <a:buChar char="•"/>
            </a:pPr>
            <a:r>
              <a:rPr lang="en-IN" sz="1800" dirty="0"/>
              <a:t>The data represents realistic library operations. </a:t>
            </a:r>
          </a:p>
          <a:p>
            <a:pPr marL="342900" lvl="0" indent="-342900">
              <a:buFont typeface="Arial" panose="020B0604020202020204" pitchFamily="34" charset="0"/>
              <a:buChar char="•"/>
            </a:pPr>
            <a:r>
              <a:rPr lang="en-IN" sz="1800" dirty="0"/>
              <a:t>Primary key and foreign key relationships were maintained.</a:t>
            </a:r>
          </a:p>
          <a:p>
            <a:pPr marL="342900" lvl="0" indent="-342900">
              <a:buFont typeface="Arial" panose="020B0604020202020204" pitchFamily="34" charset="0"/>
              <a:buChar char="•"/>
            </a:pPr>
            <a:r>
              <a:rPr lang="en-IN" sz="1800" dirty="0"/>
              <a:t>Data was verified using SELECT queries.</a:t>
            </a:r>
          </a:p>
          <a:p>
            <a:endParaRPr lang="en-IN" sz="1800" dirty="0"/>
          </a:p>
        </p:txBody>
      </p:sp>
      <p:sp>
        <p:nvSpPr>
          <p:cNvPr id="8" name="TextBox 7">
            <a:extLst>
              <a:ext uri="{FF2B5EF4-FFF2-40B4-BE49-F238E27FC236}">
                <a16:creationId xmlns:a16="http://schemas.microsoft.com/office/drawing/2014/main" id="{C23D94B9-63D1-52A9-1510-3D4E802D9A27}"/>
              </a:ext>
            </a:extLst>
          </p:cNvPr>
          <p:cNvSpPr txBox="1"/>
          <p:nvPr/>
        </p:nvSpPr>
        <p:spPr>
          <a:xfrm>
            <a:off x="564580" y="3807153"/>
            <a:ext cx="4104570" cy="461665"/>
          </a:xfrm>
          <a:prstGeom prst="rect">
            <a:avLst/>
          </a:prstGeom>
          <a:noFill/>
        </p:spPr>
        <p:txBody>
          <a:bodyPr wrap="square" rtlCol="0">
            <a:spAutoFit/>
          </a:bodyPr>
          <a:lstStyle/>
          <a:p>
            <a:r>
              <a:rPr lang="en-US" b="1" dirty="0">
                <a:solidFill>
                  <a:srgbClr val="FF0000"/>
                </a:solidFill>
              </a:rPr>
              <a:t>Book table</a:t>
            </a:r>
            <a:endParaRPr lang="en-IN" b="1" dirty="0">
              <a:solidFill>
                <a:srgbClr val="FF0000"/>
              </a:solidFill>
            </a:endParaRPr>
          </a:p>
        </p:txBody>
      </p:sp>
      <p:pic>
        <p:nvPicPr>
          <p:cNvPr id="11" name="Picture 10">
            <a:extLst>
              <a:ext uri="{FF2B5EF4-FFF2-40B4-BE49-F238E27FC236}">
                <a16:creationId xmlns:a16="http://schemas.microsoft.com/office/drawing/2014/main" id="{843450BA-3739-5975-1CED-DB0FAF801037}"/>
              </a:ext>
            </a:extLst>
          </p:cNvPr>
          <p:cNvPicPr>
            <a:picLocks noChangeAspect="1"/>
          </p:cNvPicPr>
          <p:nvPr/>
        </p:nvPicPr>
        <p:blipFill>
          <a:blip r:embed="rId3"/>
          <a:stretch>
            <a:fillRect/>
          </a:stretch>
        </p:blipFill>
        <p:spPr>
          <a:xfrm>
            <a:off x="564580" y="5046672"/>
            <a:ext cx="5715495" cy="2484335"/>
          </a:xfrm>
          <a:prstGeom prst="rect">
            <a:avLst/>
          </a:prstGeom>
        </p:spPr>
      </p:pic>
      <p:sp>
        <p:nvSpPr>
          <p:cNvPr id="12" name="TextBox 11">
            <a:extLst>
              <a:ext uri="{FF2B5EF4-FFF2-40B4-BE49-F238E27FC236}">
                <a16:creationId xmlns:a16="http://schemas.microsoft.com/office/drawing/2014/main" id="{BB78D260-E6BE-883E-32D8-6B1829CAEEDA}"/>
              </a:ext>
            </a:extLst>
          </p:cNvPr>
          <p:cNvSpPr txBox="1"/>
          <p:nvPr/>
        </p:nvSpPr>
        <p:spPr>
          <a:xfrm>
            <a:off x="564581" y="4353628"/>
            <a:ext cx="5492390" cy="369333"/>
          </a:xfrm>
          <a:prstGeom prst="rect">
            <a:avLst/>
          </a:prstGeom>
          <a:noFill/>
        </p:spPr>
        <p:txBody>
          <a:bodyPr wrap="square" rtlCol="0">
            <a:spAutoFit/>
          </a:bodyPr>
          <a:lstStyle/>
          <a:p>
            <a:r>
              <a:rPr lang="en-US" sz="1800" dirty="0">
                <a:solidFill>
                  <a:srgbClr val="0070C0"/>
                </a:solidFill>
              </a:rPr>
              <a:t>SQL&gt;SELECT * FROM BOOK;</a:t>
            </a:r>
            <a:endParaRPr lang="en-IN" sz="1800" dirty="0">
              <a:solidFill>
                <a:srgbClr val="0070C0"/>
              </a:solidFill>
            </a:endParaRPr>
          </a:p>
        </p:txBody>
      </p:sp>
    </p:spTree>
    <p:extLst>
      <p:ext uri="{BB962C8B-B14F-4D97-AF65-F5344CB8AC3E}">
        <p14:creationId xmlns:p14="http://schemas.microsoft.com/office/powerpoint/2010/main" val="2737518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a:extLst>
              <a:ext uri="{FF2B5EF4-FFF2-40B4-BE49-F238E27FC236}">
                <a16:creationId xmlns:a16="http://schemas.microsoft.com/office/drawing/2014/main" id="{A556093F-8792-D997-57B2-CF085897A9C0}"/>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
        <p:nvSpPr>
          <p:cNvPr id="5" name="TextBox 4">
            <a:extLst>
              <a:ext uri="{FF2B5EF4-FFF2-40B4-BE49-F238E27FC236}">
                <a16:creationId xmlns:a16="http://schemas.microsoft.com/office/drawing/2014/main" id="{579FCA5B-5604-D3F1-7425-EADDB9416F83}"/>
              </a:ext>
            </a:extLst>
          </p:cNvPr>
          <p:cNvSpPr txBox="1"/>
          <p:nvPr/>
        </p:nvSpPr>
        <p:spPr>
          <a:xfrm>
            <a:off x="492570" y="1005800"/>
            <a:ext cx="3168440" cy="461665"/>
          </a:xfrm>
          <a:prstGeom prst="rect">
            <a:avLst/>
          </a:prstGeom>
          <a:noFill/>
        </p:spPr>
        <p:txBody>
          <a:bodyPr wrap="square" rtlCol="0">
            <a:spAutoFit/>
          </a:bodyPr>
          <a:lstStyle/>
          <a:p>
            <a:r>
              <a:rPr lang="en-US" b="1" dirty="0">
                <a:solidFill>
                  <a:srgbClr val="FF0000"/>
                </a:solidFill>
              </a:rPr>
              <a:t>Author table</a:t>
            </a:r>
            <a:endParaRPr lang="en-IN" b="1" dirty="0">
              <a:solidFill>
                <a:srgbClr val="FF0000"/>
              </a:solidFill>
            </a:endParaRPr>
          </a:p>
        </p:txBody>
      </p:sp>
      <p:sp>
        <p:nvSpPr>
          <p:cNvPr id="6" name="TextBox 5">
            <a:extLst>
              <a:ext uri="{FF2B5EF4-FFF2-40B4-BE49-F238E27FC236}">
                <a16:creationId xmlns:a16="http://schemas.microsoft.com/office/drawing/2014/main" id="{1E3DF606-8BB8-0BA8-676C-5E0CA1448F49}"/>
              </a:ext>
            </a:extLst>
          </p:cNvPr>
          <p:cNvSpPr txBox="1"/>
          <p:nvPr/>
        </p:nvSpPr>
        <p:spPr>
          <a:xfrm>
            <a:off x="492570" y="1365850"/>
            <a:ext cx="4752660" cy="646331"/>
          </a:xfrm>
          <a:prstGeom prst="rect">
            <a:avLst/>
          </a:prstGeom>
          <a:noFill/>
        </p:spPr>
        <p:txBody>
          <a:bodyPr wrap="square" rtlCol="0">
            <a:spAutoFit/>
          </a:bodyPr>
          <a:lstStyle/>
          <a:p>
            <a:endParaRPr lang="en-IN" sz="1800" dirty="0">
              <a:solidFill>
                <a:srgbClr val="0070C0"/>
              </a:solidFill>
            </a:endParaRPr>
          </a:p>
          <a:p>
            <a:r>
              <a:rPr lang="en-IN" sz="1800" dirty="0">
                <a:solidFill>
                  <a:srgbClr val="0070C0"/>
                </a:solidFill>
              </a:rPr>
              <a:t>SQL&gt;SELECT * FROM AUTHOR;</a:t>
            </a:r>
          </a:p>
        </p:txBody>
      </p:sp>
      <p:pic>
        <p:nvPicPr>
          <p:cNvPr id="9" name="Picture 8">
            <a:extLst>
              <a:ext uri="{FF2B5EF4-FFF2-40B4-BE49-F238E27FC236}">
                <a16:creationId xmlns:a16="http://schemas.microsoft.com/office/drawing/2014/main" id="{2AEA3A54-B02A-3C46-9C66-D263EDCBD1B5}"/>
              </a:ext>
            </a:extLst>
          </p:cNvPr>
          <p:cNvPicPr>
            <a:picLocks noChangeAspect="1"/>
          </p:cNvPicPr>
          <p:nvPr/>
        </p:nvPicPr>
        <p:blipFill>
          <a:blip r:embed="rId3"/>
          <a:stretch>
            <a:fillRect/>
          </a:stretch>
        </p:blipFill>
        <p:spPr>
          <a:xfrm>
            <a:off x="636590" y="2372231"/>
            <a:ext cx="3960550" cy="4178339"/>
          </a:xfrm>
          <a:prstGeom prst="rect">
            <a:avLst/>
          </a:prstGeom>
        </p:spPr>
      </p:pic>
      <p:sp>
        <p:nvSpPr>
          <p:cNvPr id="10" name="TextBox 9">
            <a:extLst>
              <a:ext uri="{FF2B5EF4-FFF2-40B4-BE49-F238E27FC236}">
                <a16:creationId xmlns:a16="http://schemas.microsoft.com/office/drawing/2014/main" id="{4A77A6AE-CF45-A704-7CF6-C9386AE46AE3}"/>
              </a:ext>
            </a:extLst>
          </p:cNvPr>
          <p:cNvSpPr txBox="1"/>
          <p:nvPr/>
        </p:nvSpPr>
        <p:spPr>
          <a:xfrm>
            <a:off x="5682215" y="1005800"/>
            <a:ext cx="3312460" cy="461665"/>
          </a:xfrm>
          <a:prstGeom prst="rect">
            <a:avLst/>
          </a:prstGeom>
          <a:noFill/>
        </p:spPr>
        <p:txBody>
          <a:bodyPr wrap="square" rtlCol="0">
            <a:spAutoFit/>
          </a:bodyPr>
          <a:lstStyle/>
          <a:p>
            <a:r>
              <a:rPr lang="en-US" b="1" dirty="0">
                <a:solidFill>
                  <a:srgbClr val="FF0000"/>
                </a:solidFill>
              </a:rPr>
              <a:t>Fine table</a:t>
            </a:r>
            <a:endParaRPr lang="en-IN" b="1" dirty="0">
              <a:solidFill>
                <a:srgbClr val="FF0000"/>
              </a:solidFill>
            </a:endParaRPr>
          </a:p>
        </p:txBody>
      </p:sp>
      <p:sp>
        <p:nvSpPr>
          <p:cNvPr id="14" name="TextBox 13">
            <a:extLst>
              <a:ext uri="{FF2B5EF4-FFF2-40B4-BE49-F238E27FC236}">
                <a16:creationId xmlns:a16="http://schemas.microsoft.com/office/drawing/2014/main" id="{12D8AE28-CE78-14C7-9033-CC04255410BF}"/>
              </a:ext>
            </a:extLst>
          </p:cNvPr>
          <p:cNvSpPr txBox="1"/>
          <p:nvPr/>
        </p:nvSpPr>
        <p:spPr>
          <a:xfrm>
            <a:off x="5682214" y="1561557"/>
            <a:ext cx="3769551" cy="369332"/>
          </a:xfrm>
          <a:prstGeom prst="rect">
            <a:avLst/>
          </a:prstGeom>
          <a:noFill/>
        </p:spPr>
        <p:txBody>
          <a:bodyPr wrap="square" rtlCol="0">
            <a:spAutoFit/>
          </a:bodyPr>
          <a:lstStyle/>
          <a:p>
            <a:r>
              <a:rPr lang="en-IN" sz="1800" dirty="0">
                <a:solidFill>
                  <a:srgbClr val="0070C0"/>
                </a:solidFill>
              </a:rPr>
              <a:t>SQL&gt;SELECT * FROM FINE;</a:t>
            </a:r>
          </a:p>
        </p:txBody>
      </p:sp>
      <p:pic>
        <p:nvPicPr>
          <p:cNvPr id="16" name="Picture 15">
            <a:extLst>
              <a:ext uri="{FF2B5EF4-FFF2-40B4-BE49-F238E27FC236}">
                <a16:creationId xmlns:a16="http://schemas.microsoft.com/office/drawing/2014/main" id="{E6D3B1CF-CFAC-66D3-C68D-59C83DF5DD4A}"/>
              </a:ext>
            </a:extLst>
          </p:cNvPr>
          <p:cNvPicPr>
            <a:picLocks noChangeAspect="1"/>
          </p:cNvPicPr>
          <p:nvPr/>
        </p:nvPicPr>
        <p:blipFill>
          <a:blip r:embed="rId4"/>
          <a:stretch>
            <a:fillRect/>
          </a:stretch>
        </p:blipFill>
        <p:spPr>
          <a:xfrm>
            <a:off x="5245230" y="2446000"/>
            <a:ext cx="4206536" cy="4104570"/>
          </a:xfrm>
          <a:prstGeom prst="rect">
            <a:avLst/>
          </a:prstGeom>
        </p:spPr>
      </p:pic>
    </p:spTree>
    <p:extLst>
      <p:ext uri="{BB962C8B-B14F-4D97-AF65-F5344CB8AC3E}">
        <p14:creationId xmlns:p14="http://schemas.microsoft.com/office/powerpoint/2010/main" val="1766069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D42F9-9114-BF37-1807-3877CBA1FE49}"/>
              </a:ext>
            </a:extLst>
          </p:cNvPr>
          <p:cNvSpPr txBox="1"/>
          <p:nvPr/>
        </p:nvSpPr>
        <p:spPr>
          <a:xfrm>
            <a:off x="2652870" y="213690"/>
            <a:ext cx="4536630" cy="461665"/>
          </a:xfrm>
          <a:prstGeom prst="rect">
            <a:avLst/>
          </a:prstGeom>
          <a:noFill/>
        </p:spPr>
        <p:txBody>
          <a:bodyPr wrap="square" rtlCol="0">
            <a:spAutoFit/>
          </a:bodyPr>
          <a:lstStyle/>
          <a:p>
            <a:r>
              <a:rPr lang="en-US" dirty="0"/>
              <a:t>       </a:t>
            </a:r>
            <a:r>
              <a:rPr lang="en-US" b="1" dirty="0">
                <a:solidFill>
                  <a:schemeClr val="bg1"/>
                </a:solidFill>
              </a:rPr>
              <a:t>KEYS &amp; CONSTRAINTS</a:t>
            </a:r>
            <a:endParaRPr lang="en-IN" b="1" dirty="0">
              <a:solidFill>
                <a:schemeClr val="bg1"/>
              </a:solidFill>
            </a:endParaRPr>
          </a:p>
        </p:txBody>
      </p:sp>
      <p:pic>
        <p:nvPicPr>
          <p:cNvPr id="4" name="图片">
            <a:extLst>
              <a:ext uri="{FF2B5EF4-FFF2-40B4-BE49-F238E27FC236}">
                <a16:creationId xmlns:a16="http://schemas.microsoft.com/office/drawing/2014/main" id="{4FE2D5CF-84F0-7896-4B9E-463C3CCF468B}"/>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
        <p:nvSpPr>
          <p:cNvPr id="7" name="TextBox 6">
            <a:extLst>
              <a:ext uri="{FF2B5EF4-FFF2-40B4-BE49-F238E27FC236}">
                <a16:creationId xmlns:a16="http://schemas.microsoft.com/office/drawing/2014/main" id="{9D27E6A0-1E42-DCD5-4F1B-5E2488868595}"/>
              </a:ext>
            </a:extLst>
          </p:cNvPr>
          <p:cNvSpPr txBox="1"/>
          <p:nvPr/>
        </p:nvSpPr>
        <p:spPr>
          <a:xfrm>
            <a:off x="564580" y="1077810"/>
            <a:ext cx="2269352" cy="461665"/>
          </a:xfrm>
          <a:prstGeom prst="rect">
            <a:avLst/>
          </a:prstGeom>
          <a:noFill/>
        </p:spPr>
        <p:txBody>
          <a:bodyPr wrap="square" rtlCol="0">
            <a:spAutoFit/>
          </a:bodyPr>
          <a:lstStyle/>
          <a:p>
            <a:r>
              <a:rPr lang="en-US" b="1" dirty="0">
                <a:solidFill>
                  <a:srgbClr val="FF0000"/>
                </a:solidFill>
              </a:rPr>
              <a:t>Primary key</a:t>
            </a:r>
            <a:endParaRPr lang="en-IN" b="1" dirty="0">
              <a:solidFill>
                <a:srgbClr val="FF0000"/>
              </a:solidFill>
            </a:endParaRPr>
          </a:p>
        </p:txBody>
      </p:sp>
      <p:sp>
        <p:nvSpPr>
          <p:cNvPr id="8" name="TextBox 7">
            <a:extLst>
              <a:ext uri="{FF2B5EF4-FFF2-40B4-BE49-F238E27FC236}">
                <a16:creationId xmlns:a16="http://schemas.microsoft.com/office/drawing/2014/main" id="{4D61078F-AEAE-3CF6-1F21-865E50F6218F}"/>
              </a:ext>
            </a:extLst>
          </p:cNvPr>
          <p:cNvSpPr txBox="1"/>
          <p:nvPr/>
        </p:nvSpPr>
        <p:spPr>
          <a:xfrm>
            <a:off x="708600" y="1725899"/>
            <a:ext cx="4032560" cy="369332"/>
          </a:xfrm>
          <a:prstGeom prst="rect">
            <a:avLst/>
          </a:prstGeom>
          <a:solidFill>
            <a:schemeClr val="bg1"/>
          </a:solidFill>
          <a:ln>
            <a:solidFill>
              <a:schemeClr val="tx1">
                <a:lumMod val="50000"/>
                <a:lumOff val="50000"/>
              </a:schemeClr>
            </a:solidFill>
          </a:ln>
        </p:spPr>
        <p:txBody>
          <a:bodyPr wrap="square" rtlCol="0">
            <a:spAutoFit/>
          </a:bodyPr>
          <a:lstStyle/>
          <a:p>
            <a:r>
              <a:rPr lang="en-US" sz="1800" dirty="0" err="1"/>
              <a:t>Member_ID</a:t>
            </a:r>
            <a:r>
              <a:rPr lang="en-US" sz="1800" dirty="0"/>
              <a:t>  NUMBER PRIMARY KEY</a:t>
            </a:r>
            <a:endParaRPr lang="en-IN" sz="1800" dirty="0"/>
          </a:p>
        </p:txBody>
      </p:sp>
      <p:sp>
        <p:nvSpPr>
          <p:cNvPr id="9" name="TextBox 8">
            <a:extLst>
              <a:ext uri="{FF2B5EF4-FFF2-40B4-BE49-F238E27FC236}">
                <a16:creationId xmlns:a16="http://schemas.microsoft.com/office/drawing/2014/main" id="{F7B24F1B-DDC2-F04F-007B-3B92E0C455C1}"/>
              </a:ext>
            </a:extLst>
          </p:cNvPr>
          <p:cNvSpPr txBox="1"/>
          <p:nvPr/>
        </p:nvSpPr>
        <p:spPr>
          <a:xfrm>
            <a:off x="564580" y="2446001"/>
            <a:ext cx="2808390" cy="461665"/>
          </a:xfrm>
          <a:prstGeom prst="rect">
            <a:avLst/>
          </a:prstGeom>
          <a:noFill/>
        </p:spPr>
        <p:txBody>
          <a:bodyPr wrap="square" rtlCol="0">
            <a:spAutoFit/>
          </a:bodyPr>
          <a:lstStyle/>
          <a:p>
            <a:r>
              <a:rPr lang="en-US" b="1" dirty="0">
                <a:solidFill>
                  <a:srgbClr val="FF0000"/>
                </a:solidFill>
              </a:rPr>
              <a:t>Foreign keys</a:t>
            </a:r>
            <a:endParaRPr lang="en-IN" b="1" dirty="0">
              <a:solidFill>
                <a:srgbClr val="FF0000"/>
              </a:solidFill>
            </a:endParaRPr>
          </a:p>
        </p:txBody>
      </p:sp>
      <p:sp>
        <p:nvSpPr>
          <p:cNvPr id="10" name="TextBox 9">
            <a:extLst>
              <a:ext uri="{FF2B5EF4-FFF2-40B4-BE49-F238E27FC236}">
                <a16:creationId xmlns:a16="http://schemas.microsoft.com/office/drawing/2014/main" id="{2F994FD6-49B3-D43C-A787-3B020FE95F50}"/>
              </a:ext>
            </a:extLst>
          </p:cNvPr>
          <p:cNvSpPr txBox="1"/>
          <p:nvPr/>
        </p:nvSpPr>
        <p:spPr>
          <a:xfrm rot="10800000" flipV="1">
            <a:off x="708600" y="3186422"/>
            <a:ext cx="6696930" cy="369332"/>
          </a:xfrm>
          <a:prstGeom prst="rect">
            <a:avLst/>
          </a:prstGeom>
          <a:noFill/>
          <a:ln>
            <a:solidFill>
              <a:schemeClr val="tx1">
                <a:lumMod val="50000"/>
                <a:lumOff val="50000"/>
              </a:schemeClr>
            </a:solidFill>
          </a:ln>
        </p:spPr>
        <p:txBody>
          <a:bodyPr wrap="square" rtlCol="0">
            <a:spAutoFit/>
          </a:bodyPr>
          <a:lstStyle/>
          <a:p>
            <a:r>
              <a:rPr lang="en-US" sz="1800" dirty="0"/>
              <a:t>FOREIGN KEY (</a:t>
            </a:r>
            <a:r>
              <a:rPr lang="en-US" sz="1800" dirty="0" err="1"/>
              <a:t>Member_ID</a:t>
            </a:r>
            <a:r>
              <a:rPr lang="en-US" sz="1800" dirty="0"/>
              <a:t>) REFERENCES Member(</a:t>
            </a:r>
            <a:r>
              <a:rPr lang="en-US" sz="1800" dirty="0" err="1"/>
              <a:t>Member_ID</a:t>
            </a:r>
            <a:r>
              <a:rPr lang="en-US" sz="1800" dirty="0"/>
              <a:t>)</a:t>
            </a:r>
            <a:endParaRPr lang="en-IN" sz="1800" dirty="0"/>
          </a:p>
        </p:txBody>
      </p:sp>
      <p:sp>
        <p:nvSpPr>
          <p:cNvPr id="11" name="TextBox 10">
            <a:extLst>
              <a:ext uri="{FF2B5EF4-FFF2-40B4-BE49-F238E27FC236}">
                <a16:creationId xmlns:a16="http://schemas.microsoft.com/office/drawing/2014/main" id="{6B68E4E7-67CB-2769-0C99-48E15EE17012}"/>
              </a:ext>
            </a:extLst>
          </p:cNvPr>
          <p:cNvSpPr txBox="1"/>
          <p:nvPr/>
        </p:nvSpPr>
        <p:spPr>
          <a:xfrm>
            <a:off x="564580" y="3886200"/>
            <a:ext cx="4176580" cy="461665"/>
          </a:xfrm>
          <a:prstGeom prst="rect">
            <a:avLst/>
          </a:prstGeom>
          <a:noFill/>
        </p:spPr>
        <p:txBody>
          <a:bodyPr wrap="square" rtlCol="0">
            <a:spAutoFit/>
          </a:bodyPr>
          <a:lstStyle/>
          <a:p>
            <a:r>
              <a:rPr lang="en-US" b="1" dirty="0">
                <a:solidFill>
                  <a:srgbClr val="FF0000"/>
                </a:solidFill>
              </a:rPr>
              <a:t>Composite Primary key</a:t>
            </a:r>
            <a:endParaRPr lang="en-IN" b="1" dirty="0">
              <a:solidFill>
                <a:srgbClr val="FF0000"/>
              </a:solidFill>
            </a:endParaRPr>
          </a:p>
        </p:txBody>
      </p:sp>
      <p:sp>
        <p:nvSpPr>
          <p:cNvPr id="13" name="TextBox 12">
            <a:extLst>
              <a:ext uri="{FF2B5EF4-FFF2-40B4-BE49-F238E27FC236}">
                <a16:creationId xmlns:a16="http://schemas.microsoft.com/office/drawing/2014/main" id="{EBD80E2C-4BE6-9CE2-6C60-2E18B6B2E6CF}"/>
              </a:ext>
            </a:extLst>
          </p:cNvPr>
          <p:cNvSpPr txBox="1"/>
          <p:nvPr/>
        </p:nvSpPr>
        <p:spPr>
          <a:xfrm>
            <a:off x="708600" y="4606297"/>
            <a:ext cx="4032560" cy="369333"/>
          </a:xfrm>
          <a:prstGeom prst="rect">
            <a:avLst/>
          </a:prstGeom>
          <a:noFill/>
          <a:ln>
            <a:solidFill>
              <a:schemeClr val="tx1">
                <a:lumMod val="50000"/>
                <a:lumOff val="50000"/>
              </a:schemeClr>
            </a:solidFill>
          </a:ln>
        </p:spPr>
        <p:txBody>
          <a:bodyPr wrap="square" rtlCol="0">
            <a:spAutoFit/>
          </a:bodyPr>
          <a:lstStyle/>
          <a:p>
            <a:r>
              <a:rPr lang="en-US" sz="1800" dirty="0"/>
              <a:t>PRIMARY KEY (</a:t>
            </a:r>
            <a:r>
              <a:rPr lang="en-US" sz="1800" dirty="0" err="1"/>
              <a:t>Author_ID</a:t>
            </a:r>
            <a:r>
              <a:rPr lang="en-US" sz="1800" dirty="0"/>
              <a:t>, </a:t>
            </a:r>
            <a:r>
              <a:rPr lang="en-US" sz="1800" dirty="0" err="1"/>
              <a:t>Book_ID</a:t>
            </a:r>
            <a:r>
              <a:rPr lang="en-US" sz="1800" dirty="0"/>
              <a:t>)</a:t>
            </a:r>
            <a:endParaRPr lang="en-IN" sz="1800" dirty="0"/>
          </a:p>
        </p:txBody>
      </p:sp>
      <p:sp>
        <p:nvSpPr>
          <p:cNvPr id="14" name="TextBox 13">
            <a:extLst>
              <a:ext uri="{FF2B5EF4-FFF2-40B4-BE49-F238E27FC236}">
                <a16:creationId xmlns:a16="http://schemas.microsoft.com/office/drawing/2014/main" id="{1BF455C8-9D96-CA73-2C00-91BE4E1C70C6}"/>
              </a:ext>
            </a:extLst>
          </p:cNvPr>
          <p:cNvSpPr txBox="1"/>
          <p:nvPr/>
        </p:nvSpPr>
        <p:spPr>
          <a:xfrm>
            <a:off x="564580" y="5182381"/>
            <a:ext cx="3960550" cy="461665"/>
          </a:xfrm>
          <a:prstGeom prst="rect">
            <a:avLst/>
          </a:prstGeom>
          <a:noFill/>
        </p:spPr>
        <p:txBody>
          <a:bodyPr wrap="square" rtlCol="0">
            <a:spAutoFit/>
          </a:bodyPr>
          <a:lstStyle/>
          <a:p>
            <a:r>
              <a:rPr lang="en-US" b="1" dirty="0">
                <a:solidFill>
                  <a:srgbClr val="FF0000"/>
                </a:solidFill>
              </a:rPr>
              <a:t>Constraints</a:t>
            </a:r>
            <a:endParaRPr lang="en-IN" b="1" dirty="0">
              <a:solidFill>
                <a:srgbClr val="FF0000"/>
              </a:solidFill>
            </a:endParaRPr>
          </a:p>
        </p:txBody>
      </p:sp>
      <p:sp>
        <p:nvSpPr>
          <p:cNvPr id="15" name="TextBox 14">
            <a:extLst>
              <a:ext uri="{FF2B5EF4-FFF2-40B4-BE49-F238E27FC236}">
                <a16:creationId xmlns:a16="http://schemas.microsoft.com/office/drawing/2014/main" id="{7D27627C-C84B-CCBA-8122-C9E3F99B5C22}"/>
              </a:ext>
            </a:extLst>
          </p:cNvPr>
          <p:cNvSpPr txBox="1"/>
          <p:nvPr/>
        </p:nvSpPr>
        <p:spPr>
          <a:xfrm>
            <a:off x="708600" y="5954168"/>
            <a:ext cx="2125332" cy="369332"/>
          </a:xfrm>
          <a:prstGeom prst="rect">
            <a:avLst/>
          </a:prstGeom>
          <a:noFill/>
          <a:ln>
            <a:solidFill>
              <a:schemeClr val="tx1">
                <a:lumMod val="50000"/>
                <a:lumOff val="50000"/>
              </a:schemeClr>
            </a:solidFill>
          </a:ln>
        </p:spPr>
        <p:txBody>
          <a:bodyPr wrap="square" rtlCol="0">
            <a:spAutoFit/>
          </a:bodyPr>
          <a:lstStyle/>
          <a:p>
            <a:r>
              <a:rPr lang="en-US" sz="1800" dirty="0"/>
              <a:t>UNIQUE (</a:t>
            </a:r>
            <a:r>
              <a:rPr lang="en-US" sz="1800" dirty="0" err="1"/>
              <a:t>Fine_ID</a:t>
            </a:r>
            <a:r>
              <a:rPr lang="en-US" sz="1800" dirty="0"/>
              <a:t>)</a:t>
            </a:r>
            <a:endParaRPr lang="en-IN" sz="1800" dirty="0"/>
          </a:p>
        </p:txBody>
      </p:sp>
    </p:spTree>
    <p:extLst>
      <p:ext uri="{BB962C8B-B14F-4D97-AF65-F5344CB8AC3E}">
        <p14:creationId xmlns:p14="http://schemas.microsoft.com/office/powerpoint/2010/main" val="1487207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6C9C1-E693-4619-D935-110B68BBFE17}"/>
              </a:ext>
            </a:extLst>
          </p:cNvPr>
          <p:cNvSpPr txBox="1"/>
          <p:nvPr/>
        </p:nvSpPr>
        <p:spPr>
          <a:xfrm>
            <a:off x="420560" y="1149820"/>
            <a:ext cx="3888540" cy="461665"/>
          </a:xfrm>
          <a:prstGeom prst="rect">
            <a:avLst/>
          </a:prstGeom>
          <a:noFill/>
        </p:spPr>
        <p:txBody>
          <a:bodyPr wrap="square" rtlCol="0">
            <a:spAutoFit/>
          </a:bodyPr>
          <a:lstStyle/>
          <a:p>
            <a:r>
              <a:rPr lang="en-US" dirty="0"/>
              <a:t>1. Display Member details</a:t>
            </a:r>
            <a:endParaRPr lang="en-IN" dirty="0"/>
          </a:p>
        </p:txBody>
      </p:sp>
      <p:sp>
        <p:nvSpPr>
          <p:cNvPr id="3" name="TextBox 2">
            <a:extLst>
              <a:ext uri="{FF2B5EF4-FFF2-40B4-BE49-F238E27FC236}">
                <a16:creationId xmlns:a16="http://schemas.microsoft.com/office/drawing/2014/main" id="{6762AE6A-BCD9-2565-CC6E-8BDF41F8BFF7}"/>
              </a:ext>
            </a:extLst>
          </p:cNvPr>
          <p:cNvSpPr txBox="1"/>
          <p:nvPr/>
        </p:nvSpPr>
        <p:spPr>
          <a:xfrm>
            <a:off x="852620" y="1725901"/>
            <a:ext cx="9001250" cy="830997"/>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Name, Email, </a:t>
            </a:r>
            <a:r>
              <a:rPr lang="en-US" b="1" dirty="0" err="1">
                <a:solidFill>
                  <a:srgbClr val="7030A0"/>
                </a:solidFill>
              </a:rPr>
              <a:t>Membership_Type</a:t>
            </a:r>
            <a:r>
              <a:rPr lang="en-US" b="1" dirty="0">
                <a:solidFill>
                  <a:srgbClr val="7030A0"/>
                </a:solidFill>
              </a:rPr>
              <a:t> FROM Member</a:t>
            </a:r>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5314AE46-A6EF-E2DE-3F55-EEC0807FC259}"/>
              </a:ext>
            </a:extLst>
          </p:cNvPr>
          <p:cNvPicPr>
            <a:picLocks noChangeAspect="1"/>
          </p:cNvPicPr>
          <p:nvPr/>
        </p:nvPicPr>
        <p:blipFill>
          <a:blip r:embed="rId2"/>
          <a:stretch>
            <a:fillRect/>
          </a:stretch>
        </p:blipFill>
        <p:spPr>
          <a:xfrm>
            <a:off x="852620" y="3886200"/>
            <a:ext cx="5328740" cy="3024420"/>
          </a:xfrm>
          <a:prstGeom prst="rect">
            <a:avLst/>
          </a:prstGeom>
        </p:spPr>
      </p:pic>
      <p:sp>
        <p:nvSpPr>
          <p:cNvPr id="7" name="TextBox 6">
            <a:extLst>
              <a:ext uri="{FF2B5EF4-FFF2-40B4-BE49-F238E27FC236}">
                <a16:creationId xmlns:a16="http://schemas.microsoft.com/office/drawing/2014/main" id="{0FBF9BA0-C989-C9CB-4B0D-74B9A4E7B115}"/>
              </a:ext>
            </a:extLst>
          </p:cNvPr>
          <p:cNvSpPr txBox="1"/>
          <p:nvPr/>
        </p:nvSpPr>
        <p:spPr>
          <a:xfrm>
            <a:off x="852620" y="3228827"/>
            <a:ext cx="2592360" cy="461665"/>
          </a:xfrm>
          <a:prstGeom prst="rect">
            <a:avLst/>
          </a:prstGeom>
          <a:noFill/>
        </p:spPr>
        <p:txBody>
          <a:bodyPr wrap="square" rtlCol="0">
            <a:spAutoFit/>
          </a:bodyPr>
          <a:lstStyle/>
          <a:p>
            <a:r>
              <a:rPr lang="en-US" dirty="0">
                <a:solidFill>
                  <a:srgbClr val="FF0000"/>
                </a:solidFill>
              </a:rPr>
              <a:t>Output:</a:t>
            </a:r>
            <a:endParaRPr lang="en-IN" dirty="0"/>
          </a:p>
        </p:txBody>
      </p:sp>
      <p:sp>
        <p:nvSpPr>
          <p:cNvPr id="4" name="TextBox 3">
            <a:extLst>
              <a:ext uri="{FF2B5EF4-FFF2-40B4-BE49-F238E27FC236}">
                <a16:creationId xmlns:a16="http://schemas.microsoft.com/office/drawing/2014/main" id="{0E7413C0-5E44-8B15-BF2A-153890979182}"/>
              </a:ext>
            </a:extLst>
          </p:cNvPr>
          <p:cNvSpPr txBox="1"/>
          <p:nvPr/>
        </p:nvSpPr>
        <p:spPr>
          <a:xfrm>
            <a:off x="2796890" y="285701"/>
            <a:ext cx="4392609" cy="461665"/>
          </a:xfrm>
          <a:prstGeom prst="rect">
            <a:avLst/>
          </a:prstGeom>
          <a:noFill/>
        </p:spPr>
        <p:txBody>
          <a:bodyPr wrap="square" rtlCol="0">
            <a:spAutoFit/>
          </a:bodyPr>
          <a:lstStyle/>
          <a:p>
            <a:r>
              <a:rPr lang="en-US" b="1" dirty="0">
                <a:solidFill>
                  <a:schemeClr val="bg1"/>
                </a:solidFill>
              </a:rPr>
              <a:t>7 Basic queries &amp; Outputs</a:t>
            </a:r>
            <a:endParaRPr lang="en-IN" b="1" dirty="0">
              <a:solidFill>
                <a:schemeClr val="bg1"/>
              </a:solidFill>
            </a:endParaRPr>
          </a:p>
        </p:txBody>
      </p:sp>
    </p:spTree>
    <p:extLst>
      <p:ext uri="{BB962C8B-B14F-4D97-AF65-F5344CB8AC3E}">
        <p14:creationId xmlns:p14="http://schemas.microsoft.com/office/powerpoint/2010/main" val="3807956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F12908-2664-BF1D-4CD4-264949AD86E0}"/>
              </a:ext>
            </a:extLst>
          </p:cNvPr>
          <p:cNvSpPr txBox="1"/>
          <p:nvPr/>
        </p:nvSpPr>
        <p:spPr>
          <a:xfrm>
            <a:off x="636590" y="1221831"/>
            <a:ext cx="6768940" cy="830997"/>
          </a:xfrm>
          <a:prstGeom prst="rect">
            <a:avLst/>
          </a:prstGeom>
          <a:noFill/>
        </p:spPr>
        <p:txBody>
          <a:bodyPr wrap="square" rtlCol="0">
            <a:spAutoFit/>
          </a:bodyPr>
          <a:lstStyle/>
          <a:p>
            <a:r>
              <a:rPr lang="en-US" dirty="0"/>
              <a:t>2. Books Published After 2023 </a:t>
            </a:r>
            <a:endParaRPr lang="en-IN" dirty="0"/>
          </a:p>
          <a:p>
            <a:endParaRPr lang="en-IN" dirty="0"/>
          </a:p>
        </p:txBody>
      </p:sp>
      <p:sp>
        <p:nvSpPr>
          <p:cNvPr id="3" name="TextBox 2">
            <a:extLst>
              <a:ext uri="{FF2B5EF4-FFF2-40B4-BE49-F238E27FC236}">
                <a16:creationId xmlns:a16="http://schemas.microsoft.com/office/drawing/2014/main" id="{1B7EF60A-26B8-4CAD-161C-4F5CABF33F07}"/>
              </a:ext>
            </a:extLst>
          </p:cNvPr>
          <p:cNvSpPr txBox="1"/>
          <p:nvPr/>
        </p:nvSpPr>
        <p:spPr>
          <a:xfrm>
            <a:off x="924630" y="1797910"/>
            <a:ext cx="9001250" cy="1200329"/>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Book_ID</a:t>
            </a:r>
            <a:r>
              <a:rPr lang="en-US" b="1" dirty="0">
                <a:solidFill>
                  <a:srgbClr val="7030A0"/>
                </a:solidFill>
              </a:rPr>
              <a:t>, Title, </a:t>
            </a:r>
            <a:r>
              <a:rPr lang="en-US" b="1" dirty="0" err="1">
                <a:solidFill>
                  <a:srgbClr val="7030A0"/>
                </a:solidFill>
              </a:rPr>
              <a:t>Publication_year</a:t>
            </a:r>
            <a:r>
              <a:rPr lang="en-US" b="1" dirty="0">
                <a:solidFill>
                  <a:srgbClr val="7030A0"/>
                </a:solidFill>
              </a:rPr>
              <a:t> FROM Book WHERE </a:t>
            </a:r>
            <a:r>
              <a:rPr lang="en-US" b="1" dirty="0" err="1">
                <a:solidFill>
                  <a:srgbClr val="7030A0"/>
                </a:solidFill>
              </a:rPr>
              <a:t>Publication_Year</a:t>
            </a:r>
            <a:r>
              <a:rPr lang="en-US" b="1" dirty="0">
                <a:solidFill>
                  <a:srgbClr val="7030A0"/>
                </a:solidFill>
              </a:rPr>
              <a:t> &gt; 2023;</a:t>
            </a:r>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804A89D1-7CF0-2B98-A983-F1447A2FF282}"/>
              </a:ext>
            </a:extLst>
          </p:cNvPr>
          <p:cNvPicPr>
            <a:picLocks noChangeAspect="1"/>
          </p:cNvPicPr>
          <p:nvPr/>
        </p:nvPicPr>
        <p:blipFill>
          <a:blip r:embed="rId2"/>
          <a:stretch>
            <a:fillRect/>
          </a:stretch>
        </p:blipFill>
        <p:spPr>
          <a:xfrm>
            <a:off x="1140660" y="4578951"/>
            <a:ext cx="6120850" cy="2547699"/>
          </a:xfrm>
          <a:prstGeom prst="rect">
            <a:avLst/>
          </a:prstGeom>
        </p:spPr>
      </p:pic>
      <p:sp>
        <p:nvSpPr>
          <p:cNvPr id="7" name="TextBox 6">
            <a:extLst>
              <a:ext uri="{FF2B5EF4-FFF2-40B4-BE49-F238E27FC236}">
                <a16:creationId xmlns:a16="http://schemas.microsoft.com/office/drawing/2014/main" id="{2A247F81-61DC-82C9-CD93-066559C510EC}"/>
              </a:ext>
            </a:extLst>
          </p:cNvPr>
          <p:cNvSpPr txBox="1"/>
          <p:nvPr/>
        </p:nvSpPr>
        <p:spPr>
          <a:xfrm>
            <a:off x="1140660" y="3742180"/>
            <a:ext cx="3240450" cy="830997"/>
          </a:xfrm>
          <a:prstGeom prst="rect">
            <a:avLst/>
          </a:prstGeom>
          <a:noFill/>
        </p:spPr>
        <p:txBody>
          <a:bodyPr wrap="square" rtlCol="0">
            <a:spAutoFit/>
          </a:bodyPr>
          <a:lstStyle/>
          <a:p>
            <a:r>
              <a:rPr lang="en-US" dirty="0">
                <a:solidFill>
                  <a:srgbClr val="FF0000"/>
                </a:solidFill>
              </a:rPr>
              <a:t>Output:</a:t>
            </a:r>
            <a:endParaRPr lang="en-IN" dirty="0"/>
          </a:p>
          <a:p>
            <a:endParaRPr lang="en-IN" dirty="0"/>
          </a:p>
        </p:txBody>
      </p:sp>
      <p:sp>
        <p:nvSpPr>
          <p:cNvPr id="4" name="TextBox 3">
            <a:extLst>
              <a:ext uri="{FF2B5EF4-FFF2-40B4-BE49-F238E27FC236}">
                <a16:creationId xmlns:a16="http://schemas.microsoft.com/office/drawing/2014/main" id="{8B362BAA-ED00-44D8-81D1-BA8501FAD804}"/>
              </a:ext>
            </a:extLst>
          </p:cNvPr>
          <p:cNvSpPr txBox="1"/>
          <p:nvPr/>
        </p:nvSpPr>
        <p:spPr>
          <a:xfrm>
            <a:off x="2652870" y="276420"/>
            <a:ext cx="4968690" cy="830997"/>
          </a:xfrm>
          <a:prstGeom prst="rect">
            <a:avLst/>
          </a:prstGeom>
          <a:noFill/>
        </p:spPr>
        <p:txBody>
          <a:bodyPr wrap="square" rtlCol="0">
            <a:spAutoFit/>
          </a:bodyPr>
          <a:lstStyle/>
          <a:p>
            <a:r>
              <a:rPr lang="en-US" b="1" dirty="0">
                <a:solidFill>
                  <a:schemeClr val="bg1"/>
                </a:solidFill>
              </a:rPr>
              <a:t>   7 Basic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743774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B028B7-FE61-655F-57B5-C8364A6D9DDE}"/>
              </a:ext>
            </a:extLst>
          </p:cNvPr>
          <p:cNvSpPr txBox="1"/>
          <p:nvPr/>
        </p:nvSpPr>
        <p:spPr>
          <a:xfrm>
            <a:off x="564581" y="1005801"/>
            <a:ext cx="5832810" cy="830997"/>
          </a:xfrm>
          <a:prstGeom prst="rect">
            <a:avLst/>
          </a:prstGeom>
          <a:noFill/>
        </p:spPr>
        <p:txBody>
          <a:bodyPr wrap="square" rtlCol="0">
            <a:spAutoFit/>
          </a:bodyPr>
          <a:lstStyle/>
          <a:p>
            <a:r>
              <a:rPr lang="en-US" dirty="0"/>
              <a:t>3. Count Total Books</a:t>
            </a:r>
            <a:endParaRPr lang="en-IN" dirty="0"/>
          </a:p>
          <a:p>
            <a:endParaRPr lang="en-IN" dirty="0"/>
          </a:p>
        </p:txBody>
      </p:sp>
      <p:sp>
        <p:nvSpPr>
          <p:cNvPr id="4" name="TextBox 3">
            <a:extLst>
              <a:ext uri="{FF2B5EF4-FFF2-40B4-BE49-F238E27FC236}">
                <a16:creationId xmlns:a16="http://schemas.microsoft.com/office/drawing/2014/main" id="{8C1FE1E5-703E-7EB3-84D8-1AC1C8A28F88}"/>
              </a:ext>
            </a:extLst>
          </p:cNvPr>
          <p:cNvSpPr txBox="1"/>
          <p:nvPr/>
        </p:nvSpPr>
        <p:spPr>
          <a:xfrm>
            <a:off x="996640" y="1581881"/>
            <a:ext cx="8497179" cy="830997"/>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COUNT(*) AS </a:t>
            </a:r>
            <a:r>
              <a:rPr lang="en-US" b="1" dirty="0" err="1">
                <a:solidFill>
                  <a:srgbClr val="7030A0"/>
                </a:solidFill>
              </a:rPr>
              <a:t>TOTAL_Books</a:t>
            </a:r>
            <a:r>
              <a:rPr lang="en-US" b="1" dirty="0">
                <a:solidFill>
                  <a:srgbClr val="7030A0"/>
                </a:solidFill>
              </a:rPr>
              <a:t> FROM Book;</a:t>
            </a:r>
            <a:endParaRPr lang="en-IN" b="1" dirty="0">
              <a:solidFill>
                <a:srgbClr val="7030A0"/>
              </a:solidFill>
            </a:endParaRPr>
          </a:p>
          <a:p>
            <a:endParaRPr lang="en-IN" dirty="0"/>
          </a:p>
        </p:txBody>
      </p:sp>
      <p:pic>
        <p:nvPicPr>
          <p:cNvPr id="6" name="Picture 5">
            <a:extLst>
              <a:ext uri="{FF2B5EF4-FFF2-40B4-BE49-F238E27FC236}">
                <a16:creationId xmlns:a16="http://schemas.microsoft.com/office/drawing/2014/main" id="{69DDA4B5-F5FF-C381-AB15-90FF2E561E6C}"/>
              </a:ext>
            </a:extLst>
          </p:cNvPr>
          <p:cNvPicPr>
            <a:picLocks noChangeAspect="1"/>
          </p:cNvPicPr>
          <p:nvPr/>
        </p:nvPicPr>
        <p:blipFill>
          <a:blip r:embed="rId2"/>
          <a:stretch>
            <a:fillRect/>
          </a:stretch>
        </p:blipFill>
        <p:spPr>
          <a:xfrm>
            <a:off x="2429966" y="2793525"/>
            <a:ext cx="2102039" cy="826442"/>
          </a:xfrm>
          <a:prstGeom prst="rect">
            <a:avLst/>
          </a:prstGeom>
        </p:spPr>
      </p:pic>
      <p:sp>
        <p:nvSpPr>
          <p:cNvPr id="8" name="TextBox 7">
            <a:extLst>
              <a:ext uri="{FF2B5EF4-FFF2-40B4-BE49-F238E27FC236}">
                <a16:creationId xmlns:a16="http://schemas.microsoft.com/office/drawing/2014/main" id="{B1261A73-B6C3-8D96-997E-0E86E1732C27}"/>
              </a:ext>
            </a:extLst>
          </p:cNvPr>
          <p:cNvSpPr txBox="1"/>
          <p:nvPr/>
        </p:nvSpPr>
        <p:spPr>
          <a:xfrm>
            <a:off x="996640" y="2734040"/>
            <a:ext cx="2102039" cy="461665"/>
          </a:xfrm>
          <a:prstGeom prst="rect">
            <a:avLst/>
          </a:prstGeom>
          <a:noFill/>
        </p:spPr>
        <p:txBody>
          <a:bodyPr wrap="square" rtlCol="0">
            <a:spAutoFit/>
          </a:bodyPr>
          <a:lstStyle/>
          <a:p>
            <a:r>
              <a:rPr lang="en-US" dirty="0">
                <a:solidFill>
                  <a:srgbClr val="FF0000"/>
                </a:solidFill>
              </a:rPr>
              <a:t>Output:</a:t>
            </a:r>
            <a:endParaRPr lang="en-IN" dirty="0"/>
          </a:p>
        </p:txBody>
      </p:sp>
      <p:sp>
        <p:nvSpPr>
          <p:cNvPr id="9" name="TextBox 8">
            <a:extLst>
              <a:ext uri="{FF2B5EF4-FFF2-40B4-BE49-F238E27FC236}">
                <a16:creationId xmlns:a16="http://schemas.microsoft.com/office/drawing/2014/main" id="{39D01C6F-5D14-CE50-85CE-C537056CBB95}"/>
              </a:ext>
            </a:extLst>
          </p:cNvPr>
          <p:cNvSpPr txBox="1"/>
          <p:nvPr/>
        </p:nvSpPr>
        <p:spPr>
          <a:xfrm>
            <a:off x="780610" y="3814191"/>
            <a:ext cx="3744519" cy="830997"/>
          </a:xfrm>
          <a:prstGeom prst="rect">
            <a:avLst/>
          </a:prstGeom>
          <a:noFill/>
        </p:spPr>
        <p:txBody>
          <a:bodyPr wrap="square" rtlCol="0">
            <a:spAutoFit/>
          </a:bodyPr>
          <a:lstStyle/>
          <a:p>
            <a:r>
              <a:rPr lang="en-US" dirty="0"/>
              <a:t>4. Books by Category</a:t>
            </a:r>
            <a:endParaRPr lang="en-IN" dirty="0"/>
          </a:p>
          <a:p>
            <a:endParaRPr lang="en-IN" dirty="0"/>
          </a:p>
        </p:txBody>
      </p:sp>
      <p:sp>
        <p:nvSpPr>
          <p:cNvPr id="12" name="TextBox 11">
            <a:extLst>
              <a:ext uri="{FF2B5EF4-FFF2-40B4-BE49-F238E27FC236}">
                <a16:creationId xmlns:a16="http://schemas.microsoft.com/office/drawing/2014/main" id="{0DBB8F91-C1A2-2009-851A-C363FDEB0B51}"/>
              </a:ext>
            </a:extLst>
          </p:cNvPr>
          <p:cNvSpPr txBox="1"/>
          <p:nvPr/>
        </p:nvSpPr>
        <p:spPr>
          <a:xfrm>
            <a:off x="996640" y="4390271"/>
            <a:ext cx="8497179" cy="830997"/>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Category_ID</a:t>
            </a:r>
            <a:r>
              <a:rPr lang="en-US" b="1" dirty="0">
                <a:solidFill>
                  <a:srgbClr val="7030A0"/>
                </a:solidFill>
              </a:rPr>
              <a:t>, COUNT(*) AS </a:t>
            </a:r>
            <a:r>
              <a:rPr lang="en-US" b="1" dirty="0" err="1">
                <a:solidFill>
                  <a:srgbClr val="7030A0"/>
                </a:solidFill>
              </a:rPr>
              <a:t>Total_Books</a:t>
            </a:r>
            <a:r>
              <a:rPr lang="en-US" b="1" dirty="0">
                <a:solidFill>
                  <a:srgbClr val="7030A0"/>
                </a:solidFill>
              </a:rPr>
              <a:t> FROM Book GROUP BY </a:t>
            </a:r>
            <a:r>
              <a:rPr lang="en-US" b="1" dirty="0" err="1">
                <a:solidFill>
                  <a:srgbClr val="7030A0"/>
                </a:solidFill>
              </a:rPr>
              <a:t>Category_ID</a:t>
            </a:r>
            <a:r>
              <a:rPr lang="en-US" b="1" dirty="0">
                <a:solidFill>
                  <a:srgbClr val="7030A0"/>
                </a:solidFill>
              </a:rPr>
              <a:t>;</a:t>
            </a:r>
            <a:endParaRPr lang="en-IN" b="1" dirty="0">
              <a:solidFill>
                <a:srgbClr val="7030A0"/>
              </a:solidFill>
            </a:endParaRPr>
          </a:p>
        </p:txBody>
      </p:sp>
      <p:sp>
        <p:nvSpPr>
          <p:cNvPr id="13" name="TextBox 12">
            <a:extLst>
              <a:ext uri="{FF2B5EF4-FFF2-40B4-BE49-F238E27FC236}">
                <a16:creationId xmlns:a16="http://schemas.microsoft.com/office/drawing/2014/main" id="{E32D18AD-D8B9-BED5-8A0D-9C3D69C833CB}"/>
              </a:ext>
            </a:extLst>
          </p:cNvPr>
          <p:cNvSpPr txBox="1"/>
          <p:nvPr/>
        </p:nvSpPr>
        <p:spPr>
          <a:xfrm>
            <a:off x="996640" y="5415492"/>
            <a:ext cx="2102039" cy="461665"/>
          </a:xfrm>
          <a:prstGeom prst="rect">
            <a:avLst/>
          </a:prstGeom>
          <a:noFill/>
        </p:spPr>
        <p:txBody>
          <a:bodyPr wrap="square" rtlCol="0">
            <a:spAutoFit/>
          </a:bodyPr>
          <a:lstStyle/>
          <a:p>
            <a:r>
              <a:rPr lang="en-US" dirty="0">
                <a:solidFill>
                  <a:srgbClr val="FF0000"/>
                </a:solidFill>
              </a:rPr>
              <a:t>Output:</a:t>
            </a:r>
            <a:endParaRPr lang="en-IN" dirty="0"/>
          </a:p>
        </p:txBody>
      </p:sp>
      <p:pic>
        <p:nvPicPr>
          <p:cNvPr id="15" name="Picture 14">
            <a:extLst>
              <a:ext uri="{FF2B5EF4-FFF2-40B4-BE49-F238E27FC236}">
                <a16:creationId xmlns:a16="http://schemas.microsoft.com/office/drawing/2014/main" id="{A276D0AA-6E9E-6108-0331-3B418C22D8C4}"/>
              </a:ext>
            </a:extLst>
          </p:cNvPr>
          <p:cNvPicPr>
            <a:picLocks noChangeAspect="1"/>
          </p:cNvPicPr>
          <p:nvPr/>
        </p:nvPicPr>
        <p:blipFill>
          <a:blip r:embed="rId3"/>
          <a:stretch>
            <a:fillRect/>
          </a:stretch>
        </p:blipFill>
        <p:spPr>
          <a:xfrm>
            <a:off x="2652869" y="5597360"/>
            <a:ext cx="2736381" cy="1889340"/>
          </a:xfrm>
          <a:prstGeom prst="rect">
            <a:avLst/>
          </a:prstGeom>
        </p:spPr>
      </p:pic>
      <p:sp>
        <p:nvSpPr>
          <p:cNvPr id="3" name="TextBox 2">
            <a:extLst>
              <a:ext uri="{FF2B5EF4-FFF2-40B4-BE49-F238E27FC236}">
                <a16:creationId xmlns:a16="http://schemas.microsoft.com/office/drawing/2014/main" id="{C7866224-F7FA-C7C0-F245-9506EBA0F796}"/>
              </a:ext>
            </a:extLst>
          </p:cNvPr>
          <p:cNvSpPr txBox="1"/>
          <p:nvPr/>
        </p:nvSpPr>
        <p:spPr>
          <a:xfrm>
            <a:off x="2796890" y="235497"/>
            <a:ext cx="4608640" cy="830997"/>
          </a:xfrm>
          <a:prstGeom prst="rect">
            <a:avLst/>
          </a:prstGeom>
          <a:noFill/>
        </p:spPr>
        <p:txBody>
          <a:bodyPr wrap="square" rtlCol="0">
            <a:spAutoFit/>
          </a:bodyPr>
          <a:lstStyle/>
          <a:p>
            <a:r>
              <a:rPr lang="en-US" b="1" dirty="0">
                <a:solidFill>
                  <a:schemeClr val="bg1"/>
                </a:solidFill>
              </a:rPr>
              <a:t>7 Basic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2318333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F171FE-2ACB-D2D4-42A9-308C7B036E59}"/>
              </a:ext>
            </a:extLst>
          </p:cNvPr>
          <p:cNvSpPr txBox="1"/>
          <p:nvPr/>
        </p:nvSpPr>
        <p:spPr>
          <a:xfrm>
            <a:off x="492570" y="933790"/>
            <a:ext cx="5112711" cy="830997"/>
          </a:xfrm>
          <a:prstGeom prst="rect">
            <a:avLst/>
          </a:prstGeom>
          <a:noFill/>
        </p:spPr>
        <p:txBody>
          <a:bodyPr wrap="square" rtlCol="0">
            <a:spAutoFit/>
          </a:bodyPr>
          <a:lstStyle/>
          <a:p>
            <a:r>
              <a:rPr lang="en-US" dirty="0"/>
              <a:t>5. Member-Issue Details</a:t>
            </a:r>
            <a:endParaRPr lang="en-IN" dirty="0"/>
          </a:p>
          <a:p>
            <a:endParaRPr lang="en-IN" dirty="0"/>
          </a:p>
        </p:txBody>
      </p:sp>
      <p:sp>
        <p:nvSpPr>
          <p:cNvPr id="3" name="TextBox 2">
            <a:extLst>
              <a:ext uri="{FF2B5EF4-FFF2-40B4-BE49-F238E27FC236}">
                <a16:creationId xmlns:a16="http://schemas.microsoft.com/office/drawing/2014/main" id="{59E4788C-52E3-9858-FF74-165AFD883BAC}"/>
              </a:ext>
            </a:extLst>
          </p:cNvPr>
          <p:cNvSpPr txBox="1"/>
          <p:nvPr/>
        </p:nvSpPr>
        <p:spPr>
          <a:xfrm>
            <a:off x="780610" y="1581880"/>
            <a:ext cx="9145270" cy="1631216"/>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M.Name</a:t>
            </a:r>
            <a:r>
              <a:rPr lang="en-US" b="1" dirty="0">
                <a:solidFill>
                  <a:srgbClr val="7030A0"/>
                </a:solidFill>
              </a:rPr>
              <a:t>, </a:t>
            </a:r>
            <a:r>
              <a:rPr lang="en-US" b="1" dirty="0" err="1">
                <a:solidFill>
                  <a:srgbClr val="7030A0"/>
                </a:solidFill>
              </a:rPr>
              <a:t>I.Issue_ID</a:t>
            </a:r>
            <a:r>
              <a:rPr lang="en-US" b="1" dirty="0">
                <a:solidFill>
                  <a:srgbClr val="7030A0"/>
                </a:solidFill>
              </a:rPr>
              <a:t>, </a:t>
            </a:r>
            <a:r>
              <a:rPr lang="en-US" b="1" dirty="0" err="1">
                <a:solidFill>
                  <a:srgbClr val="7030A0"/>
                </a:solidFill>
              </a:rPr>
              <a:t>I.Issue_Date</a:t>
            </a:r>
            <a:r>
              <a:rPr lang="en-US" b="1" dirty="0">
                <a:solidFill>
                  <a:srgbClr val="7030A0"/>
                </a:solidFill>
              </a:rPr>
              <a:t> FROM Member M INNER JOIN </a:t>
            </a:r>
            <a:r>
              <a:rPr lang="en-US" b="1" dirty="0" err="1">
                <a:solidFill>
                  <a:srgbClr val="7030A0"/>
                </a:solidFill>
              </a:rPr>
              <a:t>Issue_Transaction</a:t>
            </a:r>
            <a:r>
              <a:rPr lang="en-US" b="1" dirty="0">
                <a:solidFill>
                  <a:srgbClr val="7030A0"/>
                </a:solidFill>
              </a:rPr>
              <a:t> I ON </a:t>
            </a:r>
            <a:r>
              <a:rPr lang="en-US" b="1" dirty="0" err="1">
                <a:solidFill>
                  <a:srgbClr val="7030A0"/>
                </a:solidFill>
              </a:rPr>
              <a:t>M.Member_ID</a:t>
            </a:r>
            <a:r>
              <a:rPr lang="en-US" b="1" dirty="0">
                <a:solidFill>
                  <a:srgbClr val="7030A0"/>
                </a:solidFill>
              </a:rPr>
              <a:t> = </a:t>
            </a:r>
            <a:r>
              <a:rPr lang="en-US" b="1" dirty="0" err="1">
                <a:solidFill>
                  <a:srgbClr val="7030A0"/>
                </a:solidFill>
              </a:rPr>
              <a:t>I.Member_ID</a:t>
            </a:r>
            <a:r>
              <a:rPr lang="en-US" b="1" dirty="0">
                <a:solidFill>
                  <a:srgbClr val="7030A0"/>
                </a:solidFill>
              </a:rPr>
              <a:t>;</a:t>
            </a:r>
            <a:endParaRPr lang="en-IN" b="1" dirty="0">
              <a:solidFill>
                <a:srgbClr val="7030A0"/>
              </a:solidFill>
            </a:endParaRPr>
          </a:p>
          <a:p>
            <a:endParaRPr lang="en-IN" sz="2800" dirty="0"/>
          </a:p>
        </p:txBody>
      </p:sp>
      <p:sp>
        <p:nvSpPr>
          <p:cNvPr id="4" name="TextBox 3">
            <a:extLst>
              <a:ext uri="{FF2B5EF4-FFF2-40B4-BE49-F238E27FC236}">
                <a16:creationId xmlns:a16="http://schemas.microsoft.com/office/drawing/2014/main" id="{3AAAFA8B-C298-FF4F-2EA5-6B0F9AB0F581}"/>
              </a:ext>
            </a:extLst>
          </p:cNvPr>
          <p:cNvSpPr txBox="1"/>
          <p:nvPr/>
        </p:nvSpPr>
        <p:spPr>
          <a:xfrm>
            <a:off x="780610" y="3213096"/>
            <a:ext cx="2808390" cy="830997"/>
          </a:xfrm>
          <a:prstGeom prst="rect">
            <a:avLst/>
          </a:prstGeom>
          <a:noFill/>
        </p:spPr>
        <p:txBody>
          <a:bodyPr wrap="square" rtlCol="0">
            <a:spAutoFit/>
          </a:bodyPr>
          <a:lstStyle/>
          <a:p>
            <a:r>
              <a:rPr lang="en-US" dirty="0">
                <a:solidFill>
                  <a:srgbClr val="FF0000"/>
                </a:solidFill>
              </a:rPr>
              <a:t>Output: </a:t>
            </a:r>
            <a:endParaRPr lang="en-IN" dirty="0">
              <a:solidFill>
                <a:srgbClr val="FF0000"/>
              </a:solidFill>
            </a:endParaRPr>
          </a:p>
          <a:p>
            <a:endParaRPr lang="en-IN" dirty="0"/>
          </a:p>
        </p:txBody>
      </p:sp>
      <p:pic>
        <p:nvPicPr>
          <p:cNvPr id="6" name="Picture 5">
            <a:extLst>
              <a:ext uri="{FF2B5EF4-FFF2-40B4-BE49-F238E27FC236}">
                <a16:creationId xmlns:a16="http://schemas.microsoft.com/office/drawing/2014/main" id="{CC44369B-8DD3-9F09-83B0-DFD60D4C5D79}"/>
              </a:ext>
            </a:extLst>
          </p:cNvPr>
          <p:cNvPicPr>
            <a:picLocks noChangeAspect="1"/>
          </p:cNvPicPr>
          <p:nvPr/>
        </p:nvPicPr>
        <p:blipFill>
          <a:blip r:embed="rId2"/>
          <a:stretch>
            <a:fillRect/>
          </a:stretch>
        </p:blipFill>
        <p:spPr>
          <a:xfrm>
            <a:off x="780610" y="3886200"/>
            <a:ext cx="4464621" cy="3312460"/>
          </a:xfrm>
          <a:prstGeom prst="rect">
            <a:avLst/>
          </a:prstGeom>
        </p:spPr>
      </p:pic>
      <p:sp>
        <p:nvSpPr>
          <p:cNvPr id="5" name="TextBox 4">
            <a:extLst>
              <a:ext uri="{FF2B5EF4-FFF2-40B4-BE49-F238E27FC236}">
                <a16:creationId xmlns:a16="http://schemas.microsoft.com/office/drawing/2014/main" id="{368F1283-BB33-AF8D-FA65-A9969C421240}"/>
              </a:ext>
            </a:extLst>
          </p:cNvPr>
          <p:cNvSpPr txBox="1"/>
          <p:nvPr/>
        </p:nvSpPr>
        <p:spPr>
          <a:xfrm>
            <a:off x="2796890" y="260687"/>
            <a:ext cx="4320599" cy="830997"/>
          </a:xfrm>
          <a:prstGeom prst="rect">
            <a:avLst/>
          </a:prstGeom>
          <a:noFill/>
        </p:spPr>
        <p:txBody>
          <a:bodyPr wrap="square" rtlCol="0">
            <a:spAutoFit/>
          </a:bodyPr>
          <a:lstStyle/>
          <a:p>
            <a:r>
              <a:rPr lang="en-US" b="1" dirty="0">
                <a:solidFill>
                  <a:schemeClr val="bg1"/>
                </a:solidFill>
              </a:rPr>
              <a:t>7 Basic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2009156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E6457F-7416-936B-9067-9F60232DEA9E}"/>
              </a:ext>
            </a:extLst>
          </p:cNvPr>
          <p:cNvSpPr txBox="1"/>
          <p:nvPr/>
        </p:nvSpPr>
        <p:spPr>
          <a:xfrm>
            <a:off x="492570" y="1005800"/>
            <a:ext cx="6768940" cy="461665"/>
          </a:xfrm>
          <a:prstGeom prst="rect">
            <a:avLst/>
          </a:prstGeom>
          <a:noFill/>
        </p:spPr>
        <p:txBody>
          <a:bodyPr wrap="square" rtlCol="0">
            <a:spAutoFit/>
          </a:bodyPr>
          <a:lstStyle/>
          <a:p>
            <a:r>
              <a:rPr lang="en-US" dirty="0"/>
              <a:t>6. Members who issued books</a:t>
            </a:r>
            <a:endParaRPr lang="en-IN" dirty="0"/>
          </a:p>
        </p:txBody>
      </p:sp>
      <p:sp>
        <p:nvSpPr>
          <p:cNvPr id="4" name="TextBox 3">
            <a:extLst>
              <a:ext uri="{FF2B5EF4-FFF2-40B4-BE49-F238E27FC236}">
                <a16:creationId xmlns:a16="http://schemas.microsoft.com/office/drawing/2014/main" id="{023C2B7D-AB2F-158C-DBA8-2A5EF2984286}"/>
              </a:ext>
            </a:extLst>
          </p:cNvPr>
          <p:cNvSpPr txBox="1"/>
          <p:nvPr/>
        </p:nvSpPr>
        <p:spPr>
          <a:xfrm>
            <a:off x="852620" y="1467465"/>
            <a:ext cx="8929240" cy="1200329"/>
          </a:xfrm>
          <a:prstGeom prst="rect">
            <a:avLst/>
          </a:prstGeom>
          <a:noFill/>
          <a:ln>
            <a:solidFill>
              <a:schemeClr val="bg1">
                <a:lumMod val="85000"/>
              </a:schemeClr>
            </a:solidFill>
          </a:ln>
        </p:spPr>
        <p:txBody>
          <a:bodyPr wrap="square" rtlCol="0">
            <a:spAutoFit/>
          </a:bodyPr>
          <a:lstStyle/>
          <a:p>
            <a:r>
              <a:rPr lang="en-US" b="1" dirty="0">
                <a:solidFill>
                  <a:srgbClr val="7030A0"/>
                </a:solidFill>
              </a:rPr>
              <a:t>SQL&gt;SELECT Name FROM Member WHERE </a:t>
            </a:r>
            <a:r>
              <a:rPr lang="en-US" b="1" dirty="0" err="1">
                <a:solidFill>
                  <a:srgbClr val="7030A0"/>
                </a:solidFill>
              </a:rPr>
              <a:t>Member_ID</a:t>
            </a:r>
            <a:r>
              <a:rPr lang="en-US" b="1" dirty="0">
                <a:solidFill>
                  <a:srgbClr val="7030A0"/>
                </a:solidFill>
              </a:rPr>
              <a:t> IN (SELECT </a:t>
            </a:r>
            <a:r>
              <a:rPr lang="en-US" b="1" dirty="0" err="1">
                <a:solidFill>
                  <a:srgbClr val="7030A0"/>
                </a:solidFill>
              </a:rPr>
              <a:t>Member_ID</a:t>
            </a:r>
            <a:r>
              <a:rPr lang="en-US" b="1" dirty="0">
                <a:solidFill>
                  <a:srgbClr val="7030A0"/>
                </a:solidFill>
              </a:rPr>
              <a:t> FROM </a:t>
            </a:r>
            <a:r>
              <a:rPr lang="en-US" b="1" dirty="0" err="1">
                <a:solidFill>
                  <a:srgbClr val="7030A0"/>
                </a:solidFill>
              </a:rPr>
              <a:t>Issue_Transaction</a:t>
            </a:r>
            <a:r>
              <a:rPr lang="en-US" b="1" dirty="0">
                <a:solidFill>
                  <a:srgbClr val="7030A0"/>
                </a:solidFill>
              </a:rPr>
              <a:t>);</a:t>
            </a:r>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BE962A3C-D04F-F352-713E-A8F0116DA049}"/>
              </a:ext>
            </a:extLst>
          </p:cNvPr>
          <p:cNvPicPr>
            <a:picLocks noChangeAspect="1"/>
          </p:cNvPicPr>
          <p:nvPr/>
        </p:nvPicPr>
        <p:blipFill>
          <a:blip r:embed="rId2"/>
          <a:stretch>
            <a:fillRect/>
          </a:stretch>
        </p:blipFill>
        <p:spPr>
          <a:xfrm>
            <a:off x="924630" y="3943894"/>
            <a:ext cx="1872260" cy="3614816"/>
          </a:xfrm>
          <a:prstGeom prst="rect">
            <a:avLst/>
          </a:prstGeom>
        </p:spPr>
      </p:pic>
      <p:sp>
        <p:nvSpPr>
          <p:cNvPr id="6" name="TextBox 5">
            <a:extLst>
              <a:ext uri="{FF2B5EF4-FFF2-40B4-BE49-F238E27FC236}">
                <a16:creationId xmlns:a16="http://schemas.microsoft.com/office/drawing/2014/main" id="{E144594E-452F-952D-DFBA-A6062F2A88AE}"/>
              </a:ext>
            </a:extLst>
          </p:cNvPr>
          <p:cNvSpPr txBox="1"/>
          <p:nvPr/>
        </p:nvSpPr>
        <p:spPr>
          <a:xfrm>
            <a:off x="924630" y="3238110"/>
            <a:ext cx="2880400" cy="461665"/>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p:txBody>
      </p:sp>
      <p:sp>
        <p:nvSpPr>
          <p:cNvPr id="3" name="TextBox 2">
            <a:extLst>
              <a:ext uri="{FF2B5EF4-FFF2-40B4-BE49-F238E27FC236}">
                <a16:creationId xmlns:a16="http://schemas.microsoft.com/office/drawing/2014/main" id="{108BC083-D875-A578-CCE5-B33C06212D32}"/>
              </a:ext>
            </a:extLst>
          </p:cNvPr>
          <p:cNvSpPr txBox="1"/>
          <p:nvPr/>
        </p:nvSpPr>
        <p:spPr>
          <a:xfrm>
            <a:off x="2796890" y="213690"/>
            <a:ext cx="4464620" cy="830997"/>
          </a:xfrm>
          <a:prstGeom prst="rect">
            <a:avLst/>
          </a:prstGeom>
          <a:noFill/>
        </p:spPr>
        <p:txBody>
          <a:bodyPr wrap="square" rtlCol="0">
            <a:spAutoFit/>
          </a:bodyPr>
          <a:lstStyle/>
          <a:p>
            <a:r>
              <a:rPr lang="en-US" b="1" dirty="0">
                <a:solidFill>
                  <a:schemeClr val="bg1"/>
                </a:solidFill>
              </a:rPr>
              <a:t>7 Basic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60730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6E1764-E1BF-6AD9-C4F0-512586805D88}"/>
              </a:ext>
            </a:extLst>
          </p:cNvPr>
          <p:cNvSpPr txBox="1"/>
          <p:nvPr/>
        </p:nvSpPr>
        <p:spPr>
          <a:xfrm>
            <a:off x="636591" y="1005801"/>
            <a:ext cx="4104570" cy="830997"/>
          </a:xfrm>
          <a:prstGeom prst="rect">
            <a:avLst/>
          </a:prstGeom>
          <a:noFill/>
        </p:spPr>
        <p:txBody>
          <a:bodyPr wrap="square" rtlCol="0">
            <a:spAutoFit/>
          </a:bodyPr>
          <a:lstStyle/>
          <a:p>
            <a:r>
              <a:rPr lang="en-US" dirty="0"/>
              <a:t>7. Currently Issued Books</a:t>
            </a:r>
            <a:endParaRPr lang="en-IN" dirty="0"/>
          </a:p>
          <a:p>
            <a:endParaRPr lang="en-IN" dirty="0"/>
          </a:p>
        </p:txBody>
      </p:sp>
      <p:sp>
        <p:nvSpPr>
          <p:cNvPr id="3" name="TextBox 2">
            <a:extLst>
              <a:ext uri="{FF2B5EF4-FFF2-40B4-BE49-F238E27FC236}">
                <a16:creationId xmlns:a16="http://schemas.microsoft.com/office/drawing/2014/main" id="{BE462035-3581-6FDA-0F95-D08662C74C7C}"/>
              </a:ext>
            </a:extLst>
          </p:cNvPr>
          <p:cNvSpPr txBox="1"/>
          <p:nvPr/>
        </p:nvSpPr>
        <p:spPr>
          <a:xfrm>
            <a:off x="924630" y="1653890"/>
            <a:ext cx="8353160" cy="1569660"/>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Issue_ID</a:t>
            </a:r>
            <a:r>
              <a:rPr lang="en-US" b="1" dirty="0">
                <a:solidFill>
                  <a:srgbClr val="7030A0"/>
                </a:solidFill>
              </a:rPr>
              <a:t>, </a:t>
            </a:r>
            <a:r>
              <a:rPr lang="en-US" b="1" dirty="0" err="1">
                <a:solidFill>
                  <a:srgbClr val="7030A0"/>
                </a:solidFill>
              </a:rPr>
              <a:t>Member_ID</a:t>
            </a:r>
            <a:r>
              <a:rPr lang="en-US" b="1" dirty="0">
                <a:solidFill>
                  <a:srgbClr val="7030A0"/>
                </a:solidFill>
              </a:rPr>
              <a:t>, </a:t>
            </a:r>
            <a:r>
              <a:rPr lang="en-US" b="1" dirty="0" err="1">
                <a:solidFill>
                  <a:srgbClr val="7030A0"/>
                </a:solidFill>
              </a:rPr>
              <a:t>Book_ID</a:t>
            </a:r>
            <a:r>
              <a:rPr lang="en-US" b="1" dirty="0">
                <a:solidFill>
                  <a:srgbClr val="7030A0"/>
                </a:solidFill>
              </a:rPr>
              <a:t>, </a:t>
            </a:r>
            <a:r>
              <a:rPr lang="en-US" b="1" dirty="0" err="1">
                <a:solidFill>
                  <a:srgbClr val="7030A0"/>
                </a:solidFill>
              </a:rPr>
              <a:t>Issue_Date</a:t>
            </a:r>
            <a:r>
              <a:rPr lang="en-US" b="1" dirty="0">
                <a:solidFill>
                  <a:srgbClr val="7030A0"/>
                </a:solidFill>
              </a:rPr>
              <a:t> FROM </a:t>
            </a:r>
            <a:r>
              <a:rPr lang="en-US" b="1" dirty="0" err="1">
                <a:solidFill>
                  <a:srgbClr val="7030A0"/>
                </a:solidFill>
              </a:rPr>
              <a:t>Issue_Transaction</a:t>
            </a:r>
            <a:r>
              <a:rPr lang="en-US" b="1" dirty="0">
                <a:solidFill>
                  <a:srgbClr val="7030A0"/>
                </a:solidFill>
              </a:rPr>
              <a:t> WHERE STATUS='Issued';</a:t>
            </a:r>
          </a:p>
          <a:p>
            <a:endParaRPr lang="en-IN" b="1" dirty="0">
              <a:solidFill>
                <a:srgbClr val="7030A0"/>
              </a:solidFill>
            </a:endParaRPr>
          </a:p>
          <a:p>
            <a:endParaRPr lang="en-IN" dirty="0"/>
          </a:p>
        </p:txBody>
      </p:sp>
      <p:sp>
        <p:nvSpPr>
          <p:cNvPr id="5" name="TextBox 4">
            <a:extLst>
              <a:ext uri="{FF2B5EF4-FFF2-40B4-BE49-F238E27FC236}">
                <a16:creationId xmlns:a16="http://schemas.microsoft.com/office/drawing/2014/main" id="{44AB24BE-ECCF-0EE1-ED55-67431CFA6686}"/>
              </a:ext>
            </a:extLst>
          </p:cNvPr>
          <p:cNvSpPr txBox="1"/>
          <p:nvPr/>
        </p:nvSpPr>
        <p:spPr>
          <a:xfrm>
            <a:off x="924630" y="3742180"/>
            <a:ext cx="1872259" cy="461665"/>
          </a:xfrm>
          <a:prstGeom prst="rect">
            <a:avLst/>
          </a:prstGeom>
          <a:noFill/>
        </p:spPr>
        <p:txBody>
          <a:bodyPr wrap="square" rtlCol="0">
            <a:spAutoFit/>
          </a:bodyPr>
          <a:lstStyle/>
          <a:p>
            <a:r>
              <a:rPr lang="en-US" dirty="0">
                <a:solidFill>
                  <a:srgbClr val="FF0000"/>
                </a:solidFill>
              </a:rPr>
              <a:t>Output</a:t>
            </a:r>
            <a:endParaRPr lang="en-IN" dirty="0"/>
          </a:p>
        </p:txBody>
      </p:sp>
      <p:pic>
        <p:nvPicPr>
          <p:cNvPr id="8" name="Picture 7">
            <a:extLst>
              <a:ext uri="{FF2B5EF4-FFF2-40B4-BE49-F238E27FC236}">
                <a16:creationId xmlns:a16="http://schemas.microsoft.com/office/drawing/2014/main" id="{2F262526-8495-B22B-287D-55FF66BE85E7}"/>
              </a:ext>
            </a:extLst>
          </p:cNvPr>
          <p:cNvPicPr>
            <a:picLocks noChangeAspect="1"/>
          </p:cNvPicPr>
          <p:nvPr/>
        </p:nvPicPr>
        <p:blipFill>
          <a:blip r:embed="rId2"/>
          <a:stretch>
            <a:fillRect/>
          </a:stretch>
        </p:blipFill>
        <p:spPr>
          <a:xfrm>
            <a:off x="1032644" y="4529483"/>
            <a:ext cx="4500626" cy="2741187"/>
          </a:xfrm>
          <a:prstGeom prst="rect">
            <a:avLst/>
          </a:prstGeom>
        </p:spPr>
      </p:pic>
      <p:sp>
        <p:nvSpPr>
          <p:cNvPr id="4" name="TextBox 3">
            <a:extLst>
              <a:ext uri="{FF2B5EF4-FFF2-40B4-BE49-F238E27FC236}">
                <a16:creationId xmlns:a16="http://schemas.microsoft.com/office/drawing/2014/main" id="{9229AC12-CB8B-D5B5-436D-779BCB000F50}"/>
              </a:ext>
            </a:extLst>
          </p:cNvPr>
          <p:cNvSpPr txBox="1"/>
          <p:nvPr/>
        </p:nvSpPr>
        <p:spPr>
          <a:xfrm>
            <a:off x="2796889" y="213691"/>
            <a:ext cx="4608640" cy="830997"/>
          </a:xfrm>
          <a:prstGeom prst="rect">
            <a:avLst/>
          </a:prstGeom>
          <a:noFill/>
        </p:spPr>
        <p:txBody>
          <a:bodyPr wrap="square" rtlCol="0">
            <a:spAutoFit/>
          </a:bodyPr>
          <a:lstStyle/>
          <a:p>
            <a:r>
              <a:rPr lang="en-US" b="1" dirty="0">
                <a:solidFill>
                  <a:schemeClr val="bg1"/>
                </a:solidFill>
              </a:rPr>
              <a:t>7 Basic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585983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0D7896-D9EE-FFB7-9B7C-3A128F6FD6E7}"/>
              </a:ext>
            </a:extLst>
          </p:cNvPr>
          <p:cNvSpPr txBox="1"/>
          <p:nvPr/>
        </p:nvSpPr>
        <p:spPr>
          <a:xfrm>
            <a:off x="492570" y="1149820"/>
            <a:ext cx="9565830" cy="830997"/>
          </a:xfrm>
          <a:prstGeom prst="rect">
            <a:avLst/>
          </a:prstGeom>
          <a:noFill/>
        </p:spPr>
        <p:txBody>
          <a:bodyPr wrap="square" rtlCol="0">
            <a:spAutoFit/>
          </a:bodyPr>
          <a:lstStyle/>
          <a:p>
            <a:r>
              <a:rPr lang="en-US" dirty="0"/>
              <a:t>1.  Nested Query - Members who issued Database System Books</a:t>
            </a:r>
            <a:endParaRPr lang="en-IN" dirty="0"/>
          </a:p>
          <a:p>
            <a:endParaRPr lang="en-IN" dirty="0"/>
          </a:p>
        </p:txBody>
      </p:sp>
      <p:sp>
        <p:nvSpPr>
          <p:cNvPr id="3" name="TextBox 2">
            <a:extLst>
              <a:ext uri="{FF2B5EF4-FFF2-40B4-BE49-F238E27FC236}">
                <a16:creationId xmlns:a16="http://schemas.microsoft.com/office/drawing/2014/main" id="{279FA4E4-D3DE-5819-2831-F139ECD7D52C}"/>
              </a:ext>
            </a:extLst>
          </p:cNvPr>
          <p:cNvSpPr txBox="1"/>
          <p:nvPr/>
        </p:nvSpPr>
        <p:spPr>
          <a:xfrm>
            <a:off x="924630" y="1869920"/>
            <a:ext cx="8641200" cy="3785652"/>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Name</a:t>
            </a:r>
          </a:p>
          <a:p>
            <a:r>
              <a:rPr lang="en-US" b="1" dirty="0">
                <a:solidFill>
                  <a:srgbClr val="7030A0"/>
                </a:solidFill>
              </a:rPr>
              <a:t> FROM Member </a:t>
            </a:r>
          </a:p>
          <a:p>
            <a:r>
              <a:rPr lang="en-US" b="1" dirty="0">
                <a:solidFill>
                  <a:srgbClr val="7030A0"/>
                </a:solidFill>
              </a:rPr>
              <a:t>WHERE </a:t>
            </a:r>
            <a:r>
              <a:rPr lang="en-US" b="1" dirty="0" err="1">
                <a:solidFill>
                  <a:srgbClr val="7030A0"/>
                </a:solidFill>
              </a:rPr>
              <a:t>Member_ID</a:t>
            </a:r>
            <a:r>
              <a:rPr lang="en-US" b="1" dirty="0">
                <a:solidFill>
                  <a:srgbClr val="7030A0"/>
                </a:solidFill>
              </a:rPr>
              <a:t> IN( SELECT </a:t>
            </a:r>
            <a:r>
              <a:rPr lang="en-US" b="1" dirty="0" err="1">
                <a:solidFill>
                  <a:srgbClr val="7030A0"/>
                </a:solidFill>
              </a:rPr>
              <a:t>Member_ID</a:t>
            </a:r>
            <a:endParaRPr lang="en-US" b="1" dirty="0">
              <a:solidFill>
                <a:srgbClr val="7030A0"/>
              </a:solidFill>
            </a:endParaRPr>
          </a:p>
          <a:p>
            <a:r>
              <a:rPr lang="en-US" b="1" dirty="0">
                <a:solidFill>
                  <a:srgbClr val="7030A0"/>
                </a:solidFill>
              </a:rPr>
              <a:t>FROM </a:t>
            </a:r>
            <a:r>
              <a:rPr lang="en-US" b="1" dirty="0" err="1">
                <a:solidFill>
                  <a:srgbClr val="7030A0"/>
                </a:solidFill>
              </a:rPr>
              <a:t>Issue_Transaction</a:t>
            </a:r>
            <a:r>
              <a:rPr lang="en-US" b="1" dirty="0">
                <a:solidFill>
                  <a:srgbClr val="7030A0"/>
                </a:solidFill>
              </a:rPr>
              <a:t> </a:t>
            </a:r>
          </a:p>
          <a:p>
            <a:r>
              <a:rPr lang="en-US" b="1" dirty="0">
                <a:solidFill>
                  <a:srgbClr val="7030A0"/>
                </a:solidFill>
              </a:rPr>
              <a:t>WHERE </a:t>
            </a:r>
            <a:r>
              <a:rPr lang="en-US" b="1" dirty="0" err="1">
                <a:solidFill>
                  <a:srgbClr val="7030A0"/>
                </a:solidFill>
              </a:rPr>
              <a:t>Book_ID</a:t>
            </a:r>
            <a:r>
              <a:rPr lang="en-US" b="1" dirty="0">
                <a:solidFill>
                  <a:srgbClr val="7030A0"/>
                </a:solidFill>
              </a:rPr>
              <a:t> IN (SELECT </a:t>
            </a:r>
            <a:r>
              <a:rPr lang="en-US" b="1" dirty="0" err="1">
                <a:solidFill>
                  <a:srgbClr val="7030A0"/>
                </a:solidFill>
              </a:rPr>
              <a:t>Book_ID</a:t>
            </a:r>
            <a:r>
              <a:rPr lang="en-US" b="1" dirty="0">
                <a:solidFill>
                  <a:srgbClr val="7030A0"/>
                </a:solidFill>
              </a:rPr>
              <a:t> FROM Book </a:t>
            </a:r>
          </a:p>
          <a:p>
            <a:r>
              <a:rPr lang="en-US" b="1" dirty="0">
                <a:solidFill>
                  <a:srgbClr val="7030A0"/>
                </a:solidFill>
              </a:rPr>
              <a:t>WHERE </a:t>
            </a:r>
            <a:r>
              <a:rPr lang="en-US" b="1" dirty="0" err="1">
                <a:solidFill>
                  <a:srgbClr val="7030A0"/>
                </a:solidFill>
              </a:rPr>
              <a:t>Category_ID</a:t>
            </a:r>
            <a:r>
              <a:rPr lang="en-US" b="1" dirty="0">
                <a:solidFill>
                  <a:srgbClr val="7030A0"/>
                </a:solidFill>
              </a:rPr>
              <a:t> IN( SELECT </a:t>
            </a:r>
            <a:r>
              <a:rPr lang="en-US" b="1" dirty="0" err="1">
                <a:solidFill>
                  <a:srgbClr val="7030A0"/>
                </a:solidFill>
              </a:rPr>
              <a:t>Category_ID</a:t>
            </a:r>
            <a:endParaRPr lang="en-US" b="1" dirty="0">
              <a:solidFill>
                <a:srgbClr val="7030A0"/>
              </a:solidFill>
            </a:endParaRPr>
          </a:p>
          <a:p>
            <a:r>
              <a:rPr lang="en-US" b="1" dirty="0">
                <a:solidFill>
                  <a:srgbClr val="7030A0"/>
                </a:solidFill>
              </a:rPr>
              <a:t>FROM Category WHERE </a:t>
            </a:r>
            <a:r>
              <a:rPr lang="en-US" b="1" dirty="0" err="1">
                <a:solidFill>
                  <a:srgbClr val="7030A0"/>
                </a:solidFill>
              </a:rPr>
              <a:t>Category_Name</a:t>
            </a:r>
            <a:r>
              <a:rPr lang="en-US" b="1" dirty="0">
                <a:solidFill>
                  <a:srgbClr val="7030A0"/>
                </a:solidFill>
              </a:rPr>
              <a:t>='Database Systems')));</a:t>
            </a:r>
          </a:p>
          <a:p>
            <a:endParaRPr lang="en-IN" b="1" dirty="0">
              <a:solidFill>
                <a:srgbClr val="7030A0"/>
              </a:solidFill>
            </a:endParaRPr>
          </a:p>
          <a:p>
            <a:endParaRPr lang="en-IN" dirty="0"/>
          </a:p>
        </p:txBody>
      </p:sp>
      <p:pic>
        <p:nvPicPr>
          <p:cNvPr id="5" name="Picture 4">
            <a:extLst>
              <a:ext uri="{FF2B5EF4-FFF2-40B4-BE49-F238E27FC236}">
                <a16:creationId xmlns:a16="http://schemas.microsoft.com/office/drawing/2014/main" id="{2BEB1503-8FD4-89C5-BA12-A30E2FF1D2C7}"/>
              </a:ext>
            </a:extLst>
          </p:cNvPr>
          <p:cNvPicPr>
            <a:picLocks noChangeAspect="1"/>
          </p:cNvPicPr>
          <p:nvPr/>
        </p:nvPicPr>
        <p:blipFill>
          <a:blip r:embed="rId2"/>
          <a:stretch>
            <a:fillRect/>
          </a:stretch>
        </p:blipFill>
        <p:spPr>
          <a:xfrm>
            <a:off x="2580860" y="5830470"/>
            <a:ext cx="1798470" cy="1368190"/>
          </a:xfrm>
          <a:prstGeom prst="rect">
            <a:avLst/>
          </a:prstGeom>
        </p:spPr>
      </p:pic>
      <p:sp>
        <p:nvSpPr>
          <p:cNvPr id="6" name="TextBox 5">
            <a:extLst>
              <a:ext uri="{FF2B5EF4-FFF2-40B4-BE49-F238E27FC236}">
                <a16:creationId xmlns:a16="http://schemas.microsoft.com/office/drawing/2014/main" id="{D081D913-D3F2-E930-69AF-9B1113D646D4}"/>
              </a:ext>
            </a:extLst>
          </p:cNvPr>
          <p:cNvSpPr txBox="1"/>
          <p:nvPr/>
        </p:nvSpPr>
        <p:spPr>
          <a:xfrm>
            <a:off x="1140660" y="5686450"/>
            <a:ext cx="2232310" cy="461665"/>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p:txBody>
      </p:sp>
      <p:sp>
        <p:nvSpPr>
          <p:cNvPr id="4" name="TextBox 3">
            <a:extLst>
              <a:ext uri="{FF2B5EF4-FFF2-40B4-BE49-F238E27FC236}">
                <a16:creationId xmlns:a16="http://schemas.microsoft.com/office/drawing/2014/main" id="{9A104F03-D4C4-9662-F57F-DD1769E412F9}"/>
              </a:ext>
            </a:extLst>
          </p:cNvPr>
          <p:cNvSpPr txBox="1"/>
          <p:nvPr/>
        </p:nvSpPr>
        <p:spPr>
          <a:xfrm>
            <a:off x="2652870" y="262686"/>
            <a:ext cx="4896680" cy="461666"/>
          </a:xfrm>
          <a:prstGeom prst="rect">
            <a:avLst/>
          </a:prstGeom>
          <a:noFill/>
        </p:spPr>
        <p:txBody>
          <a:bodyPr wrap="square" rtlCol="0">
            <a:spAutoFit/>
          </a:bodyPr>
          <a:lstStyle/>
          <a:p>
            <a:r>
              <a:rPr lang="en-US" b="1" dirty="0">
                <a:solidFill>
                  <a:schemeClr val="bg1"/>
                </a:solidFill>
              </a:rPr>
              <a:t>8 Advanced queries &amp; Outputs</a:t>
            </a:r>
            <a:endParaRPr lang="en-IN" b="1" dirty="0">
              <a:solidFill>
                <a:schemeClr val="bg1"/>
              </a:solidFill>
            </a:endParaRPr>
          </a:p>
        </p:txBody>
      </p:sp>
    </p:spTree>
    <p:extLst>
      <p:ext uri="{BB962C8B-B14F-4D97-AF65-F5344CB8AC3E}">
        <p14:creationId xmlns:p14="http://schemas.microsoft.com/office/powerpoint/2010/main" val="212499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4190C8-88C5-45BC-A8C3-43857D37BE94}"/>
              </a:ext>
            </a:extLst>
          </p:cNvPr>
          <p:cNvSpPr txBox="1"/>
          <p:nvPr/>
        </p:nvSpPr>
        <p:spPr>
          <a:xfrm>
            <a:off x="636590" y="1149820"/>
            <a:ext cx="8785219" cy="830997"/>
          </a:xfrm>
          <a:prstGeom prst="rect">
            <a:avLst/>
          </a:prstGeom>
          <a:noFill/>
        </p:spPr>
        <p:txBody>
          <a:bodyPr wrap="square" rtlCol="0">
            <a:spAutoFit/>
          </a:bodyPr>
          <a:lstStyle/>
          <a:p>
            <a:r>
              <a:rPr lang="en-US" dirty="0"/>
              <a:t>2. ANY Operator – Books with higher available copies</a:t>
            </a:r>
            <a:endParaRPr lang="en-IN" dirty="0"/>
          </a:p>
          <a:p>
            <a:endParaRPr lang="en-IN" dirty="0"/>
          </a:p>
        </p:txBody>
      </p:sp>
      <p:sp>
        <p:nvSpPr>
          <p:cNvPr id="4" name="TextBox 3">
            <a:extLst>
              <a:ext uri="{FF2B5EF4-FFF2-40B4-BE49-F238E27FC236}">
                <a16:creationId xmlns:a16="http://schemas.microsoft.com/office/drawing/2014/main" id="{F118AC96-F8CE-B216-F326-EACF354AC2A7}"/>
              </a:ext>
            </a:extLst>
          </p:cNvPr>
          <p:cNvSpPr txBox="1"/>
          <p:nvPr/>
        </p:nvSpPr>
        <p:spPr>
          <a:xfrm>
            <a:off x="924630" y="1869920"/>
            <a:ext cx="8497179" cy="1569661"/>
          </a:xfrm>
          <a:prstGeom prst="rect">
            <a:avLst/>
          </a:prstGeom>
          <a:noFill/>
        </p:spPr>
        <p:txBody>
          <a:bodyPr wrap="square" rtlCol="0">
            <a:spAutoFit/>
          </a:bodyPr>
          <a:lstStyle/>
          <a:p>
            <a:r>
              <a:rPr lang="en-US" b="1" dirty="0">
                <a:solidFill>
                  <a:srgbClr val="7030A0"/>
                </a:solidFill>
              </a:rPr>
              <a:t>SQL&gt;SELECT </a:t>
            </a:r>
            <a:r>
              <a:rPr lang="en-US" b="1" dirty="0" err="1">
                <a:solidFill>
                  <a:srgbClr val="7030A0"/>
                </a:solidFill>
              </a:rPr>
              <a:t>Book_ID</a:t>
            </a:r>
            <a:r>
              <a:rPr lang="en-US" b="1" dirty="0">
                <a:solidFill>
                  <a:srgbClr val="7030A0"/>
                </a:solidFill>
              </a:rPr>
              <a:t>, Title, Available Copies FROM Book WHERE </a:t>
            </a:r>
            <a:r>
              <a:rPr lang="en-US" b="1" dirty="0" err="1">
                <a:solidFill>
                  <a:srgbClr val="7030A0"/>
                </a:solidFill>
              </a:rPr>
              <a:t>Available_Copies</a:t>
            </a:r>
            <a:r>
              <a:rPr lang="en-US" b="1" dirty="0">
                <a:solidFill>
                  <a:srgbClr val="7030A0"/>
                </a:solidFill>
              </a:rPr>
              <a:t> &gt; ANY (SELECT </a:t>
            </a:r>
            <a:r>
              <a:rPr lang="en-US" b="1" dirty="0" err="1">
                <a:solidFill>
                  <a:srgbClr val="7030A0"/>
                </a:solidFill>
              </a:rPr>
              <a:t>Available_Copies</a:t>
            </a:r>
            <a:r>
              <a:rPr lang="en-US" b="1" dirty="0">
                <a:solidFill>
                  <a:srgbClr val="7030A0"/>
                </a:solidFill>
              </a:rPr>
              <a:t> FROM Book WHERE </a:t>
            </a:r>
            <a:r>
              <a:rPr lang="en-US" b="1" dirty="0" err="1">
                <a:solidFill>
                  <a:srgbClr val="7030A0"/>
                </a:solidFill>
              </a:rPr>
              <a:t>Category_ID</a:t>
            </a:r>
            <a:r>
              <a:rPr lang="en-US" b="1" dirty="0">
                <a:solidFill>
                  <a:srgbClr val="7030A0"/>
                </a:solidFill>
              </a:rPr>
              <a:t>=1);</a:t>
            </a:r>
            <a:endParaRPr lang="en-IN" b="1" dirty="0">
              <a:solidFill>
                <a:srgbClr val="7030A0"/>
              </a:solidFill>
            </a:endParaRPr>
          </a:p>
          <a:p>
            <a:endParaRPr lang="en-IN" dirty="0"/>
          </a:p>
        </p:txBody>
      </p:sp>
      <p:sp>
        <p:nvSpPr>
          <p:cNvPr id="5" name="TextBox 4">
            <a:extLst>
              <a:ext uri="{FF2B5EF4-FFF2-40B4-BE49-F238E27FC236}">
                <a16:creationId xmlns:a16="http://schemas.microsoft.com/office/drawing/2014/main" id="{403BA68B-579D-1C32-E6C3-C2DF288E4CB4}"/>
              </a:ext>
            </a:extLst>
          </p:cNvPr>
          <p:cNvSpPr txBox="1"/>
          <p:nvPr/>
        </p:nvSpPr>
        <p:spPr>
          <a:xfrm>
            <a:off x="924630" y="3526151"/>
            <a:ext cx="2520350" cy="830997"/>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a:p>
            <a:endParaRPr lang="en-IN" dirty="0"/>
          </a:p>
        </p:txBody>
      </p:sp>
      <p:pic>
        <p:nvPicPr>
          <p:cNvPr id="7" name="Picture 6">
            <a:extLst>
              <a:ext uri="{FF2B5EF4-FFF2-40B4-BE49-F238E27FC236}">
                <a16:creationId xmlns:a16="http://schemas.microsoft.com/office/drawing/2014/main" id="{1824F121-B238-02C6-C0C0-EDA82A0CFE66}"/>
              </a:ext>
            </a:extLst>
          </p:cNvPr>
          <p:cNvPicPr>
            <a:picLocks noChangeAspect="1"/>
          </p:cNvPicPr>
          <p:nvPr/>
        </p:nvPicPr>
        <p:blipFill>
          <a:blip r:embed="rId2"/>
          <a:stretch>
            <a:fillRect/>
          </a:stretch>
        </p:blipFill>
        <p:spPr>
          <a:xfrm>
            <a:off x="949792" y="4177132"/>
            <a:ext cx="6023678" cy="2085398"/>
          </a:xfrm>
          <a:prstGeom prst="rect">
            <a:avLst/>
          </a:prstGeom>
        </p:spPr>
      </p:pic>
      <p:sp>
        <p:nvSpPr>
          <p:cNvPr id="2" name="TextBox 1">
            <a:extLst>
              <a:ext uri="{FF2B5EF4-FFF2-40B4-BE49-F238E27FC236}">
                <a16:creationId xmlns:a16="http://schemas.microsoft.com/office/drawing/2014/main" id="{2343B0AA-8AF7-E8A6-18C2-3750A32C9CBC}"/>
              </a:ext>
            </a:extLst>
          </p:cNvPr>
          <p:cNvSpPr txBox="1"/>
          <p:nvPr/>
        </p:nvSpPr>
        <p:spPr>
          <a:xfrm>
            <a:off x="2652870" y="213691"/>
            <a:ext cx="4752660" cy="830997"/>
          </a:xfrm>
          <a:prstGeom prst="rect">
            <a:avLst/>
          </a:prstGeom>
          <a:noFill/>
        </p:spPr>
        <p:txBody>
          <a:bodyPr wrap="square" rtlCol="0">
            <a:spAutoFit/>
          </a:bodyPr>
          <a:lstStyle/>
          <a:p>
            <a:r>
              <a:rPr lang="en-US" b="1" dirty="0">
                <a:solidFill>
                  <a:schemeClr val="bg1"/>
                </a:solidFill>
              </a:rPr>
              <a:t>8 Advanced queries &amp; Outputs</a:t>
            </a:r>
            <a:endParaRPr lang="en-IN" b="1" dirty="0">
              <a:solidFill>
                <a:schemeClr val="bg1"/>
              </a:solidFill>
            </a:endParaRPr>
          </a:p>
          <a:p>
            <a:endParaRPr lang="en-IN" dirty="0"/>
          </a:p>
        </p:txBody>
      </p:sp>
    </p:spTree>
    <p:extLst>
      <p:ext uri="{BB962C8B-B14F-4D97-AF65-F5344CB8AC3E}">
        <p14:creationId xmlns:p14="http://schemas.microsoft.com/office/powerpoint/2010/main" val="3517169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0A7C0-77F2-AE2E-7D0C-CC9A253614AA}"/>
              </a:ext>
            </a:extLst>
          </p:cNvPr>
          <p:cNvSpPr txBox="1"/>
          <p:nvPr/>
        </p:nvSpPr>
        <p:spPr>
          <a:xfrm>
            <a:off x="636590" y="1221830"/>
            <a:ext cx="9145270" cy="830997"/>
          </a:xfrm>
          <a:prstGeom prst="rect">
            <a:avLst/>
          </a:prstGeom>
          <a:noFill/>
        </p:spPr>
        <p:txBody>
          <a:bodyPr wrap="square" rtlCol="0">
            <a:spAutoFit/>
          </a:bodyPr>
          <a:lstStyle/>
          <a:p>
            <a:r>
              <a:rPr lang="en-US" dirty="0"/>
              <a:t>3. EXISTS Operator – Librarians who issued books </a:t>
            </a:r>
            <a:endParaRPr lang="en-IN" dirty="0"/>
          </a:p>
          <a:p>
            <a:endParaRPr lang="en-IN" dirty="0"/>
          </a:p>
        </p:txBody>
      </p:sp>
      <p:sp>
        <p:nvSpPr>
          <p:cNvPr id="5" name="TextBox 4">
            <a:extLst>
              <a:ext uri="{FF2B5EF4-FFF2-40B4-BE49-F238E27FC236}">
                <a16:creationId xmlns:a16="http://schemas.microsoft.com/office/drawing/2014/main" id="{21B57010-8111-5B5F-FB9D-A4ACE123F8A0}"/>
              </a:ext>
            </a:extLst>
          </p:cNvPr>
          <p:cNvSpPr txBox="1"/>
          <p:nvPr/>
        </p:nvSpPr>
        <p:spPr>
          <a:xfrm>
            <a:off x="996640" y="1869920"/>
            <a:ext cx="8425169" cy="1569660"/>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Librarian_name</a:t>
            </a:r>
            <a:r>
              <a:rPr lang="en-US" b="1" dirty="0">
                <a:solidFill>
                  <a:srgbClr val="7030A0"/>
                </a:solidFill>
              </a:rPr>
              <a:t> FROM Librarian L WHERE EXISTS ( SELECT 1 FROM </a:t>
            </a:r>
            <a:r>
              <a:rPr lang="en-US" b="1" dirty="0" err="1">
                <a:solidFill>
                  <a:srgbClr val="7030A0"/>
                </a:solidFill>
              </a:rPr>
              <a:t>Issue_Transaction</a:t>
            </a:r>
            <a:r>
              <a:rPr lang="en-US" b="1" dirty="0">
                <a:solidFill>
                  <a:srgbClr val="7030A0"/>
                </a:solidFill>
              </a:rPr>
              <a:t> I WHERE </a:t>
            </a:r>
            <a:r>
              <a:rPr lang="en-US" b="1" dirty="0" err="1">
                <a:solidFill>
                  <a:srgbClr val="7030A0"/>
                </a:solidFill>
              </a:rPr>
              <a:t>I.Librarian_ID</a:t>
            </a:r>
            <a:r>
              <a:rPr lang="en-US" b="1" dirty="0">
                <a:solidFill>
                  <a:srgbClr val="7030A0"/>
                </a:solidFill>
              </a:rPr>
              <a:t>=</a:t>
            </a:r>
            <a:r>
              <a:rPr lang="en-US" b="1" dirty="0" err="1">
                <a:solidFill>
                  <a:srgbClr val="7030A0"/>
                </a:solidFill>
              </a:rPr>
              <a:t>L.Librarian_ID</a:t>
            </a:r>
            <a:r>
              <a:rPr lang="en-US" b="1" dirty="0">
                <a:solidFill>
                  <a:srgbClr val="7030A0"/>
                </a:solidFill>
              </a:rPr>
              <a:t>);</a:t>
            </a:r>
            <a:endParaRPr lang="en-IN" b="1" dirty="0">
              <a:solidFill>
                <a:srgbClr val="7030A0"/>
              </a:solidFill>
            </a:endParaRPr>
          </a:p>
          <a:p>
            <a:endParaRPr lang="en-IN" dirty="0"/>
          </a:p>
        </p:txBody>
      </p:sp>
      <p:pic>
        <p:nvPicPr>
          <p:cNvPr id="7" name="Picture 6">
            <a:extLst>
              <a:ext uri="{FF2B5EF4-FFF2-40B4-BE49-F238E27FC236}">
                <a16:creationId xmlns:a16="http://schemas.microsoft.com/office/drawing/2014/main" id="{A586C269-27D2-43FD-7E23-9A0D38F4F36D}"/>
              </a:ext>
            </a:extLst>
          </p:cNvPr>
          <p:cNvPicPr>
            <a:picLocks noChangeAspect="1"/>
          </p:cNvPicPr>
          <p:nvPr/>
        </p:nvPicPr>
        <p:blipFill>
          <a:blip r:embed="rId2"/>
          <a:stretch>
            <a:fillRect/>
          </a:stretch>
        </p:blipFill>
        <p:spPr>
          <a:xfrm>
            <a:off x="996640" y="4966350"/>
            <a:ext cx="2306065" cy="2169678"/>
          </a:xfrm>
          <a:prstGeom prst="rect">
            <a:avLst/>
          </a:prstGeom>
        </p:spPr>
      </p:pic>
      <p:sp>
        <p:nvSpPr>
          <p:cNvPr id="8" name="TextBox 7">
            <a:extLst>
              <a:ext uri="{FF2B5EF4-FFF2-40B4-BE49-F238E27FC236}">
                <a16:creationId xmlns:a16="http://schemas.microsoft.com/office/drawing/2014/main" id="{69530126-1518-0520-3A13-E0E686B450A6}"/>
              </a:ext>
            </a:extLst>
          </p:cNvPr>
          <p:cNvSpPr txBox="1"/>
          <p:nvPr/>
        </p:nvSpPr>
        <p:spPr>
          <a:xfrm>
            <a:off x="996640" y="4087670"/>
            <a:ext cx="2306065" cy="461665"/>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p:txBody>
      </p:sp>
      <p:sp>
        <p:nvSpPr>
          <p:cNvPr id="3" name="TextBox 2">
            <a:extLst>
              <a:ext uri="{FF2B5EF4-FFF2-40B4-BE49-F238E27FC236}">
                <a16:creationId xmlns:a16="http://schemas.microsoft.com/office/drawing/2014/main" id="{D93E7CDA-6E05-6E63-C84D-6EE5B539CF4C}"/>
              </a:ext>
            </a:extLst>
          </p:cNvPr>
          <p:cNvSpPr txBox="1"/>
          <p:nvPr/>
        </p:nvSpPr>
        <p:spPr>
          <a:xfrm>
            <a:off x="2508850" y="213691"/>
            <a:ext cx="4896679" cy="1242960"/>
          </a:xfrm>
          <a:prstGeom prst="rect">
            <a:avLst/>
          </a:prstGeom>
          <a:noFill/>
        </p:spPr>
        <p:txBody>
          <a:bodyPr wrap="square" rtlCol="0">
            <a:spAutoFit/>
          </a:bodyPr>
          <a:lstStyle/>
          <a:p>
            <a:r>
              <a:rPr lang="en-US" dirty="0"/>
              <a:t>  </a:t>
            </a:r>
            <a:r>
              <a:rPr lang="en-US" b="1" dirty="0">
                <a:solidFill>
                  <a:schemeClr val="bg1"/>
                </a:solidFill>
              </a:rPr>
              <a:t>8 Advanced queries &amp; Outputs</a:t>
            </a:r>
            <a:endParaRPr lang="en-IN" b="1" dirty="0">
              <a:solidFill>
                <a:schemeClr val="bg1"/>
              </a:solidFill>
            </a:endParaRPr>
          </a:p>
          <a:p>
            <a:endParaRPr lang="en-IN" dirty="0"/>
          </a:p>
          <a:p>
            <a:endParaRPr lang="en-IN" dirty="0"/>
          </a:p>
        </p:txBody>
      </p:sp>
    </p:spTree>
    <p:extLst>
      <p:ext uri="{BB962C8B-B14F-4D97-AF65-F5344CB8AC3E}">
        <p14:creationId xmlns:p14="http://schemas.microsoft.com/office/powerpoint/2010/main" val="2060190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36AC82-350A-E9C5-C642-B029BF10F4D0}"/>
              </a:ext>
            </a:extLst>
          </p:cNvPr>
          <p:cNvSpPr txBox="1"/>
          <p:nvPr/>
        </p:nvSpPr>
        <p:spPr>
          <a:xfrm>
            <a:off x="564580" y="1149820"/>
            <a:ext cx="8281150" cy="830997"/>
          </a:xfrm>
          <a:prstGeom prst="rect">
            <a:avLst/>
          </a:prstGeom>
          <a:noFill/>
        </p:spPr>
        <p:txBody>
          <a:bodyPr wrap="square" rtlCol="0">
            <a:spAutoFit/>
          </a:bodyPr>
          <a:lstStyle/>
          <a:p>
            <a:r>
              <a:rPr lang="en-US" dirty="0"/>
              <a:t>4. NOT EXISTS Operator – Librarians with no transactions</a:t>
            </a:r>
            <a:endParaRPr lang="en-IN" dirty="0"/>
          </a:p>
          <a:p>
            <a:endParaRPr lang="en-IN" dirty="0"/>
          </a:p>
        </p:txBody>
      </p:sp>
      <p:sp>
        <p:nvSpPr>
          <p:cNvPr id="4" name="TextBox 3">
            <a:extLst>
              <a:ext uri="{FF2B5EF4-FFF2-40B4-BE49-F238E27FC236}">
                <a16:creationId xmlns:a16="http://schemas.microsoft.com/office/drawing/2014/main" id="{1E80B12A-48FE-0D36-3B62-A485634D116C}"/>
              </a:ext>
            </a:extLst>
          </p:cNvPr>
          <p:cNvSpPr txBox="1"/>
          <p:nvPr/>
        </p:nvSpPr>
        <p:spPr>
          <a:xfrm>
            <a:off x="996640" y="1869921"/>
            <a:ext cx="8641200" cy="1569660"/>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Librarian_name</a:t>
            </a:r>
            <a:r>
              <a:rPr lang="en-US" b="1" dirty="0">
                <a:solidFill>
                  <a:srgbClr val="7030A0"/>
                </a:solidFill>
              </a:rPr>
              <a:t> FROM Librarian L WHERE NOT EXISTS( SELECT 1 FROM </a:t>
            </a:r>
            <a:r>
              <a:rPr lang="en-US" b="1" dirty="0" err="1">
                <a:solidFill>
                  <a:srgbClr val="7030A0"/>
                </a:solidFill>
              </a:rPr>
              <a:t>Issue_Transaction</a:t>
            </a:r>
            <a:r>
              <a:rPr lang="en-US" b="1" dirty="0">
                <a:solidFill>
                  <a:srgbClr val="7030A0"/>
                </a:solidFill>
              </a:rPr>
              <a:t> I WHERE </a:t>
            </a:r>
            <a:r>
              <a:rPr lang="en-US" b="1" dirty="0" err="1">
                <a:solidFill>
                  <a:srgbClr val="7030A0"/>
                </a:solidFill>
              </a:rPr>
              <a:t>I.Librarian_ID</a:t>
            </a:r>
            <a:r>
              <a:rPr lang="en-US" b="1" dirty="0">
                <a:solidFill>
                  <a:srgbClr val="7030A0"/>
                </a:solidFill>
              </a:rPr>
              <a:t> = </a:t>
            </a:r>
            <a:r>
              <a:rPr lang="en-US" b="1" dirty="0" err="1">
                <a:solidFill>
                  <a:srgbClr val="7030A0"/>
                </a:solidFill>
              </a:rPr>
              <a:t>L.Librarian_ID</a:t>
            </a:r>
            <a:r>
              <a:rPr lang="en-US" b="1" dirty="0">
                <a:solidFill>
                  <a:srgbClr val="7030A0"/>
                </a:solidFill>
              </a:rPr>
              <a:t>);</a:t>
            </a:r>
            <a:endParaRPr lang="en-IN" b="1" dirty="0">
              <a:solidFill>
                <a:srgbClr val="7030A0"/>
              </a:solidFill>
            </a:endParaRPr>
          </a:p>
          <a:p>
            <a:endParaRPr lang="en-IN" dirty="0"/>
          </a:p>
        </p:txBody>
      </p:sp>
      <p:sp>
        <p:nvSpPr>
          <p:cNvPr id="5" name="TextBox 4">
            <a:extLst>
              <a:ext uri="{FF2B5EF4-FFF2-40B4-BE49-F238E27FC236}">
                <a16:creationId xmlns:a16="http://schemas.microsoft.com/office/drawing/2014/main" id="{B5C4A763-2EF4-DC0E-1313-C64EE28C58D4}"/>
              </a:ext>
            </a:extLst>
          </p:cNvPr>
          <p:cNvSpPr txBox="1"/>
          <p:nvPr/>
        </p:nvSpPr>
        <p:spPr>
          <a:xfrm>
            <a:off x="996640" y="4030221"/>
            <a:ext cx="2160300" cy="830997"/>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a:p>
            <a:endParaRPr lang="en-IN" dirty="0"/>
          </a:p>
        </p:txBody>
      </p:sp>
      <p:pic>
        <p:nvPicPr>
          <p:cNvPr id="8" name="Picture 7">
            <a:extLst>
              <a:ext uri="{FF2B5EF4-FFF2-40B4-BE49-F238E27FC236}">
                <a16:creationId xmlns:a16="http://schemas.microsoft.com/office/drawing/2014/main" id="{045FFC0E-EC34-1FAF-2A59-6B83B630BD9C}"/>
              </a:ext>
            </a:extLst>
          </p:cNvPr>
          <p:cNvPicPr>
            <a:picLocks noChangeAspect="1"/>
          </p:cNvPicPr>
          <p:nvPr/>
        </p:nvPicPr>
        <p:blipFill>
          <a:blip r:embed="rId2"/>
          <a:stretch>
            <a:fillRect/>
          </a:stretch>
        </p:blipFill>
        <p:spPr>
          <a:xfrm>
            <a:off x="1140660" y="4721255"/>
            <a:ext cx="2664370" cy="2477405"/>
          </a:xfrm>
          <a:prstGeom prst="rect">
            <a:avLst/>
          </a:prstGeom>
        </p:spPr>
      </p:pic>
      <p:sp>
        <p:nvSpPr>
          <p:cNvPr id="2" name="TextBox 1">
            <a:extLst>
              <a:ext uri="{FF2B5EF4-FFF2-40B4-BE49-F238E27FC236}">
                <a16:creationId xmlns:a16="http://schemas.microsoft.com/office/drawing/2014/main" id="{195D08E2-BE92-6433-861E-022A517F34B1}"/>
              </a:ext>
            </a:extLst>
          </p:cNvPr>
          <p:cNvSpPr txBox="1"/>
          <p:nvPr/>
        </p:nvSpPr>
        <p:spPr>
          <a:xfrm>
            <a:off x="2580860" y="213690"/>
            <a:ext cx="4968690" cy="1200329"/>
          </a:xfrm>
          <a:prstGeom prst="rect">
            <a:avLst/>
          </a:prstGeom>
          <a:noFill/>
        </p:spPr>
        <p:txBody>
          <a:bodyPr wrap="square" rtlCol="0">
            <a:spAutoFit/>
          </a:bodyPr>
          <a:lstStyle/>
          <a:p>
            <a:r>
              <a:rPr lang="en-US" dirty="0"/>
              <a:t> </a:t>
            </a:r>
            <a:r>
              <a:rPr lang="en-US" b="1" dirty="0">
                <a:solidFill>
                  <a:schemeClr val="bg1"/>
                </a:solidFill>
              </a:rPr>
              <a:t>8 Advanced queries &amp; Outputs</a:t>
            </a:r>
            <a:endParaRPr lang="en-IN" b="1" dirty="0">
              <a:solidFill>
                <a:schemeClr val="bg1"/>
              </a:solidFill>
            </a:endParaRPr>
          </a:p>
          <a:p>
            <a:endParaRPr lang="en-IN" dirty="0"/>
          </a:p>
          <a:p>
            <a:endParaRPr lang="en-IN" dirty="0"/>
          </a:p>
        </p:txBody>
      </p:sp>
    </p:spTree>
    <p:extLst>
      <p:ext uri="{BB962C8B-B14F-4D97-AF65-F5344CB8AC3E}">
        <p14:creationId xmlns:p14="http://schemas.microsoft.com/office/powerpoint/2010/main" val="2815025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01ABAB-19F8-E2E5-5BEE-A0988D4943B3}"/>
              </a:ext>
            </a:extLst>
          </p:cNvPr>
          <p:cNvSpPr txBox="1"/>
          <p:nvPr/>
        </p:nvSpPr>
        <p:spPr>
          <a:xfrm>
            <a:off x="564580" y="1077811"/>
            <a:ext cx="5760799" cy="830997"/>
          </a:xfrm>
          <a:prstGeom prst="rect">
            <a:avLst/>
          </a:prstGeom>
          <a:noFill/>
        </p:spPr>
        <p:txBody>
          <a:bodyPr wrap="square" rtlCol="0">
            <a:spAutoFit/>
          </a:bodyPr>
          <a:lstStyle/>
          <a:p>
            <a:r>
              <a:rPr lang="en-US" dirty="0"/>
              <a:t>5. Unpaid fines</a:t>
            </a:r>
            <a:endParaRPr lang="en-IN" dirty="0"/>
          </a:p>
          <a:p>
            <a:endParaRPr lang="en-IN" dirty="0"/>
          </a:p>
        </p:txBody>
      </p:sp>
      <p:sp>
        <p:nvSpPr>
          <p:cNvPr id="4" name="TextBox 3">
            <a:extLst>
              <a:ext uri="{FF2B5EF4-FFF2-40B4-BE49-F238E27FC236}">
                <a16:creationId xmlns:a16="http://schemas.microsoft.com/office/drawing/2014/main" id="{E03BC9D5-5659-3B0E-378E-A80CD8249728}"/>
              </a:ext>
            </a:extLst>
          </p:cNvPr>
          <p:cNvSpPr txBox="1"/>
          <p:nvPr/>
        </p:nvSpPr>
        <p:spPr>
          <a:xfrm>
            <a:off x="924630" y="1725900"/>
            <a:ext cx="8785220" cy="1200329"/>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Fine_ID</a:t>
            </a:r>
            <a:r>
              <a:rPr lang="en-US" b="1" dirty="0">
                <a:solidFill>
                  <a:srgbClr val="7030A0"/>
                </a:solidFill>
              </a:rPr>
              <a:t>, </a:t>
            </a:r>
            <a:r>
              <a:rPr lang="en-US" b="1" dirty="0" err="1">
                <a:solidFill>
                  <a:srgbClr val="7030A0"/>
                </a:solidFill>
              </a:rPr>
              <a:t>Issue_ID</a:t>
            </a:r>
            <a:r>
              <a:rPr lang="en-US" b="1" dirty="0">
                <a:solidFill>
                  <a:srgbClr val="7030A0"/>
                </a:solidFill>
              </a:rPr>
              <a:t>, Amount, </a:t>
            </a:r>
            <a:r>
              <a:rPr lang="en-US" b="1" dirty="0" err="1">
                <a:solidFill>
                  <a:srgbClr val="7030A0"/>
                </a:solidFill>
              </a:rPr>
              <a:t>Fine_Status</a:t>
            </a:r>
            <a:r>
              <a:rPr lang="en-US" b="1" dirty="0">
                <a:solidFill>
                  <a:srgbClr val="7030A0"/>
                </a:solidFill>
              </a:rPr>
              <a:t> FROM Fine WHERE </a:t>
            </a:r>
            <a:r>
              <a:rPr lang="en-US" b="1" dirty="0" err="1">
                <a:solidFill>
                  <a:srgbClr val="7030A0"/>
                </a:solidFill>
              </a:rPr>
              <a:t>Fine_Status</a:t>
            </a:r>
            <a:r>
              <a:rPr lang="en-US" b="1" dirty="0">
                <a:solidFill>
                  <a:srgbClr val="7030A0"/>
                </a:solidFill>
              </a:rPr>
              <a:t>=‘Unpaid’;</a:t>
            </a:r>
            <a:endParaRPr lang="en-IN" b="1" dirty="0">
              <a:solidFill>
                <a:srgbClr val="7030A0"/>
              </a:solidFill>
            </a:endParaRPr>
          </a:p>
          <a:p>
            <a:endParaRPr lang="en-IN" dirty="0"/>
          </a:p>
        </p:txBody>
      </p:sp>
      <p:sp>
        <p:nvSpPr>
          <p:cNvPr id="5" name="TextBox 4">
            <a:extLst>
              <a:ext uri="{FF2B5EF4-FFF2-40B4-BE49-F238E27FC236}">
                <a16:creationId xmlns:a16="http://schemas.microsoft.com/office/drawing/2014/main" id="{7A9F4EA7-574F-D074-A251-3B1CD600C5F3}"/>
              </a:ext>
            </a:extLst>
          </p:cNvPr>
          <p:cNvSpPr txBox="1"/>
          <p:nvPr/>
        </p:nvSpPr>
        <p:spPr>
          <a:xfrm rot="10800000" flipV="1">
            <a:off x="924629" y="3892282"/>
            <a:ext cx="2808388" cy="830997"/>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a:p>
            <a:endParaRPr lang="en-IN" dirty="0"/>
          </a:p>
        </p:txBody>
      </p:sp>
      <p:pic>
        <p:nvPicPr>
          <p:cNvPr id="7" name="Picture 6">
            <a:extLst>
              <a:ext uri="{FF2B5EF4-FFF2-40B4-BE49-F238E27FC236}">
                <a16:creationId xmlns:a16="http://schemas.microsoft.com/office/drawing/2014/main" id="{1F24D658-F805-B677-D7CA-55A967A74360}"/>
              </a:ext>
            </a:extLst>
          </p:cNvPr>
          <p:cNvPicPr>
            <a:picLocks noChangeAspect="1"/>
          </p:cNvPicPr>
          <p:nvPr/>
        </p:nvPicPr>
        <p:blipFill>
          <a:blip r:embed="rId2"/>
          <a:stretch>
            <a:fillRect/>
          </a:stretch>
        </p:blipFill>
        <p:spPr>
          <a:xfrm>
            <a:off x="971520" y="4730723"/>
            <a:ext cx="3625620" cy="2467937"/>
          </a:xfrm>
          <a:prstGeom prst="rect">
            <a:avLst/>
          </a:prstGeom>
        </p:spPr>
      </p:pic>
      <p:sp>
        <p:nvSpPr>
          <p:cNvPr id="3" name="TextBox 2">
            <a:extLst>
              <a:ext uri="{FF2B5EF4-FFF2-40B4-BE49-F238E27FC236}">
                <a16:creationId xmlns:a16="http://schemas.microsoft.com/office/drawing/2014/main" id="{F3E062EF-CB32-ED25-4CBB-BE3C5A059E1A}"/>
              </a:ext>
            </a:extLst>
          </p:cNvPr>
          <p:cNvSpPr txBox="1"/>
          <p:nvPr/>
        </p:nvSpPr>
        <p:spPr>
          <a:xfrm>
            <a:off x="2508850" y="285700"/>
            <a:ext cx="4752660" cy="1200329"/>
          </a:xfrm>
          <a:prstGeom prst="rect">
            <a:avLst/>
          </a:prstGeom>
          <a:noFill/>
        </p:spPr>
        <p:txBody>
          <a:bodyPr wrap="square" rtlCol="0">
            <a:spAutoFit/>
          </a:bodyPr>
          <a:lstStyle/>
          <a:p>
            <a:r>
              <a:rPr lang="en-US" dirty="0"/>
              <a:t>  </a:t>
            </a:r>
            <a:r>
              <a:rPr lang="en-US" b="1" dirty="0">
                <a:solidFill>
                  <a:schemeClr val="bg1"/>
                </a:solidFill>
              </a:rPr>
              <a:t>8 Advanced queries &amp; Outputs</a:t>
            </a:r>
            <a:endParaRPr lang="en-IN" b="1" dirty="0">
              <a:solidFill>
                <a:schemeClr val="bg1"/>
              </a:solidFill>
            </a:endParaRPr>
          </a:p>
          <a:p>
            <a:endParaRPr lang="en-IN" dirty="0"/>
          </a:p>
          <a:p>
            <a:endParaRPr lang="en-IN" dirty="0"/>
          </a:p>
        </p:txBody>
      </p:sp>
    </p:spTree>
    <p:extLst>
      <p:ext uri="{BB962C8B-B14F-4D97-AF65-F5344CB8AC3E}">
        <p14:creationId xmlns:p14="http://schemas.microsoft.com/office/powerpoint/2010/main" val="4207232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CF3AC8F-F65E-CC0B-D7ED-4F3A426CE202}"/>
              </a:ext>
            </a:extLst>
          </p:cNvPr>
          <p:cNvSpPr txBox="1"/>
          <p:nvPr/>
        </p:nvSpPr>
        <p:spPr>
          <a:xfrm>
            <a:off x="708600" y="1221830"/>
            <a:ext cx="6120850" cy="830997"/>
          </a:xfrm>
          <a:prstGeom prst="rect">
            <a:avLst/>
          </a:prstGeom>
          <a:noFill/>
        </p:spPr>
        <p:txBody>
          <a:bodyPr wrap="square" rtlCol="0">
            <a:spAutoFit/>
          </a:bodyPr>
          <a:lstStyle/>
          <a:p>
            <a:r>
              <a:rPr lang="en-US" dirty="0"/>
              <a:t>6. Average Fine Amount</a:t>
            </a:r>
            <a:endParaRPr lang="en-IN" dirty="0"/>
          </a:p>
          <a:p>
            <a:endParaRPr lang="en-IN" dirty="0"/>
          </a:p>
        </p:txBody>
      </p:sp>
      <p:sp>
        <p:nvSpPr>
          <p:cNvPr id="8" name="TextBox 7">
            <a:extLst>
              <a:ext uri="{FF2B5EF4-FFF2-40B4-BE49-F238E27FC236}">
                <a16:creationId xmlns:a16="http://schemas.microsoft.com/office/drawing/2014/main" id="{96C24444-52D2-1D7E-7066-A38B08CB2E7C}"/>
              </a:ext>
            </a:extLst>
          </p:cNvPr>
          <p:cNvSpPr txBox="1"/>
          <p:nvPr/>
        </p:nvSpPr>
        <p:spPr>
          <a:xfrm>
            <a:off x="1068650" y="1869920"/>
            <a:ext cx="8497180" cy="830997"/>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AVG(Amount) AS </a:t>
            </a:r>
            <a:r>
              <a:rPr lang="en-US" b="1" dirty="0" err="1">
                <a:solidFill>
                  <a:srgbClr val="7030A0"/>
                </a:solidFill>
              </a:rPr>
              <a:t>Average_Fine</a:t>
            </a:r>
            <a:r>
              <a:rPr lang="en-US" b="1" dirty="0">
                <a:solidFill>
                  <a:srgbClr val="7030A0"/>
                </a:solidFill>
              </a:rPr>
              <a:t> FROM Fine;</a:t>
            </a:r>
            <a:endParaRPr lang="en-IN" b="1" dirty="0">
              <a:solidFill>
                <a:srgbClr val="7030A0"/>
              </a:solidFill>
            </a:endParaRPr>
          </a:p>
          <a:p>
            <a:endParaRPr lang="en-IN" dirty="0"/>
          </a:p>
        </p:txBody>
      </p:sp>
      <p:sp>
        <p:nvSpPr>
          <p:cNvPr id="9" name="TextBox 8">
            <a:extLst>
              <a:ext uri="{FF2B5EF4-FFF2-40B4-BE49-F238E27FC236}">
                <a16:creationId xmlns:a16="http://schemas.microsoft.com/office/drawing/2014/main" id="{B49E52F1-79C4-9F05-625A-1619DDD373EF}"/>
              </a:ext>
            </a:extLst>
          </p:cNvPr>
          <p:cNvSpPr txBox="1"/>
          <p:nvPr/>
        </p:nvSpPr>
        <p:spPr>
          <a:xfrm>
            <a:off x="1068650" y="2753673"/>
            <a:ext cx="1368191" cy="461665"/>
          </a:xfrm>
          <a:prstGeom prst="rect">
            <a:avLst/>
          </a:prstGeom>
          <a:noFill/>
        </p:spPr>
        <p:txBody>
          <a:bodyPr wrap="square" rtlCol="0">
            <a:spAutoFit/>
          </a:bodyPr>
          <a:lstStyle/>
          <a:p>
            <a:r>
              <a:rPr lang="en-US" dirty="0">
                <a:solidFill>
                  <a:srgbClr val="FF0000"/>
                </a:solidFill>
              </a:rPr>
              <a:t>Output:</a:t>
            </a:r>
            <a:endParaRPr lang="en-IN" dirty="0"/>
          </a:p>
        </p:txBody>
      </p:sp>
      <p:pic>
        <p:nvPicPr>
          <p:cNvPr id="12" name="Picture 11">
            <a:extLst>
              <a:ext uri="{FF2B5EF4-FFF2-40B4-BE49-F238E27FC236}">
                <a16:creationId xmlns:a16="http://schemas.microsoft.com/office/drawing/2014/main" id="{10030375-20BC-1CF2-4B80-F4FDA2FD3353}"/>
              </a:ext>
            </a:extLst>
          </p:cNvPr>
          <p:cNvPicPr>
            <a:picLocks noChangeAspect="1"/>
          </p:cNvPicPr>
          <p:nvPr/>
        </p:nvPicPr>
        <p:blipFill>
          <a:blip r:embed="rId2"/>
          <a:stretch>
            <a:fillRect/>
          </a:stretch>
        </p:blipFill>
        <p:spPr>
          <a:xfrm>
            <a:off x="2436841" y="2732745"/>
            <a:ext cx="1997533" cy="1296180"/>
          </a:xfrm>
          <a:prstGeom prst="rect">
            <a:avLst/>
          </a:prstGeom>
        </p:spPr>
      </p:pic>
      <p:sp>
        <p:nvSpPr>
          <p:cNvPr id="13" name="TextBox 12">
            <a:extLst>
              <a:ext uri="{FF2B5EF4-FFF2-40B4-BE49-F238E27FC236}">
                <a16:creationId xmlns:a16="http://schemas.microsoft.com/office/drawing/2014/main" id="{2AAB18C9-2222-6339-DB1D-A97618BA7D96}"/>
              </a:ext>
            </a:extLst>
          </p:cNvPr>
          <p:cNvSpPr txBox="1"/>
          <p:nvPr/>
        </p:nvSpPr>
        <p:spPr>
          <a:xfrm>
            <a:off x="708600" y="3948930"/>
            <a:ext cx="4320600" cy="830997"/>
          </a:xfrm>
          <a:prstGeom prst="rect">
            <a:avLst/>
          </a:prstGeom>
          <a:noFill/>
        </p:spPr>
        <p:txBody>
          <a:bodyPr wrap="square" rtlCol="0">
            <a:spAutoFit/>
          </a:bodyPr>
          <a:lstStyle/>
          <a:p>
            <a:r>
              <a:rPr lang="en-US" dirty="0"/>
              <a:t>7. Total Fine Amount</a:t>
            </a:r>
            <a:endParaRPr lang="en-IN" dirty="0"/>
          </a:p>
          <a:p>
            <a:endParaRPr lang="en-IN" dirty="0"/>
          </a:p>
        </p:txBody>
      </p:sp>
      <p:sp>
        <p:nvSpPr>
          <p:cNvPr id="14" name="TextBox 13">
            <a:extLst>
              <a:ext uri="{FF2B5EF4-FFF2-40B4-BE49-F238E27FC236}">
                <a16:creationId xmlns:a16="http://schemas.microsoft.com/office/drawing/2014/main" id="{22C110A6-20C9-6125-85A6-9C2C0DA4915E}"/>
              </a:ext>
            </a:extLst>
          </p:cNvPr>
          <p:cNvSpPr txBox="1"/>
          <p:nvPr/>
        </p:nvSpPr>
        <p:spPr>
          <a:xfrm>
            <a:off x="1140660" y="4458073"/>
            <a:ext cx="7345020" cy="1200329"/>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SUM(Amount) AS </a:t>
            </a:r>
            <a:r>
              <a:rPr lang="en-US" b="1" dirty="0" err="1">
                <a:solidFill>
                  <a:srgbClr val="7030A0"/>
                </a:solidFill>
              </a:rPr>
              <a:t>Total_Fine_Amount</a:t>
            </a:r>
            <a:r>
              <a:rPr lang="en-US" b="1" dirty="0">
                <a:solidFill>
                  <a:srgbClr val="7030A0"/>
                </a:solidFill>
              </a:rPr>
              <a:t> FROM Fine;</a:t>
            </a:r>
            <a:endParaRPr lang="en-IN" b="1" dirty="0">
              <a:solidFill>
                <a:srgbClr val="7030A0"/>
              </a:solidFill>
            </a:endParaRPr>
          </a:p>
          <a:p>
            <a:endParaRPr lang="en-IN" dirty="0"/>
          </a:p>
        </p:txBody>
      </p:sp>
      <p:sp>
        <p:nvSpPr>
          <p:cNvPr id="16" name="TextBox 15">
            <a:extLst>
              <a:ext uri="{FF2B5EF4-FFF2-40B4-BE49-F238E27FC236}">
                <a16:creationId xmlns:a16="http://schemas.microsoft.com/office/drawing/2014/main" id="{30297539-0C16-3D03-E8B7-6834B9C6427C}"/>
              </a:ext>
            </a:extLst>
          </p:cNvPr>
          <p:cNvSpPr txBox="1"/>
          <p:nvPr/>
        </p:nvSpPr>
        <p:spPr>
          <a:xfrm>
            <a:off x="1140660" y="5786081"/>
            <a:ext cx="2016280" cy="461665"/>
          </a:xfrm>
          <a:prstGeom prst="rect">
            <a:avLst/>
          </a:prstGeom>
          <a:noFill/>
        </p:spPr>
        <p:txBody>
          <a:bodyPr wrap="square" rtlCol="0">
            <a:spAutoFit/>
          </a:bodyPr>
          <a:lstStyle/>
          <a:p>
            <a:r>
              <a:rPr lang="en-US" dirty="0">
                <a:solidFill>
                  <a:srgbClr val="FF0000"/>
                </a:solidFill>
              </a:rPr>
              <a:t>Output:</a:t>
            </a:r>
            <a:endParaRPr lang="en-IN" dirty="0"/>
          </a:p>
        </p:txBody>
      </p:sp>
      <p:pic>
        <p:nvPicPr>
          <p:cNvPr id="20" name="Picture 19">
            <a:extLst>
              <a:ext uri="{FF2B5EF4-FFF2-40B4-BE49-F238E27FC236}">
                <a16:creationId xmlns:a16="http://schemas.microsoft.com/office/drawing/2014/main" id="{E6A72BF7-FE5D-01F0-0DD7-3145669CAE3B}"/>
              </a:ext>
            </a:extLst>
          </p:cNvPr>
          <p:cNvPicPr>
            <a:picLocks noChangeAspect="1"/>
          </p:cNvPicPr>
          <p:nvPr/>
        </p:nvPicPr>
        <p:blipFill>
          <a:blip r:embed="rId3"/>
          <a:stretch>
            <a:fillRect/>
          </a:stretch>
        </p:blipFill>
        <p:spPr>
          <a:xfrm>
            <a:off x="2580860" y="5808591"/>
            <a:ext cx="3184691" cy="1472148"/>
          </a:xfrm>
          <a:prstGeom prst="rect">
            <a:avLst/>
          </a:prstGeom>
        </p:spPr>
      </p:pic>
      <p:sp>
        <p:nvSpPr>
          <p:cNvPr id="2" name="TextBox 1">
            <a:extLst>
              <a:ext uri="{FF2B5EF4-FFF2-40B4-BE49-F238E27FC236}">
                <a16:creationId xmlns:a16="http://schemas.microsoft.com/office/drawing/2014/main" id="{54831168-51C0-2BEE-4E6E-BD9E3E194C61}"/>
              </a:ext>
            </a:extLst>
          </p:cNvPr>
          <p:cNvSpPr txBox="1"/>
          <p:nvPr/>
        </p:nvSpPr>
        <p:spPr>
          <a:xfrm>
            <a:off x="2436841" y="215676"/>
            <a:ext cx="4896679" cy="1200329"/>
          </a:xfrm>
          <a:prstGeom prst="rect">
            <a:avLst/>
          </a:prstGeom>
          <a:noFill/>
        </p:spPr>
        <p:txBody>
          <a:bodyPr wrap="square" rtlCol="0">
            <a:spAutoFit/>
          </a:bodyPr>
          <a:lstStyle/>
          <a:p>
            <a:r>
              <a:rPr lang="en-US" dirty="0"/>
              <a:t>  </a:t>
            </a:r>
            <a:r>
              <a:rPr lang="en-US" b="1" dirty="0">
                <a:solidFill>
                  <a:schemeClr val="bg1"/>
                </a:solidFill>
              </a:rPr>
              <a:t>8 Advanced queries &amp; Outputs</a:t>
            </a:r>
            <a:endParaRPr lang="en-IN" b="1" dirty="0">
              <a:solidFill>
                <a:schemeClr val="bg1"/>
              </a:solidFill>
            </a:endParaRPr>
          </a:p>
          <a:p>
            <a:endParaRPr lang="en-IN" dirty="0"/>
          </a:p>
          <a:p>
            <a:endParaRPr lang="en-IN" dirty="0"/>
          </a:p>
        </p:txBody>
      </p:sp>
    </p:spTree>
    <p:extLst>
      <p:ext uri="{BB962C8B-B14F-4D97-AF65-F5344CB8AC3E}">
        <p14:creationId xmlns:p14="http://schemas.microsoft.com/office/powerpoint/2010/main" val="1496512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1977C1-FCF2-D57E-1EFE-635D0BCB04A0}"/>
              </a:ext>
            </a:extLst>
          </p:cNvPr>
          <p:cNvSpPr txBox="1"/>
          <p:nvPr/>
        </p:nvSpPr>
        <p:spPr>
          <a:xfrm>
            <a:off x="564581" y="1005800"/>
            <a:ext cx="5112710" cy="830997"/>
          </a:xfrm>
          <a:prstGeom prst="rect">
            <a:avLst/>
          </a:prstGeom>
          <a:noFill/>
        </p:spPr>
        <p:txBody>
          <a:bodyPr wrap="square" rtlCol="0">
            <a:spAutoFit/>
          </a:bodyPr>
          <a:lstStyle/>
          <a:p>
            <a:r>
              <a:rPr lang="en-US" dirty="0"/>
              <a:t>8. INTERSECT Operator</a:t>
            </a:r>
            <a:endParaRPr lang="en-IN" dirty="0"/>
          </a:p>
          <a:p>
            <a:endParaRPr lang="en-IN" dirty="0"/>
          </a:p>
        </p:txBody>
      </p:sp>
      <p:sp>
        <p:nvSpPr>
          <p:cNvPr id="3" name="TextBox 2">
            <a:extLst>
              <a:ext uri="{FF2B5EF4-FFF2-40B4-BE49-F238E27FC236}">
                <a16:creationId xmlns:a16="http://schemas.microsoft.com/office/drawing/2014/main" id="{25A9FA75-DEAD-40CC-5C6E-F7B89EC70747}"/>
              </a:ext>
            </a:extLst>
          </p:cNvPr>
          <p:cNvSpPr txBox="1"/>
          <p:nvPr/>
        </p:nvSpPr>
        <p:spPr>
          <a:xfrm>
            <a:off x="996640" y="1725900"/>
            <a:ext cx="8065120" cy="1200329"/>
          </a:xfrm>
          <a:prstGeom prst="rect">
            <a:avLst/>
          </a:prstGeom>
          <a:noFill/>
          <a:ln>
            <a:solidFill>
              <a:schemeClr val="tx1">
                <a:lumMod val="50000"/>
                <a:lumOff val="50000"/>
              </a:schemeClr>
            </a:solidFill>
          </a:ln>
        </p:spPr>
        <p:txBody>
          <a:bodyPr wrap="square" rtlCol="0">
            <a:spAutoFit/>
          </a:bodyPr>
          <a:lstStyle/>
          <a:p>
            <a:r>
              <a:rPr lang="en-US" b="1" dirty="0">
                <a:solidFill>
                  <a:srgbClr val="7030A0"/>
                </a:solidFill>
              </a:rPr>
              <a:t>SQL&gt;SELECT </a:t>
            </a:r>
            <a:r>
              <a:rPr lang="en-US" b="1" dirty="0" err="1">
                <a:solidFill>
                  <a:srgbClr val="7030A0"/>
                </a:solidFill>
              </a:rPr>
              <a:t>Librarian_ID</a:t>
            </a:r>
            <a:r>
              <a:rPr lang="en-US" b="1" dirty="0">
                <a:solidFill>
                  <a:srgbClr val="7030A0"/>
                </a:solidFill>
              </a:rPr>
              <a:t> FROM Librarian INTERSECT SELECT </a:t>
            </a:r>
            <a:r>
              <a:rPr lang="en-US" b="1" dirty="0" err="1">
                <a:solidFill>
                  <a:srgbClr val="7030A0"/>
                </a:solidFill>
              </a:rPr>
              <a:t>Librarian_ID</a:t>
            </a:r>
            <a:r>
              <a:rPr lang="en-US" b="1" dirty="0">
                <a:solidFill>
                  <a:srgbClr val="7030A0"/>
                </a:solidFill>
              </a:rPr>
              <a:t> FROM </a:t>
            </a:r>
            <a:r>
              <a:rPr lang="en-US" b="1" dirty="0" err="1">
                <a:solidFill>
                  <a:srgbClr val="7030A0"/>
                </a:solidFill>
              </a:rPr>
              <a:t>Issue_Transaction</a:t>
            </a:r>
            <a:r>
              <a:rPr lang="en-US" b="1" dirty="0">
                <a:solidFill>
                  <a:srgbClr val="7030A0"/>
                </a:solidFill>
              </a:rPr>
              <a:t>;</a:t>
            </a:r>
            <a:endParaRPr lang="en-IN" b="1" dirty="0">
              <a:solidFill>
                <a:srgbClr val="7030A0"/>
              </a:solidFill>
            </a:endParaRPr>
          </a:p>
          <a:p>
            <a:endParaRPr lang="en-IN" dirty="0"/>
          </a:p>
        </p:txBody>
      </p:sp>
      <p:sp>
        <p:nvSpPr>
          <p:cNvPr id="4" name="TextBox 3">
            <a:extLst>
              <a:ext uri="{FF2B5EF4-FFF2-40B4-BE49-F238E27FC236}">
                <a16:creationId xmlns:a16="http://schemas.microsoft.com/office/drawing/2014/main" id="{16323B38-FED2-1FD1-0680-BE681BFAB11C}"/>
              </a:ext>
            </a:extLst>
          </p:cNvPr>
          <p:cNvSpPr txBox="1"/>
          <p:nvPr/>
        </p:nvSpPr>
        <p:spPr>
          <a:xfrm>
            <a:off x="1016899" y="3415496"/>
            <a:ext cx="2610948" cy="830997"/>
          </a:xfrm>
          <a:prstGeom prst="rect">
            <a:avLst/>
          </a:prstGeom>
          <a:noFill/>
        </p:spPr>
        <p:txBody>
          <a:bodyPr wrap="square" rtlCol="0">
            <a:spAutoFit/>
          </a:bodyPr>
          <a:lstStyle/>
          <a:p>
            <a:r>
              <a:rPr lang="en-US" dirty="0">
                <a:solidFill>
                  <a:srgbClr val="FF0000"/>
                </a:solidFill>
              </a:rPr>
              <a:t>Output:</a:t>
            </a:r>
            <a:endParaRPr lang="en-IN" dirty="0">
              <a:solidFill>
                <a:srgbClr val="FF0000"/>
              </a:solidFill>
            </a:endParaRPr>
          </a:p>
          <a:p>
            <a:endParaRPr lang="en-IN" dirty="0"/>
          </a:p>
        </p:txBody>
      </p:sp>
      <p:pic>
        <p:nvPicPr>
          <p:cNvPr id="6" name="Picture 5">
            <a:extLst>
              <a:ext uri="{FF2B5EF4-FFF2-40B4-BE49-F238E27FC236}">
                <a16:creationId xmlns:a16="http://schemas.microsoft.com/office/drawing/2014/main" id="{B0AB42CF-3D03-DDE5-EC84-1F20CF6140EC}"/>
              </a:ext>
            </a:extLst>
          </p:cNvPr>
          <p:cNvPicPr>
            <a:picLocks noChangeAspect="1"/>
          </p:cNvPicPr>
          <p:nvPr/>
        </p:nvPicPr>
        <p:blipFill>
          <a:blip r:embed="rId2"/>
          <a:stretch>
            <a:fillRect/>
          </a:stretch>
        </p:blipFill>
        <p:spPr>
          <a:xfrm>
            <a:off x="1059367" y="4246492"/>
            <a:ext cx="2568479" cy="2952167"/>
          </a:xfrm>
          <a:prstGeom prst="rect">
            <a:avLst/>
          </a:prstGeom>
        </p:spPr>
      </p:pic>
      <p:sp>
        <p:nvSpPr>
          <p:cNvPr id="7" name="TextBox 6">
            <a:extLst>
              <a:ext uri="{FF2B5EF4-FFF2-40B4-BE49-F238E27FC236}">
                <a16:creationId xmlns:a16="http://schemas.microsoft.com/office/drawing/2014/main" id="{B47CB2F9-54BF-8888-5978-BF728CA9E2A4}"/>
              </a:ext>
            </a:extLst>
          </p:cNvPr>
          <p:cNvSpPr txBox="1"/>
          <p:nvPr/>
        </p:nvSpPr>
        <p:spPr>
          <a:xfrm>
            <a:off x="2508850" y="285699"/>
            <a:ext cx="4752660" cy="1200329"/>
          </a:xfrm>
          <a:prstGeom prst="rect">
            <a:avLst/>
          </a:prstGeom>
          <a:noFill/>
        </p:spPr>
        <p:txBody>
          <a:bodyPr wrap="square" rtlCol="0">
            <a:spAutoFit/>
          </a:bodyPr>
          <a:lstStyle/>
          <a:p>
            <a:r>
              <a:rPr lang="en-US" dirty="0"/>
              <a:t>  </a:t>
            </a:r>
            <a:r>
              <a:rPr lang="en-US" b="1" dirty="0">
                <a:solidFill>
                  <a:schemeClr val="bg1"/>
                </a:solidFill>
              </a:rPr>
              <a:t>8 Advanced queries &amp; Outputs</a:t>
            </a:r>
            <a:endParaRPr lang="en-IN" b="1" dirty="0">
              <a:solidFill>
                <a:schemeClr val="bg1"/>
              </a:solidFill>
            </a:endParaRPr>
          </a:p>
          <a:p>
            <a:endParaRPr lang="en-IN" dirty="0"/>
          </a:p>
          <a:p>
            <a:endParaRPr lang="en-IN" dirty="0"/>
          </a:p>
        </p:txBody>
      </p:sp>
    </p:spTree>
    <p:extLst>
      <p:ext uri="{BB962C8B-B14F-4D97-AF65-F5344CB8AC3E}">
        <p14:creationId xmlns:p14="http://schemas.microsoft.com/office/powerpoint/2010/main" val="3637810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4E1C0F-A5E5-8ACD-EB93-A4C45E6F6393}"/>
              </a:ext>
            </a:extLst>
          </p:cNvPr>
          <p:cNvSpPr txBox="1"/>
          <p:nvPr/>
        </p:nvSpPr>
        <p:spPr>
          <a:xfrm>
            <a:off x="564580" y="1149820"/>
            <a:ext cx="8677205" cy="5324535"/>
          </a:xfrm>
          <a:prstGeom prst="rect">
            <a:avLst/>
          </a:prstGeom>
          <a:noFill/>
        </p:spPr>
        <p:txBody>
          <a:bodyPr wrap="square">
            <a:spAutoFit/>
          </a:bodyPr>
          <a:lstStyle/>
          <a:p>
            <a:pPr>
              <a:buNone/>
            </a:pPr>
            <a:endParaRPr lang="en-IN" sz="1200" b="1" dirty="0"/>
          </a:p>
          <a:p>
            <a:pPr>
              <a:buNone/>
            </a:pPr>
            <a:r>
              <a:rPr lang="en-IN" b="1" dirty="0">
                <a:solidFill>
                  <a:srgbClr val="0070C0"/>
                </a:solidFill>
                <a:latin typeface="Times New Roman" panose="02020603050405020304" pitchFamily="18" charset="0"/>
              </a:rPr>
              <a:t>Functional Dependencies</a:t>
            </a:r>
            <a:r>
              <a:rPr lang="en-IN" b="1" dirty="0">
                <a:latin typeface="Times New Roman" panose="02020603050405020304" pitchFamily="18" charset="0"/>
              </a:rPr>
              <a:t>:</a:t>
            </a:r>
            <a:endParaRPr lang="en-IN" dirty="0">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Member_ID</a:t>
            </a:r>
            <a:r>
              <a:rPr lang="en-IN" sz="1200" dirty="0">
                <a:solidFill>
                  <a:schemeClr val="tx1">
                    <a:lumMod val="65000"/>
                    <a:lumOff val="35000"/>
                  </a:schemeClr>
                </a:solidFill>
                <a:latin typeface="Times New Roman" panose="02020603050405020304" pitchFamily="18" charset="0"/>
              </a:rPr>
              <a:t> → Name, Email, </a:t>
            </a:r>
            <a:r>
              <a:rPr lang="en-IN" sz="1200" dirty="0" err="1">
                <a:solidFill>
                  <a:schemeClr val="tx1">
                    <a:lumMod val="65000"/>
                    <a:lumOff val="35000"/>
                  </a:schemeClr>
                </a:solidFill>
                <a:latin typeface="Times New Roman" panose="02020603050405020304" pitchFamily="18" charset="0"/>
              </a:rPr>
              <a:t>Phone_No</a:t>
            </a:r>
            <a:r>
              <a:rPr lang="en-IN" sz="1200" dirty="0">
                <a:solidFill>
                  <a:schemeClr val="tx1">
                    <a:lumMod val="65000"/>
                    <a:lumOff val="35000"/>
                  </a:schemeClr>
                </a:solidFill>
                <a:latin typeface="Times New Roman" panose="02020603050405020304" pitchFamily="18" charset="0"/>
              </a:rPr>
              <a:t>, Street, City,</a:t>
            </a:r>
          </a:p>
          <a:p>
            <a:pPr rtl="0">
              <a:buNone/>
            </a:pPr>
            <a:r>
              <a:rPr lang="en-IN" sz="1200" dirty="0">
                <a:solidFill>
                  <a:schemeClr val="tx1">
                    <a:lumMod val="65000"/>
                    <a:lumOff val="35000"/>
                  </a:schemeClr>
                </a:solidFill>
                <a:latin typeface="Times New Roman" panose="02020603050405020304" pitchFamily="18" charset="0"/>
              </a:rPr>
              <a:t>            PIN, </a:t>
            </a:r>
            <a:r>
              <a:rPr lang="en-IN" sz="1200" dirty="0" err="1">
                <a:solidFill>
                  <a:schemeClr val="tx1">
                    <a:lumMod val="65000"/>
                    <a:lumOff val="35000"/>
                  </a:schemeClr>
                </a:solidFill>
                <a:latin typeface="Times New Roman" panose="02020603050405020304" pitchFamily="18" charset="0"/>
              </a:rPr>
              <a:t>Membership_Date</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Membership_Type</a:t>
            </a:r>
            <a:endParaRPr lang="en-IN" sz="1200" dirty="0">
              <a:solidFill>
                <a:schemeClr val="tx1">
                  <a:lumMod val="65000"/>
                  <a:lumOff val="35000"/>
                </a:schemeClr>
              </a:solidFill>
              <a:latin typeface="Times New Roman" panose="02020603050405020304" pitchFamily="18" charset="0"/>
            </a:endParaRPr>
          </a:p>
          <a:p>
            <a:pPr rtl="0">
              <a:buNone/>
            </a:pPr>
            <a:endParaRPr lang="en-IN" sz="1200" dirty="0">
              <a:solidFill>
                <a:schemeClr val="tx1">
                  <a:lumMod val="65000"/>
                  <a:lumOff val="35000"/>
                </a:schemeClr>
              </a:solidFill>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Book_ID</a:t>
            </a:r>
            <a:r>
              <a:rPr lang="en-IN" sz="1200" dirty="0">
                <a:solidFill>
                  <a:schemeClr val="tx1">
                    <a:lumMod val="65000"/>
                    <a:lumOff val="35000"/>
                  </a:schemeClr>
                </a:solidFill>
                <a:latin typeface="Times New Roman" panose="02020603050405020304" pitchFamily="18" charset="0"/>
              </a:rPr>
              <a:t> → Title, </a:t>
            </a:r>
            <a:r>
              <a:rPr lang="en-IN" sz="1200" dirty="0" err="1">
                <a:solidFill>
                  <a:schemeClr val="tx1">
                    <a:lumMod val="65000"/>
                    <a:lumOff val="35000"/>
                  </a:schemeClr>
                </a:solidFill>
                <a:latin typeface="Times New Roman" panose="02020603050405020304" pitchFamily="18" charset="0"/>
              </a:rPr>
              <a:t>ISBN_No</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Publication_Year</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Available_Copies</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Category_ID</a:t>
            </a:r>
            <a:endParaRPr lang="en-IN" sz="1200" dirty="0">
              <a:solidFill>
                <a:schemeClr val="tx1">
                  <a:lumMod val="65000"/>
                  <a:lumOff val="35000"/>
                </a:schemeClr>
              </a:solidFill>
              <a:latin typeface="Times New Roman" panose="02020603050405020304" pitchFamily="18" charset="0"/>
            </a:endParaRPr>
          </a:p>
          <a:p>
            <a:pPr rtl="0">
              <a:buNone/>
            </a:pPr>
            <a:endParaRPr lang="en-IN" sz="1200" dirty="0">
              <a:solidFill>
                <a:schemeClr val="tx1">
                  <a:lumMod val="65000"/>
                  <a:lumOff val="35000"/>
                </a:schemeClr>
              </a:solidFill>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Author_ID</a:t>
            </a:r>
            <a:r>
              <a:rPr lang="en-IN" sz="1200" dirty="0">
                <a:solidFill>
                  <a:schemeClr val="tx1">
                    <a:lumMod val="65000"/>
                    <a:lumOff val="35000"/>
                  </a:schemeClr>
                </a:solidFill>
                <a:latin typeface="Times New Roman" panose="02020603050405020304" pitchFamily="18" charset="0"/>
              </a:rPr>
              <a:t> → </a:t>
            </a:r>
            <a:r>
              <a:rPr lang="en-IN" sz="1200" dirty="0" err="1">
                <a:solidFill>
                  <a:schemeClr val="tx1">
                    <a:lumMod val="65000"/>
                    <a:lumOff val="35000"/>
                  </a:schemeClr>
                </a:solidFill>
                <a:latin typeface="Times New Roman" panose="02020603050405020304" pitchFamily="18" charset="0"/>
              </a:rPr>
              <a:t>Author_Name</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Email_ID</a:t>
            </a:r>
            <a:r>
              <a:rPr lang="en-IN" sz="1200" dirty="0">
                <a:solidFill>
                  <a:schemeClr val="tx1">
                    <a:lumMod val="65000"/>
                    <a:lumOff val="35000"/>
                  </a:schemeClr>
                </a:solidFill>
                <a:latin typeface="Times New Roman" panose="02020603050405020304" pitchFamily="18" charset="0"/>
              </a:rPr>
              <a:t>, Nationality</a:t>
            </a:r>
          </a:p>
          <a:p>
            <a:pPr rtl="0">
              <a:buNone/>
            </a:pPr>
            <a:endParaRPr lang="en-IN" sz="1200" dirty="0">
              <a:solidFill>
                <a:schemeClr val="tx1">
                  <a:lumMod val="65000"/>
                  <a:lumOff val="35000"/>
                </a:schemeClr>
              </a:solidFill>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Category_ID</a:t>
            </a:r>
            <a:r>
              <a:rPr lang="en-IN" sz="1200" dirty="0">
                <a:solidFill>
                  <a:schemeClr val="tx1">
                    <a:lumMod val="65000"/>
                    <a:lumOff val="35000"/>
                  </a:schemeClr>
                </a:solidFill>
                <a:latin typeface="Times New Roman" panose="02020603050405020304" pitchFamily="18" charset="0"/>
              </a:rPr>
              <a:t> → </a:t>
            </a:r>
            <a:r>
              <a:rPr lang="en-IN" sz="1200" dirty="0" err="1">
                <a:solidFill>
                  <a:schemeClr val="tx1">
                    <a:lumMod val="65000"/>
                    <a:lumOff val="35000"/>
                  </a:schemeClr>
                </a:solidFill>
                <a:latin typeface="Times New Roman" panose="02020603050405020304" pitchFamily="18" charset="0"/>
              </a:rPr>
              <a:t>Category_Name</a:t>
            </a:r>
            <a:endParaRPr lang="en-IN" sz="1200" dirty="0">
              <a:solidFill>
                <a:schemeClr val="tx1">
                  <a:lumMod val="65000"/>
                  <a:lumOff val="35000"/>
                </a:schemeClr>
              </a:solidFill>
              <a:latin typeface="Times New Roman" panose="02020603050405020304" pitchFamily="18" charset="0"/>
            </a:endParaRPr>
          </a:p>
          <a:p>
            <a:pPr rtl="0">
              <a:buNone/>
            </a:pPr>
            <a:endParaRPr lang="en-IN" sz="1200" dirty="0">
              <a:solidFill>
                <a:schemeClr val="tx1">
                  <a:lumMod val="65000"/>
                  <a:lumOff val="35000"/>
                </a:schemeClr>
              </a:solidFill>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Librarian_ID</a:t>
            </a:r>
            <a:r>
              <a:rPr lang="en-IN" sz="1200" dirty="0">
                <a:solidFill>
                  <a:schemeClr val="tx1">
                    <a:lumMod val="65000"/>
                    <a:lumOff val="35000"/>
                  </a:schemeClr>
                </a:solidFill>
                <a:latin typeface="Times New Roman" panose="02020603050405020304" pitchFamily="18" charset="0"/>
              </a:rPr>
              <a:t> → </a:t>
            </a:r>
            <a:r>
              <a:rPr lang="en-IN" sz="1200" dirty="0" err="1">
                <a:solidFill>
                  <a:schemeClr val="tx1">
                    <a:lumMod val="65000"/>
                    <a:lumOff val="35000"/>
                  </a:schemeClr>
                </a:solidFill>
                <a:latin typeface="Times New Roman" panose="02020603050405020304" pitchFamily="18" charset="0"/>
              </a:rPr>
              <a:t>Librarian_Name</a:t>
            </a:r>
            <a:r>
              <a:rPr lang="en-IN" sz="1200" dirty="0">
                <a:solidFill>
                  <a:schemeClr val="tx1">
                    <a:lumMod val="65000"/>
                    <a:lumOff val="35000"/>
                  </a:schemeClr>
                </a:solidFill>
                <a:latin typeface="Times New Roman" panose="02020603050405020304" pitchFamily="18" charset="0"/>
              </a:rPr>
              <a:t>, Street, City, PIN</a:t>
            </a:r>
          </a:p>
          <a:p>
            <a:pPr rtl="0">
              <a:buNone/>
            </a:pPr>
            <a:endParaRPr lang="en-IN" sz="1200" dirty="0">
              <a:solidFill>
                <a:schemeClr val="tx1">
                  <a:lumMod val="65000"/>
                  <a:lumOff val="35000"/>
                </a:schemeClr>
              </a:solidFill>
              <a:latin typeface="Times New Roman" panose="02020603050405020304" pitchFamily="18" charset="0"/>
            </a:endParaRPr>
          </a:p>
          <a:p>
            <a:pPr rtl="0">
              <a:buNone/>
            </a:pPr>
            <a:r>
              <a:rPr lang="en-IN" sz="1200" dirty="0" err="1">
                <a:solidFill>
                  <a:schemeClr val="tx1">
                    <a:lumMod val="65000"/>
                    <a:lumOff val="35000"/>
                  </a:schemeClr>
                </a:solidFill>
                <a:latin typeface="Times New Roman" panose="02020603050405020304" pitchFamily="18" charset="0"/>
              </a:rPr>
              <a:t>Issue_ID</a:t>
            </a:r>
            <a:r>
              <a:rPr lang="en-IN" sz="1200" dirty="0">
                <a:solidFill>
                  <a:schemeClr val="tx1">
                    <a:lumMod val="65000"/>
                    <a:lumOff val="35000"/>
                  </a:schemeClr>
                </a:solidFill>
                <a:latin typeface="Times New Roman" panose="02020603050405020304" pitchFamily="18" charset="0"/>
              </a:rPr>
              <a:t> → </a:t>
            </a:r>
            <a:r>
              <a:rPr lang="en-IN" sz="1200" dirty="0" err="1">
                <a:solidFill>
                  <a:schemeClr val="tx1">
                    <a:lumMod val="65000"/>
                    <a:lumOff val="35000"/>
                  </a:schemeClr>
                </a:solidFill>
                <a:latin typeface="Times New Roman" panose="02020603050405020304" pitchFamily="18" charset="0"/>
              </a:rPr>
              <a:t>Issue_Date</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Due_Date</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Return_Date</a:t>
            </a:r>
            <a:r>
              <a:rPr lang="en-IN" sz="1200" dirty="0">
                <a:solidFill>
                  <a:schemeClr val="tx1">
                    <a:lumMod val="65000"/>
                    <a:lumOff val="35000"/>
                  </a:schemeClr>
                </a:solidFill>
                <a:latin typeface="Times New Roman" panose="02020603050405020304" pitchFamily="18" charset="0"/>
              </a:rPr>
              <a:t>,</a:t>
            </a:r>
          </a:p>
          <a:p>
            <a:pPr rtl="0">
              <a:buNone/>
            </a:pPr>
            <a:r>
              <a:rPr lang="en-IN" sz="1200" dirty="0">
                <a:solidFill>
                  <a:schemeClr val="tx1">
                    <a:lumMod val="65000"/>
                    <a:lumOff val="35000"/>
                  </a:schemeClr>
                </a:solidFill>
                <a:latin typeface="Times New Roman" panose="02020603050405020304" pitchFamily="18" charset="0"/>
              </a:rPr>
              <a:t>           Status, </a:t>
            </a:r>
            <a:r>
              <a:rPr lang="en-IN" sz="1200" dirty="0" err="1">
                <a:solidFill>
                  <a:schemeClr val="tx1">
                    <a:lumMod val="65000"/>
                    <a:lumOff val="35000"/>
                  </a:schemeClr>
                </a:solidFill>
                <a:latin typeface="Times New Roman" panose="02020603050405020304" pitchFamily="18" charset="0"/>
              </a:rPr>
              <a:t>Member_ID</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Book_ID</a:t>
            </a:r>
            <a:r>
              <a:rPr lang="en-IN" sz="1200" dirty="0">
                <a:solidFill>
                  <a:schemeClr val="tx1">
                    <a:lumMod val="65000"/>
                    <a:lumOff val="35000"/>
                  </a:schemeClr>
                </a:solidFill>
                <a:latin typeface="Times New Roman" panose="02020603050405020304" pitchFamily="18" charset="0"/>
              </a:rPr>
              <a:t>, </a:t>
            </a:r>
            <a:r>
              <a:rPr lang="en-IN" sz="1200" dirty="0" err="1">
                <a:solidFill>
                  <a:schemeClr val="tx1">
                    <a:lumMod val="65000"/>
                    <a:lumOff val="35000"/>
                  </a:schemeClr>
                </a:solidFill>
                <a:latin typeface="Times New Roman" panose="02020603050405020304" pitchFamily="18" charset="0"/>
              </a:rPr>
              <a:t>Librarian_ID</a:t>
            </a:r>
            <a:endParaRPr lang="en-IN" sz="1200" dirty="0">
              <a:solidFill>
                <a:schemeClr val="tx1">
                  <a:lumMod val="65000"/>
                  <a:lumOff val="35000"/>
                </a:schemeClr>
              </a:solidFill>
              <a:latin typeface="Times New Roman" panose="02020603050405020304" pitchFamily="18" charset="0"/>
            </a:endParaRPr>
          </a:p>
          <a:p>
            <a:pPr>
              <a:buNone/>
            </a:pPr>
            <a:r>
              <a:rPr lang="en-IN" sz="2000" b="1" dirty="0">
                <a:solidFill>
                  <a:srgbClr val="0070C0"/>
                </a:solidFill>
                <a:latin typeface="Times New Roman" panose="02020603050405020304" pitchFamily="18" charset="0"/>
              </a:rPr>
              <a:t>Redundancy</a:t>
            </a:r>
          </a:p>
          <a:p>
            <a:pPr marL="342900" lvl="0" indent="-342900">
              <a:buFont typeface="Arial" panose="020B0604020202020204" pitchFamily="34" charset="0"/>
              <a:buChar char="•"/>
            </a:pPr>
            <a:r>
              <a:rPr lang="en-IN" sz="1800" dirty="0">
                <a:latin typeface="Times New Roman" panose="02020603050405020304" pitchFamily="18" charset="0"/>
              </a:rPr>
              <a:t>Repeated member details in every transaction can cause unnecessary duplication. </a:t>
            </a:r>
          </a:p>
          <a:p>
            <a:pPr marL="342900" lvl="0" indent="-342900">
              <a:buFont typeface="Arial" panose="020B0604020202020204" pitchFamily="34" charset="0"/>
              <a:buChar char="•"/>
            </a:pPr>
            <a:r>
              <a:rPr lang="en-IN" sz="1800" dirty="0">
                <a:latin typeface="Times New Roman" panose="02020603050405020304" pitchFamily="18" charset="0"/>
              </a:rPr>
              <a:t>Book and author details should not be repeatedly stored in transaction records. </a:t>
            </a:r>
          </a:p>
          <a:p>
            <a:pPr marL="342900" lvl="0" indent="-342900">
              <a:buFont typeface="Arial" panose="020B0604020202020204" pitchFamily="34" charset="0"/>
              <a:buChar char="•"/>
            </a:pPr>
            <a:r>
              <a:rPr lang="en-IN" sz="1800" dirty="0">
                <a:latin typeface="Times New Roman" panose="02020603050405020304" pitchFamily="18" charset="0"/>
              </a:rPr>
              <a:t>Separate tables reduce duplicate data. </a:t>
            </a:r>
          </a:p>
          <a:p>
            <a:pPr>
              <a:buNone/>
            </a:pPr>
            <a:r>
              <a:rPr lang="en-IN" sz="2000" b="1" dirty="0">
                <a:solidFill>
                  <a:srgbClr val="0070C0"/>
                </a:solidFill>
                <a:latin typeface="Times New Roman" panose="02020603050405020304" pitchFamily="18" charset="0"/>
              </a:rPr>
              <a:t>Problems caused by redundancy</a:t>
            </a:r>
          </a:p>
          <a:p>
            <a:pPr marL="342900" lvl="0" indent="-342900">
              <a:buFont typeface="Arial" panose="020B0604020202020204" pitchFamily="34" charset="0"/>
              <a:buChar char="•"/>
            </a:pPr>
            <a:r>
              <a:rPr lang="en-IN" sz="1800" b="1" dirty="0">
                <a:latin typeface="Times New Roman" panose="02020603050405020304" pitchFamily="18" charset="0"/>
              </a:rPr>
              <a:t>Update Anomaly:</a:t>
            </a:r>
            <a:r>
              <a:rPr lang="en-IN" sz="1800" dirty="0">
                <a:latin typeface="Times New Roman" panose="02020603050405020304" pitchFamily="18" charset="0"/>
              </a:rPr>
              <a:t> Same information must be updated in multiple places. </a:t>
            </a:r>
          </a:p>
          <a:p>
            <a:pPr marL="342900" lvl="0" indent="-342900">
              <a:buFont typeface="Arial" panose="020B0604020202020204" pitchFamily="34" charset="0"/>
              <a:buChar char="•"/>
            </a:pPr>
            <a:r>
              <a:rPr lang="en-IN" sz="1800" b="1" dirty="0">
                <a:latin typeface="Times New Roman" panose="02020603050405020304" pitchFamily="18" charset="0"/>
              </a:rPr>
              <a:t>Insertion Anomaly:</a:t>
            </a:r>
            <a:r>
              <a:rPr lang="en-IN" sz="1800" dirty="0">
                <a:latin typeface="Times New Roman" panose="02020603050405020304" pitchFamily="18" charset="0"/>
              </a:rPr>
              <a:t> Cannot store some information without unrelated data. </a:t>
            </a:r>
          </a:p>
          <a:p>
            <a:pPr marL="342900" lvl="0" indent="-342900">
              <a:buFont typeface="Arial" panose="020B0604020202020204" pitchFamily="34" charset="0"/>
              <a:buChar char="•"/>
            </a:pPr>
            <a:r>
              <a:rPr lang="en-IN" sz="1800" b="1" dirty="0">
                <a:latin typeface="Times New Roman" panose="02020603050405020304" pitchFamily="18" charset="0"/>
              </a:rPr>
              <a:t>Deletion Anomaly:</a:t>
            </a:r>
            <a:r>
              <a:rPr lang="en-IN" sz="1800" dirty="0">
                <a:latin typeface="Times New Roman" panose="02020603050405020304" pitchFamily="18" charset="0"/>
              </a:rPr>
              <a:t> Deleting a record may accidentally remove useful information. </a:t>
            </a:r>
          </a:p>
        </p:txBody>
      </p:sp>
      <p:sp>
        <p:nvSpPr>
          <p:cNvPr id="4" name="TextBox 3">
            <a:extLst>
              <a:ext uri="{FF2B5EF4-FFF2-40B4-BE49-F238E27FC236}">
                <a16:creationId xmlns:a16="http://schemas.microsoft.com/office/drawing/2014/main" id="{10FAACDB-2322-0BA9-9CE4-0ECC7FC10521}"/>
              </a:ext>
            </a:extLst>
          </p:cNvPr>
          <p:cNvSpPr txBox="1"/>
          <p:nvPr/>
        </p:nvSpPr>
        <p:spPr>
          <a:xfrm>
            <a:off x="2652870" y="285700"/>
            <a:ext cx="5184720" cy="369332"/>
          </a:xfrm>
          <a:prstGeom prst="rect">
            <a:avLst/>
          </a:prstGeom>
          <a:noFill/>
        </p:spPr>
        <p:txBody>
          <a:bodyPr wrap="square" rtlCol="0">
            <a:spAutoFit/>
          </a:bodyPr>
          <a:lstStyle/>
          <a:p>
            <a:r>
              <a:rPr lang="en-US" sz="1800" b="1" dirty="0">
                <a:solidFill>
                  <a:schemeClr val="bg1"/>
                </a:solidFill>
              </a:rPr>
              <a:t>Normalization – Functional Dependencies</a:t>
            </a:r>
            <a:endParaRPr lang="en-IN" sz="1800" b="1" dirty="0">
              <a:solidFill>
                <a:schemeClr val="bg1"/>
              </a:solidFill>
            </a:endParaRPr>
          </a:p>
        </p:txBody>
      </p:sp>
    </p:spTree>
    <p:extLst>
      <p:ext uri="{BB962C8B-B14F-4D97-AF65-F5344CB8AC3E}">
        <p14:creationId xmlns:p14="http://schemas.microsoft.com/office/powerpoint/2010/main" val="4066951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DB33E0-5708-EA7B-2CD4-A3F94D6BC46C}"/>
              </a:ext>
            </a:extLst>
          </p:cNvPr>
          <p:cNvSpPr txBox="1"/>
          <p:nvPr/>
        </p:nvSpPr>
        <p:spPr>
          <a:xfrm>
            <a:off x="2724880" y="285700"/>
            <a:ext cx="4464620" cy="461665"/>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p:txBody>
      </p:sp>
      <p:pic>
        <p:nvPicPr>
          <p:cNvPr id="5" name="图片">
            <a:extLst>
              <a:ext uri="{FF2B5EF4-FFF2-40B4-BE49-F238E27FC236}">
                <a16:creationId xmlns:a16="http://schemas.microsoft.com/office/drawing/2014/main" id="{43E009D0-D119-F4E4-D47E-00C9EC03E383}"/>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
        <p:nvSpPr>
          <p:cNvPr id="6" name="TextBox 5">
            <a:extLst>
              <a:ext uri="{FF2B5EF4-FFF2-40B4-BE49-F238E27FC236}">
                <a16:creationId xmlns:a16="http://schemas.microsoft.com/office/drawing/2014/main" id="{63A2C06E-DF15-0F65-1D98-90564D3D3583}"/>
              </a:ext>
            </a:extLst>
          </p:cNvPr>
          <p:cNvSpPr txBox="1"/>
          <p:nvPr/>
        </p:nvSpPr>
        <p:spPr>
          <a:xfrm>
            <a:off x="564580" y="1077811"/>
            <a:ext cx="9073260" cy="400110"/>
          </a:xfrm>
          <a:prstGeom prst="rect">
            <a:avLst/>
          </a:prstGeom>
          <a:noFill/>
        </p:spPr>
        <p:txBody>
          <a:bodyPr wrap="square" rtlCol="0">
            <a:spAutoFit/>
          </a:bodyPr>
          <a:lstStyle/>
          <a:p>
            <a:r>
              <a:rPr lang="en-IN" sz="2000" b="1" dirty="0"/>
              <a:t>UNNORMALIZED FORM (UNF)</a:t>
            </a:r>
          </a:p>
        </p:txBody>
      </p:sp>
      <p:graphicFrame>
        <p:nvGraphicFramePr>
          <p:cNvPr id="7" name="Table 6">
            <a:extLst>
              <a:ext uri="{FF2B5EF4-FFF2-40B4-BE49-F238E27FC236}">
                <a16:creationId xmlns:a16="http://schemas.microsoft.com/office/drawing/2014/main" id="{10CA0BAC-0158-3BC6-879F-B30458C43A8F}"/>
              </a:ext>
            </a:extLst>
          </p:cNvPr>
          <p:cNvGraphicFramePr>
            <a:graphicFrameLocks noGrp="1"/>
          </p:cNvGraphicFramePr>
          <p:nvPr>
            <p:extLst>
              <p:ext uri="{D42A27DB-BD31-4B8C-83A1-F6EECF244321}">
                <p14:modId xmlns:p14="http://schemas.microsoft.com/office/powerpoint/2010/main" val="2176047621"/>
              </p:ext>
            </p:extLst>
          </p:nvPr>
        </p:nvGraphicFramePr>
        <p:xfrm>
          <a:off x="636590" y="1913731"/>
          <a:ext cx="8932859" cy="2286000"/>
        </p:xfrm>
        <a:graphic>
          <a:graphicData uri="http://schemas.openxmlformats.org/drawingml/2006/table">
            <a:tbl>
              <a:tblPr>
                <a:tableStyleId>{5C22544A-7EE6-4342-B048-85BDC9FD1C3A}</a:tableStyleId>
              </a:tblPr>
              <a:tblGrid>
                <a:gridCol w="978427">
                  <a:extLst>
                    <a:ext uri="{9D8B030D-6E8A-4147-A177-3AD203B41FA5}">
                      <a16:colId xmlns:a16="http://schemas.microsoft.com/office/drawing/2014/main" val="854175119"/>
                    </a:ext>
                  </a:extLst>
                </a:gridCol>
                <a:gridCol w="965843">
                  <a:extLst>
                    <a:ext uri="{9D8B030D-6E8A-4147-A177-3AD203B41FA5}">
                      <a16:colId xmlns:a16="http://schemas.microsoft.com/office/drawing/2014/main" val="649756126"/>
                    </a:ext>
                  </a:extLst>
                </a:gridCol>
                <a:gridCol w="1022765">
                  <a:extLst>
                    <a:ext uri="{9D8B030D-6E8A-4147-A177-3AD203B41FA5}">
                      <a16:colId xmlns:a16="http://schemas.microsoft.com/office/drawing/2014/main" val="2758835038"/>
                    </a:ext>
                  </a:extLst>
                </a:gridCol>
                <a:gridCol w="994304">
                  <a:extLst>
                    <a:ext uri="{9D8B030D-6E8A-4147-A177-3AD203B41FA5}">
                      <a16:colId xmlns:a16="http://schemas.microsoft.com/office/drawing/2014/main" val="683211198"/>
                    </a:ext>
                  </a:extLst>
                </a:gridCol>
                <a:gridCol w="994304">
                  <a:extLst>
                    <a:ext uri="{9D8B030D-6E8A-4147-A177-3AD203B41FA5}">
                      <a16:colId xmlns:a16="http://schemas.microsoft.com/office/drawing/2014/main" val="4258283998"/>
                    </a:ext>
                  </a:extLst>
                </a:gridCol>
                <a:gridCol w="994304">
                  <a:extLst>
                    <a:ext uri="{9D8B030D-6E8A-4147-A177-3AD203B41FA5}">
                      <a16:colId xmlns:a16="http://schemas.microsoft.com/office/drawing/2014/main" val="712969354"/>
                    </a:ext>
                  </a:extLst>
                </a:gridCol>
                <a:gridCol w="994304">
                  <a:extLst>
                    <a:ext uri="{9D8B030D-6E8A-4147-A177-3AD203B41FA5}">
                      <a16:colId xmlns:a16="http://schemas.microsoft.com/office/drawing/2014/main" val="1700183325"/>
                    </a:ext>
                  </a:extLst>
                </a:gridCol>
                <a:gridCol w="994304">
                  <a:extLst>
                    <a:ext uri="{9D8B030D-6E8A-4147-A177-3AD203B41FA5}">
                      <a16:colId xmlns:a16="http://schemas.microsoft.com/office/drawing/2014/main" val="24663887"/>
                    </a:ext>
                  </a:extLst>
                </a:gridCol>
                <a:gridCol w="994304">
                  <a:extLst>
                    <a:ext uri="{9D8B030D-6E8A-4147-A177-3AD203B41FA5}">
                      <a16:colId xmlns:a16="http://schemas.microsoft.com/office/drawing/2014/main" val="1340696974"/>
                    </a:ext>
                  </a:extLst>
                </a:gridCol>
              </a:tblGrid>
              <a:tr h="0">
                <a:tc>
                  <a:txBody>
                    <a:bodyPr/>
                    <a:lstStyle/>
                    <a:p>
                      <a:pPr>
                        <a:buNone/>
                      </a:pPr>
                      <a:r>
                        <a:rPr lang="en-IN" b="1" dirty="0" err="1"/>
                        <a:t>Issue_ID</a:t>
                      </a:r>
                      <a:endParaRPr lang="en-IN" b="1" dirty="0"/>
                    </a:p>
                  </a:txBody>
                  <a:tcPr anchor="ctr"/>
                </a:tc>
                <a:tc>
                  <a:txBody>
                    <a:bodyPr/>
                    <a:lstStyle/>
                    <a:p>
                      <a:pPr>
                        <a:buNone/>
                      </a:pPr>
                      <a:r>
                        <a:rPr lang="en-IN" b="1" dirty="0" err="1"/>
                        <a:t>Member_ID</a:t>
                      </a:r>
                      <a:endParaRPr lang="en-IN" b="1" dirty="0"/>
                    </a:p>
                  </a:txBody>
                  <a:tcPr anchor="ctr"/>
                </a:tc>
                <a:tc>
                  <a:txBody>
                    <a:bodyPr/>
                    <a:lstStyle/>
                    <a:p>
                      <a:pPr>
                        <a:buNone/>
                      </a:pPr>
                      <a:r>
                        <a:rPr lang="en-IN" b="1" dirty="0" err="1"/>
                        <a:t>Member_Name</a:t>
                      </a:r>
                      <a:endParaRPr lang="en-IN" b="1" dirty="0"/>
                    </a:p>
                  </a:txBody>
                  <a:tcPr anchor="ctr"/>
                </a:tc>
                <a:tc>
                  <a:txBody>
                    <a:bodyPr/>
                    <a:lstStyle/>
                    <a:p>
                      <a:pPr>
                        <a:buNone/>
                      </a:pPr>
                      <a:r>
                        <a:rPr lang="en-IN" b="1"/>
                        <a:t>Book_ID</a:t>
                      </a:r>
                    </a:p>
                  </a:txBody>
                  <a:tcPr anchor="ctr"/>
                </a:tc>
                <a:tc>
                  <a:txBody>
                    <a:bodyPr/>
                    <a:lstStyle/>
                    <a:p>
                      <a:pPr>
                        <a:buNone/>
                      </a:pPr>
                      <a:r>
                        <a:rPr lang="en-IN" b="1"/>
                        <a:t>Book_Title</a:t>
                      </a:r>
                    </a:p>
                  </a:txBody>
                  <a:tcPr anchor="ctr"/>
                </a:tc>
                <a:tc>
                  <a:txBody>
                    <a:bodyPr/>
                    <a:lstStyle/>
                    <a:p>
                      <a:pPr>
                        <a:buNone/>
                      </a:pPr>
                      <a:r>
                        <a:rPr lang="en-IN" b="1"/>
                        <a:t>Author_ID</a:t>
                      </a:r>
                    </a:p>
                  </a:txBody>
                  <a:tcPr anchor="ctr"/>
                </a:tc>
                <a:tc>
                  <a:txBody>
                    <a:bodyPr/>
                    <a:lstStyle/>
                    <a:p>
                      <a:pPr>
                        <a:buNone/>
                      </a:pPr>
                      <a:r>
                        <a:rPr lang="en-IN" b="1"/>
                        <a:t>Author_Name</a:t>
                      </a:r>
                    </a:p>
                  </a:txBody>
                  <a:tcPr anchor="ctr"/>
                </a:tc>
                <a:tc>
                  <a:txBody>
                    <a:bodyPr/>
                    <a:lstStyle/>
                    <a:p>
                      <a:pPr>
                        <a:buNone/>
                      </a:pPr>
                      <a:r>
                        <a:rPr lang="en-IN" b="1"/>
                        <a:t>Librarian_ID</a:t>
                      </a:r>
                    </a:p>
                  </a:txBody>
                  <a:tcPr anchor="ctr"/>
                </a:tc>
                <a:tc>
                  <a:txBody>
                    <a:bodyPr/>
                    <a:lstStyle/>
                    <a:p>
                      <a:pPr>
                        <a:buNone/>
                      </a:pPr>
                      <a:r>
                        <a:rPr lang="en-IN" b="1" dirty="0" err="1"/>
                        <a:t>Librarian_Name</a:t>
                      </a:r>
                      <a:endParaRPr lang="en-IN" b="1" dirty="0"/>
                    </a:p>
                  </a:txBody>
                  <a:tcPr anchor="ctr"/>
                </a:tc>
                <a:extLst>
                  <a:ext uri="{0D108BD9-81ED-4DB2-BD59-A6C34878D82A}">
                    <a16:rowId xmlns:a16="http://schemas.microsoft.com/office/drawing/2014/main" val="1886576726"/>
                  </a:ext>
                </a:extLst>
              </a:tr>
              <a:tr h="0">
                <a:tc>
                  <a:txBody>
                    <a:bodyPr/>
                    <a:lstStyle/>
                    <a:p>
                      <a:pPr>
                        <a:buNone/>
                      </a:pPr>
                      <a:r>
                        <a:rPr lang="en-IN" dirty="0"/>
                        <a:t>I01</a:t>
                      </a:r>
                    </a:p>
                  </a:txBody>
                  <a:tcPr anchor="ctr"/>
                </a:tc>
                <a:tc>
                  <a:txBody>
                    <a:bodyPr/>
                    <a:lstStyle/>
                    <a:p>
                      <a:pPr>
                        <a:buNone/>
                      </a:pPr>
                      <a:r>
                        <a:rPr lang="en-IN" dirty="0"/>
                        <a:t>M01</a:t>
                      </a:r>
                    </a:p>
                  </a:txBody>
                  <a:tcPr anchor="ctr"/>
                </a:tc>
                <a:tc>
                  <a:txBody>
                    <a:bodyPr/>
                    <a:lstStyle/>
                    <a:p>
                      <a:pPr>
                        <a:buNone/>
                      </a:pPr>
                      <a:r>
                        <a:rPr lang="en-US" dirty="0">
                          <a:highlight>
                            <a:srgbClr val="FFFF00"/>
                          </a:highlight>
                        </a:rPr>
                        <a:t>Rani</a:t>
                      </a:r>
                      <a:endParaRPr lang="en-IN" dirty="0">
                        <a:highlight>
                          <a:srgbClr val="FFFF00"/>
                        </a:highlight>
                      </a:endParaRPr>
                    </a:p>
                  </a:txBody>
                  <a:tcPr anchor="ctr"/>
                </a:tc>
                <a:tc>
                  <a:txBody>
                    <a:bodyPr/>
                    <a:lstStyle/>
                    <a:p>
                      <a:pPr>
                        <a:buNone/>
                      </a:pPr>
                      <a:r>
                        <a:rPr lang="en-IN" dirty="0"/>
                        <a:t>B01</a:t>
                      </a:r>
                    </a:p>
                  </a:txBody>
                  <a:tcPr anchor="ctr"/>
                </a:tc>
                <a:tc>
                  <a:txBody>
                    <a:bodyPr/>
                    <a:lstStyle/>
                    <a:p>
                      <a:pPr>
                        <a:buNone/>
                      </a:pPr>
                      <a:r>
                        <a:rPr lang="en-IN"/>
                        <a:t>DBMS</a:t>
                      </a:r>
                    </a:p>
                  </a:txBody>
                  <a:tcPr anchor="ctr"/>
                </a:tc>
                <a:tc>
                  <a:txBody>
                    <a:bodyPr/>
                    <a:lstStyle/>
                    <a:p>
                      <a:pPr>
                        <a:buNone/>
                      </a:pPr>
                      <a:r>
                        <a:rPr lang="en-IN"/>
                        <a:t>A01</a:t>
                      </a:r>
                    </a:p>
                  </a:txBody>
                  <a:tcPr anchor="ctr"/>
                </a:tc>
                <a:tc>
                  <a:txBody>
                    <a:bodyPr/>
                    <a:lstStyle/>
                    <a:p>
                      <a:pPr>
                        <a:buNone/>
                      </a:pPr>
                      <a:r>
                        <a:rPr lang="en-IN" dirty="0">
                          <a:highlight>
                            <a:srgbClr val="FFFF00"/>
                          </a:highlight>
                        </a:rPr>
                        <a:t>Korth</a:t>
                      </a:r>
                    </a:p>
                  </a:txBody>
                  <a:tcPr anchor="ctr"/>
                </a:tc>
                <a:tc>
                  <a:txBody>
                    <a:bodyPr/>
                    <a:lstStyle/>
                    <a:p>
                      <a:pPr>
                        <a:buNone/>
                      </a:pPr>
                      <a:r>
                        <a:rPr lang="en-IN"/>
                        <a:t>L01</a:t>
                      </a:r>
                    </a:p>
                  </a:txBody>
                  <a:tcPr anchor="ctr"/>
                </a:tc>
                <a:tc>
                  <a:txBody>
                    <a:bodyPr/>
                    <a:lstStyle/>
                    <a:p>
                      <a:pPr>
                        <a:buNone/>
                      </a:pPr>
                      <a:r>
                        <a:rPr lang="en-IN" dirty="0">
                          <a:highlight>
                            <a:srgbClr val="FFFF00"/>
                          </a:highlight>
                        </a:rPr>
                        <a:t>Ravi</a:t>
                      </a:r>
                    </a:p>
                  </a:txBody>
                  <a:tcPr anchor="ctr"/>
                </a:tc>
                <a:extLst>
                  <a:ext uri="{0D108BD9-81ED-4DB2-BD59-A6C34878D82A}">
                    <a16:rowId xmlns:a16="http://schemas.microsoft.com/office/drawing/2014/main" val="3268291967"/>
                  </a:ext>
                </a:extLst>
              </a:tr>
              <a:tr h="0">
                <a:tc>
                  <a:txBody>
                    <a:bodyPr/>
                    <a:lstStyle/>
                    <a:p>
                      <a:pPr>
                        <a:buNone/>
                      </a:pPr>
                      <a:r>
                        <a:rPr lang="en-IN"/>
                        <a:t>I02</a:t>
                      </a:r>
                    </a:p>
                  </a:txBody>
                  <a:tcPr anchor="ctr"/>
                </a:tc>
                <a:tc>
                  <a:txBody>
                    <a:bodyPr/>
                    <a:lstStyle/>
                    <a:p>
                      <a:pPr>
                        <a:buNone/>
                      </a:pPr>
                      <a:r>
                        <a:rPr lang="en-IN"/>
                        <a:t>M01</a:t>
                      </a:r>
                    </a:p>
                  </a:txBody>
                  <a:tcPr anchor="ctr"/>
                </a:tc>
                <a:tc>
                  <a:txBody>
                    <a:bodyPr/>
                    <a:lstStyle/>
                    <a:p>
                      <a:pPr>
                        <a:buNone/>
                      </a:pPr>
                      <a:r>
                        <a:rPr lang="en-US" dirty="0">
                          <a:highlight>
                            <a:srgbClr val="FFFF00"/>
                          </a:highlight>
                        </a:rPr>
                        <a:t>R</a:t>
                      </a:r>
                      <a:r>
                        <a:rPr lang="en-IN" dirty="0">
                          <a:highlight>
                            <a:srgbClr val="FFFF00"/>
                          </a:highlight>
                        </a:rPr>
                        <a:t>ani</a:t>
                      </a:r>
                    </a:p>
                  </a:txBody>
                  <a:tcPr anchor="ctr"/>
                </a:tc>
                <a:tc>
                  <a:txBody>
                    <a:bodyPr/>
                    <a:lstStyle/>
                    <a:p>
                      <a:pPr>
                        <a:buNone/>
                      </a:pPr>
                      <a:r>
                        <a:rPr lang="en-IN" dirty="0"/>
                        <a:t>B02</a:t>
                      </a:r>
                    </a:p>
                  </a:txBody>
                  <a:tcPr anchor="ctr"/>
                </a:tc>
                <a:tc>
                  <a:txBody>
                    <a:bodyPr/>
                    <a:lstStyle/>
                    <a:p>
                      <a:pPr>
                        <a:buNone/>
                      </a:pPr>
                      <a:r>
                        <a:rPr lang="en-IN"/>
                        <a:t>C++</a:t>
                      </a:r>
                    </a:p>
                  </a:txBody>
                  <a:tcPr anchor="ctr"/>
                </a:tc>
                <a:tc>
                  <a:txBody>
                    <a:bodyPr/>
                    <a:lstStyle/>
                    <a:p>
                      <a:pPr>
                        <a:buNone/>
                      </a:pPr>
                      <a:r>
                        <a:rPr lang="en-IN" dirty="0"/>
                        <a:t>A02</a:t>
                      </a:r>
                    </a:p>
                  </a:txBody>
                  <a:tcPr anchor="ctr"/>
                </a:tc>
                <a:tc>
                  <a:txBody>
                    <a:bodyPr/>
                    <a:lstStyle/>
                    <a:p>
                      <a:pPr>
                        <a:buNone/>
                      </a:pPr>
                      <a:r>
                        <a:rPr lang="en-IN"/>
                        <a:t>Balagurusamy</a:t>
                      </a:r>
                    </a:p>
                  </a:txBody>
                  <a:tcPr anchor="ctr"/>
                </a:tc>
                <a:tc>
                  <a:txBody>
                    <a:bodyPr/>
                    <a:lstStyle/>
                    <a:p>
                      <a:pPr>
                        <a:buNone/>
                      </a:pPr>
                      <a:r>
                        <a:rPr lang="en-IN"/>
                        <a:t>L01</a:t>
                      </a:r>
                    </a:p>
                  </a:txBody>
                  <a:tcPr anchor="ctr"/>
                </a:tc>
                <a:tc>
                  <a:txBody>
                    <a:bodyPr/>
                    <a:lstStyle/>
                    <a:p>
                      <a:pPr>
                        <a:buNone/>
                      </a:pPr>
                      <a:r>
                        <a:rPr lang="en-IN" dirty="0">
                          <a:highlight>
                            <a:srgbClr val="FFFF00"/>
                          </a:highlight>
                        </a:rPr>
                        <a:t>Ravi</a:t>
                      </a:r>
                    </a:p>
                  </a:txBody>
                  <a:tcPr anchor="ctr"/>
                </a:tc>
                <a:extLst>
                  <a:ext uri="{0D108BD9-81ED-4DB2-BD59-A6C34878D82A}">
                    <a16:rowId xmlns:a16="http://schemas.microsoft.com/office/drawing/2014/main" val="2438812955"/>
                  </a:ext>
                </a:extLst>
              </a:tr>
              <a:tr h="0">
                <a:tc>
                  <a:txBody>
                    <a:bodyPr/>
                    <a:lstStyle/>
                    <a:p>
                      <a:pPr>
                        <a:buNone/>
                      </a:pPr>
                      <a:r>
                        <a:rPr lang="en-IN"/>
                        <a:t>I03</a:t>
                      </a:r>
                    </a:p>
                  </a:txBody>
                  <a:tcPr anchor="ctr"/>
                </a:tc>
                <a:tc>
                  <a:txBody>
                    <a:bodyPr/>
                    <a:lstStyle/>
                    <a:p>
                      <a:pPr>
                        <a:buNone/>
                      </a:pPr>
                      <a:r>
                        <a:rPr lang="en-IN"/>
                        <a:t>M02</a:t>
                      </a:r>
                    </a:p>
                  </a:txBody>
                  <a:tcPr anchor="ctr"/>
                </a:tc>
                <a:tc>
                  <a:txBody>
                    <a:bodyPr/>
                    <a:lstStyle/>
                    <a:p>
                      <a:pPr>
                        <a:buNone/>
                      </a:pPr>
                      <a:r>
                        <a:rPr lang="en-IN" dirty="0"/>
                        <a:t>Siri</a:t>
                      </a:r>
                    </a:p>
                  </a:txBody>
                  <a:tcPr anchor="ctr"/>
                </a:tc>
                <a:tc>
                  <a:txBody>
                    <a:bodyPr/>
                    <a:lstStyle/>
                    <a:p>
                      <a:pPr>
                        <a:buNone/>
                      </a:pPr>
                      <a:r>
                        <a:rPr lang="en-IN"/>
                        <a:t>B01</a:t>
                      </a:r>
                    </a:p>
                  </a:txBody>
                  <a:tcPr anchor="ctr"/>
                </a:tc>
                <a:tc>
                  <a:txBody>
                    <a:bodyPr/>
                    <a:lstStyle/>
                    <a:p>
                      <a:pPr>
                        <a:buNone/>
                      </a:pPr>
                      <a:r>
                        <a:rPr lang="en-IN"/>
                        <a:t>DBMS</a:t>
                      </a:r>
                    </a:p>
                  </a:txBody>
                  <a:tcPr anchor="ctr"/>
                </a:tc>
                <a:tc>
                  <a:txBody>
                    <a:bodyPr/>
                    <a:lstStyle/>
                    <a:p>
                      <a:pPr>
                        <a:buNone/>
                      </a:pPr>
                      <a:r>
                        <a:rPr lang="en-IN"/>
                        <a:t>A01</a:t>
                      </a:r>
                    </a:p>
                  </a:txBody>
                  <a:tcPr anchor="ctr"/>
                </a:tc>
                <a:tc>
                  <a:txBody>
                    <a:bodyPr/>
                    <a:lstStyle/>
                    <a:p>
                      <a:pPr>
                        <a:buNone/>
                      </a:pPr>
                      <a:r>
                        <a:rPr lang="en-IN" dirty="0">
                          <a:highlight>
                            <a:srgbClr val="FFFF00"/>
                          </a:highlight>
                        </a:rPr>
                        <a:t>Korth</a:t>
                      </a:r>
                    </a:p>
                  </a:txBody>
                  <a:tcPr anchor="ctr"/>
                </a:tc>
                <a:tc>
                  <a:txBody>
                    <a:bodyPr/>
                    <a:lstStyle/>
                    <a:p>
                      <a:pPr>
                        <a:buNone/>
                      </a:pPr>
                      <a:r>
                        <a:rPr lang="en-IN"/>
                        <a:t>L02</a:t>
                      </a:r>
                    </a:p>
                  </a:txBody>
                  <a:tcPr anchor="ctr"/>
                </a:tc>
                <a:tc>
                  <a:txBody>
                    <a:bodyPr/>
                    <a:lstStyle/>
                    <a:p>
                      <a:pPr>
                        <a:buNone/>
                      </a:pPr>
                      <a:r>
                        <a:rPr lang="en-IN" dirty="0"/>
                        <a:t>Suresh</a:t>
                      </a:r>
                    </a:p>
                  </a:txBody>
                  <a:tcPr anchor="ctr"/>
                </a:tc>
                <a:extLst>
                  <a:ext uri="{0D108BD9-81ED-4DB2-BD59-A6C34878D82A}">
                    <a16:rowId xmlns:a16="http://schemas.microsoft.com/office/drawing/2014/main" val="600014174"/>
                  </a:ext>
                </a:extLst>
              </a:tr>
            </a:tbl>
          </a:graphicData>
        </a:graphic>
      </p:graphicFrame>
      <p:sp>
        <p:nvSpPr>
          <p:cNvPr id="9" name="TextBox 8">
            <a:extLst>
              <a:ext uri="{FF2B5EF4-FFF2-40B4-BE49-F238E27FC236}">
                <a16:creationId xmlns:a16="http://schemas.microsoft.com/office/drawing/2014/main" id="{87758E9C-40A8-FF0C-FCD2-364A0128EA00}"/>
              </a:ext>
            </a:extLst>
          </p:cNvPr>
          <p:cNvSpPr txBox="1"/>
          <p:nvPr/>
        </p:nvSpPr>
        <p:spPr>
          <a:xfrm>
            <a:off x="564580" y="4635541"/>
            <a:ext cx="5904820" cy="2123658"/>
          </a:xfrm>
          <a:prstGeom prst="rect">
            <a:avLst/>
          </a:prstGeom>
          <a:noFill/>
        </p:spPr>
        <p:txBody>
          <a:bodyPr wrap="square">
            <a:spAutoFit/>
          </a:bodyPr>
          <a:lstStyle/>
          <a:p>
            <a:pPr>
              <a:buNone/>
            </a:pPr>
            <a:r>
              <a:rPr lang="en-IN" b="1" dirty="0">
                <a:latin typeface="Times New Roman" panose="02020603050405020304" pitchFamily="18" charset="0"/>
              </a:rPr>
              <a:t>Problems:</a:t>
            </a:r>
          </a:p>
          <a:p>
            <a:pPr marL="342900" lvl="0" indent="-342900">
              <a:buFont typeface="Arial" panose="020B0604020202020204" pitchFamily="34" charset="0"/>
              <a:buChar char="•"/>
            </a:pPr>
            <a:r>
              <a:rPr lang="en-IN" sz="1800" dirty="0">
                <a:latin typeface="Times New Roman" panose="02020603050405020304" pitchFamily="18" charset="0"/>
              </a:rPr>
              <a:t>Member details are repeated. </a:t>
            </a:r>
          </a:p>
          <a:p>
            <a:pPr marL="342900" lvl="0" indent="-342900">
              <a:buFont typeface="Arial" panose="020B0604020202020204" pitchFamily="34" charset="0"/>
              <a:buChar char="•"/>
            </a:pPr>
            <a:r>
              <a:rPr lang="en-IN" sz="1800" dirty="0">
                <a:latin typeface="Times New Roman" panose="02020603050405020304" pitchFamily="18" charset="0"/>
              </a:rPr>
              <a:t>Author details are repeated. </a:t>
            </a:r>
          </a:p>
          <a:p>
            <a:pPr marL="342900" lvl="0" indent="-342900">
              <a:buFont typeface="Arial" panose="020B0604020202020204" pitchFamily="34" charset="0"/>
              <a:buChar char="•"/>
            </a:pPr>
            <a:r>
              <a:rPr lang="en-IN" sz="1800" dirty="0">
                <a:latin typeface="Times New Roman" panose="02020603050405020304" pitchFamily="18" charset="0"/>
              </a:rPr>
              <a:t>Librarian details are repeated. </a:t>
            </a:r>
          </a:p>
          <a:p>
            <a:pPr marL="342900" lvl="0" indent="-342900">
              <a:buFont typeface="Arial" panose="020B0604020202020204" pitchFamily="34" charset="0"/>
              <a:buChar char="•"/>
            </a:pPr>
            <a:r>
              <a:rPr lang="en-IN" sz="1800" dirty="0">
                <a:latin typeface="Times New Roman" panose="02020603050405020304" pitchFamily="18" charset="0"/>
              </a:rPr>
              <a:t>Same book information may appear in multiple transaction records. </a:t>
            </a:r>
          </a:p>
          <a:p>
            <a:pPr marL="342900" lvl="0" indent="-342900">
              <a:buFont typeface="Arial" panose="020B0604020202020204" pitchFamily="34" charset="0"/>
              <a:buChar char="•"/>
            </a:pPr>
            <a:r>
              <a:rPr lang="en-IN" sz="1800" dirty="0">
                <a:latin typeface="Times New Roman" panose="02020603050405020304" pitchFamily="18" charset="0"/>
              </a:rPr>
              <a:t>This causes data redundancy.</a:t>
            </a:r>
            <a:endParaRPr lang="en-IN" sz="1600" dirty="0">
              <a:latin typeface="Times New Roman" panose="02020603050405020304" pitchFamily="18" charset="0"/>
            </a:endParaRPr>
          </a:p>
        </p:txBody>
      </p:sp>
    </p:spTree>
    <p:extLst>
      <p:ext uri="{BB962C8B-B14F-4D97-AF65-F5344CB8AC3E}">
        <p14:creationId xmlns:p14="http://schemas.microsoft.com/office/powerpoint/2010/main" val="1450323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9E38D0-27F1-4CEE-4E38-88DDC4BEBB44}"/>
              </a:ext>
            </a:extLst>
          </p:cNvPr>
          <p:cNvSpPr txBox="1"/>
          <p:nvPr/>
        </p:nvSpPr>
        <p:spPr>
          <a:xfrm>
            <a:off x="492570" y="1077810"/>
            <a:ext cx="6696930" cy="461665"/>
          </a:xfrm>
          <a:prstGeom prst="rect">
            <a:avLst/>
          </a:prstGeom>
          <a:noFill/>
        </p:spPr>
        <p:txBody>
          <a:bodyPr wrap="square" rtlCol="0">
            <a:spAutoFit/>
          </a:bodyPr>
          <a:lstStyle/>
          <a:p>
            <a:r>
              <a:rPr lang="en-IN" b="1" dirty="0"/>
              <a:t>FIRST NORMAL FORM (1NF)</a:t>
            </a:r>
          </a:p>
        </p:txBody>
      </p:sp>
      <p:sp>
        <p:nvSpPr>
          <p:cNvPr id="5" name="TextBox 4">
            <a:extLst>
              <a:ext uri="{FF2B5EF4-FFF2-40B4-BE49-F238E27FC236}">
                <a16:creationId xmlns:a16="http://schemas.microsoft.com/office/drawing/2014/main" id="{EC52CF09-8ADD-F510-86D9-0E7E649DCFED}"/>
              </a:ext>
            </a:extLst>
          </p:cNvPr>
          <p:cNvSpPr txBox="1"/>
          <p:nvPr/>
        </p:nvSpPr>
        <p:spPr>
          <a:xfrm>
            <a:off x="6829450" y="4573986"/>
            <a:ext cx="2952410" cy="1815882"/>
          </a:xfrm>
          <a:prstGeom prst="rect">
            <a:avLst/>
          </a:prstGeom>
          <a:noFill/>
          <a:ln>
            <a:solidFill>
              <a:schemeClr val="tx1">
                <a:lumMod val="50000"/>
                <a:lumOff val="50000"/>
              </a:schemeClr>
            </a:solidFill>
          </a:ln>
        </p:spPr>
        <p:txBody>
          <a:bodyPr wrap="square">
            <a:spAutoFit/>
          </a:bodyPr>
          <a:lstStyle/>
          <a:p>
            <a:r>
              <a:rPr lang="en-IN" sz="1400" dirty="0"/>
              <a:t>UNF</a:t>
            </a:r>
          </a:p>
          <a:p>
            <a:r>
              <a:rPr lang="en-IN" sz="1400" dirty="0"/>
              <a:t>Combined data + repeating information</a:t>
            </a:r>
          </a:p>
          <a:p>
            <a:r>
              <a:rPr lang="en-IN" sz="1400" dirty="0"/>
              <a:t>              ↓</a:t>
            </a:r>
          </a:p>
          <a:p>
            <a:r>
              <a:rPr lang="en-IN" sz="1400" dirty="0"/>
              <a:t>      Remove repeating groups</a:t>
            </a:r>
          </a:p>
          <a:p>
            <a:r>
              <a:rPr lang="en-IN" sz="1400" dirty="0"/>
              <a:t>              ↓</a:t>
            </a:r>
          </a:p>
          <a:p>
            <a:r>
              <a:rPr lang="en-IN" sz="1400" dirty="0"/>
              <a:t>1NF</a:t>
            </a:r>
          </a:p>
          <a:p>
            <a:r>
              <a:rPr lang="en-IN" sz="1400" dirty="0"/>
              <a:t>Atomic values + separate records</a:t>
            </a:r>
          </a:p>
        </p:txBody>
      </p:sp>
      <p:graphicFrame>
        <p:nvGraphicFramePr>
          <p:cNvPr id="6" name="Table 5">
            <a:extLst>
              <a:ext uri="{FF2B5EF4-FFF2-40B4-BE49-F238E27FC236}">
                <a16:creationId xmlns:a16="http://schemas.microsoft.com/office/drawing/2014/main" id="{E81AD3C5-C0CA-D1C4-8AFE-64B6D0E2255C}"/>
              </a:ext>
            </a:extLst>
          </p:cNvPr>
          <p:cNvGraphicFramePr>
            <a:graphicFrameLocks noGrp="1"/>
          </p:cNvGraphicFramePr>
          <p:nvPr>
            <p:extLst>
              <p:ext uri="{D42A27DB-BD31-4B8C-83A1-F6EECF244321}">
                <p14:modId xmlns:p14="http://schemas.microsoft.com/office/powerpoint/2010/main" val="2479579475"/>
              </p:ext>
            </p:extLst>
          </p:nvPr>
        </p:nvGraphicFramePr>
        <p:xfrm>
          <a:off x="620713" y="2050891"/>
          <a:ext cx="8948736" cy="2011680"/>
        </p:xfrm>
        <a:graphic>
          <a:graphicData uri="http://schemas.openxmlformats.org/drawingml/2006/table">
            <a:tbl>
              <a:tblPr>
                <a:tableStyleId>{5C22544A-7EE6-4342-B048-85BDC9FD1C3A}</a:tableStyleId>
              </a:tblPr>
              <a:tblGrid>
                <a:gridCol w="1118592">
                  <a:extLst>
                    <a:ext uri="{9D8B030D-6E8A-4147-A177-3AD203B41FA5}">
                      <a16:colId xmlns:a16="http://schemas.microsoft.com/office/drawing/2014/main" val="3416310450"/>
                    </a:ext>
                  </a:extLst>
                </a:gridCol>
                <a:gridCol w="1118592">
                  <a:extLst>
                    <a:ext uri="{9D8B030D-6E8A-4147-A177-3AD203B41FA5}">
                      <a16:colId xmlns:a16="http://schemas.microsoft.com/office/drawing/2014/main" val="958105907"/>
                    </a:ext>
                  </a:extLst>
                </a:gridCol>
                <a:gridCol w="1118592">
                  <a:extLst>
                    <a:ext uri="{9D8B030D-6E8A-4147-A177-3AD203B41FA5}">
                      <a16:colId xmlns:a16="http://schemas.microsoft.com/office/drawing/2014/main" val="3974918089"/>
                    </a:ext>
                  </a:extLst>
                </a:gridCol>
                <a:gridCol w="1118592">
                  <a:extLst>
                    <a:ext uri="{9D8B030D-6E8A-4147-A177-3AD203B41FA5}">
                      <a16:colId xmlns:a16="http://schemas.microsoft.com/office/drawing/2014/main" val="335613352"/>
                    </a:ext>
                  </a:extLst>
                </a:gridCol>
                <a:gridCol w="1118592">
                  <a:extLst>
                    <a:ext uri="{9D8B030D-6E8A-4147-A177-3AD203B41FA5}">
                      <a16:colId xmlns:a16="http://schemas.microsoft.com/office/drawing/2014/main" val="587799176"/>
                    </a:ext>
                  </a:extLst>
                </a:gridCol>
                <a:gridCol w="1118592">
                  <a:extLst>
                    <a:ext uri="{9D8B030D-6E8A-4147-A177-3AD203B41FA5}">
                      <a16:colId xmlns:a16="http://schemas.microsoft.com/office/drawing/2014/main" val="1539632901"/>
                    </a:ext>
                  </a:extLst>
                </a:gridCol>
                <a:gridCol w="1118592">
                  <a:extLst>
                    <a:ext uri="{9D8B030D-6E8A-4147-A177-3AD203B41FA5}">
                      <a16:colId xmlns:a16="http://schemas.microsoft.com/office/drawing/2014/main" val="4010372330"/>
                    </a:ext>
                  </a:extLst>
                </a:gridCol>
                <a:gridCol w="1118592">
                  <a:extLst>
                    <a:ext uri="{9D8B030D-6E8A-4147-A177-3AD203B41FA5}">
                      <a16:colId xmlns:a16="http://schemas.microsoft.com/office/drawing/2014/main" val="208485837"/>
                    </a:ext>
                  </a:extLst>
                </a:gridCol>
              </a:tblGrid>
              <a:tr h="403119">
                <a:tc>
                  <a:txBody>
                    <a:bodyPr/>
                    <a:lstStyle/>
                    <a:p>
                      <a:pPr>
                        <a:buNone/>
                      </a:pPr>
                      <a:r>
                        <a:rPr lang="en-IN"/>
                        <a:t>Issue_ID</a:t>
                      </a:r>
                    </a:p>
                  </a:txBody>
                  <a:tcPr anchor="ctr"/>
                </a:tc>
                <a:tc>
                  <a:txBody>
                    <a:bodyPr/>
                    <a:lstStyle/>
                    <a:p>
                      <a:pPr>
                        <a:buNone/>
                      </a:pPr>
                      <a:r>
                        <a:rPr lang="en-IN"/>
                        <a:t>Member_ID</a:t>
                      </a:r>
                    </a:p>
                  </a:txBody>
                  <a:tcPr anchor="ctr"/>
                </a:tc>
                <a:tc>
                  <a:txBody>
                    <a:bodyPr/>
                    <a:lstStyle/>
                    <a:p>
                      <a:pPr>
                        <a:buNone/>
                      </a:pPr>
                      <a:r>
                        <a:rPr lang="en-IN"/>
                        <a:t>Book_ID</a:t>
                      </a:r>
                    </a:p>
                  </a:txBody>
                  <a:tcPr anchor="ctr"/>
                </a:tc>
                <a:tc>
                  <a:txBody>
                    <a:bodyPr/>
                    <a:lstStyle/>
                    <a:p>
                      <a:pPr>
                        <a:buNone/>
                      </a:pPr>
                      <a:r>
                        <a:rPr lang="en-IN"/>
                        <a:t>Librarian_ID</a:t>
                      </a:r>
                    </a:p>
                  </a:txBody>
                  <a:tcPr anchor="ctr"/>
                </a:tc>
                <a:tc>
                  <a:txBody>
                    <a:bodyPr/>
                    <a:lstStyle/>
                    <a:p>
                      <a:pPr>
                        <a:buNone/>
                      </a:pPr>
                      <a:r>
                        <a:rPr lang="en-IN" dirty="0" err="1"/>
                        <a:t>Issue_Date</a:t>
                      </a:r>
                      <a:endParaRPr lang="en-IN" dirty="0"/>
                    </a:p>
                  </a:txBody>
                  <a:tcPr anchor="ctr"/>
                </a:tc>
                <a:tc>
                  <a:txBody>
                    <a:bodyPr/>
                    <a:lstStyle/>
                    <a:p>
                      <a:pPr>
                        <a:buNone/>
                      </a:pPr>
                      <a:r>
                        <a:rPr lang="en-IN"/>
                        <a:t>Due_Date</a:t>
                      </a:r>
                    </a:p>
                  </a:txBody>
                  <a:tcPr anchor="ctr"/>
                </a:tc>
                <a:tc>
                  <a:txBody>
                    <a:bodyPr/>
                    <a:lstStyle/>
                    <a:p>
                      <a:pPr>
                        <a:buNone/>
                      </a:pPr>
                      <a:r>
                        <a:rPr lang="en-IN"/>
                        <a:t>Return_Date</a:t>
                      </a:r>
                    </a:p>
                  </a:txBody>
                  <a:tcPr anchor="ctr"/>
                </a:tc>
                <a:tc>
                  <a:txBody>
                    <a:bodyPr/>
                    <a:lstStyle/>
                    <a:p>
                      <a:pPr>
                        <a:buNone/>
                      </a:pPr>
                      <a:r>
                        <a:rPr lang="en-IN"/>
                        <a:t>Status</a:t>
                      </a:r>
                    </a:p>
                  </a:txBody>
                  <a:tcPr anchor="ctr"/>
                </a:tc>
                <a:extLst>
                  <a:ext uri="{0D108BD9-81ED-4DB2-BD59-A6C34878D82A}">
                    <a16:rowId xmlns:a16="http://schemas.microsoft.com/office/drawing/2014/main" val="2838440780"/>
                  </a:ext>
                </a:extLst>
              </a:tr>
              <a:tr h="0">
                <a:tc>
                  <a:txBody>
                    <a:bodyPr/>
                    <a:lstStyle/>
                    <a:p>
                      <a:pPr>
                        <a:buNone/>
                      </a:pPr>
                      <a:r>
                        <a:rPr lang="en-IN"/>
                        <a:t>I01</a:t>
                      </a:r>
                    </a:p>
                  </a:txBody>
                  <a:tcPr anchor="ctr"/>
                </a:tc>
                <a:tc>
                  <a:txBody>
                    <a:bodyPr/>
                    <a:lstStyle/>
                    <a:p>
                      <a:pPr>
                        <a:buNone/>
                      </a:pPr>
                      <a:r>
                        <a:rPr lang="en-IN"/>
                        <a:t>M01</a:t>
                      </a:r>
                    </a:p>
                  </a:txBody>
                  <a:tcPr anchor="ctr"/>
                </a:tc>
                <a:tc>
                  <a:txBody>
                    <a:bodyPr/>
                    <a:lstStyle/>
                    <a:p>
                      <a:pPr>
                        <a:buNone/>
                      </a:pPr>
                      <a:r>
                        <a:rPr lang="en-IN"/>
                        <a:t>B01</a:t>
                      </a:r>
                    </a:p>
                  </a:txBody>
                  <a:tcPr anchor="ctr"/>
                </a:tc>
                <a:tc>
                  <a:txBody>
                    <a:bodyPr/>
                    <a:lstStyle/>
                    <a:p>
                      <a:pPr>
                        <a:buNone/>
                      </a:pPr>
                      <a:r>
                        <a:rPr lang="en-IN"/>
                        <a:t>L01</a:t>
                      </a:r>
                    </a:p>
                  </a:txBody>
                  <a:tcPr anchor="ctr"/>
                </a:tc>
                <a:tc>
                  <a:txBody>
                    <a:bodyPr/>
                    <a:lstStyle/>
                    <a:p>
                      <a:pPr>
                        <a:buNone/>
                      </a:pPr>
                      <a:r>
                        <a:rPr lang="en-IN"/>
                        <a:t>10-09-26</a:t>
                      </a:r>
                    </a:p>
                  </a:txBody>
                  <a:tcPr anchor="ctr"/>
                </a:tc>
                <a:tc>
                  <a:txBody>
                    <a:bodyPr/>
                    <a:lstStyle/>
                    <a:p>
                      <a:pPr>
                        <a:buNone/>
                      </a:pPr>
                      <a:r>
                        <a:rPr lang="en-IN"/>
                        <a:t>17-09-26</a:t>
                      </a:r>
                    </a:p>
                  </a:txBody>
                  <a:tcPr anchor="ctr"/>
                </a:tc>
                <a:tc>
                  <a:txBody>
                    <a:bodyPr/>
                    <a:lstStyle/>
                    <a:p>
                      <a:pPr>
                        <a:buNone/>
                      </a:pPr>
                      <a:r>
                        <a:rPr lang="en-IN"/>
                        <a:t>16-09-26</a:t>
                      </a:r>
                    </a:p>
                  </a:txBody>
                  <a:tcPr anchor="ctr"/>
                </a:tc>
                <a:tc>
                  <a:txBody>
                    <a:bodyPr/>
                    <a:lstStyle/>
                    <a:p>
                      <a:pPr>
                        <a:buNone/>
                      </a:pPr>
                      <a:r>
                        <a:rPr lang="en-IN"/>
                        <a:t>Returned</a:t>
                      </a:r>
                    </a:p>
                  </a:txBody>
                  <a:tcPr anchor="ctr"/>
                </a:tc>
                <a:extLst>
                  <a:ext uri="{0D108BD9-81ED-4DB2-BD59-A6C34878D82A}">
                    <a16:rowId xmlns:a16="http://schemas.microsoft.com/office/drawing/2014/main" val="3024661386"/>
                  </a:ext>
                </a:extLst>
              </a:tr>
              <a:tr h="0">
                <a:tc>
                  <a:txBody>
                    <a:bodyPr/>
                    <a:lstStyle/>
                    <a:p>
                      <a:pPr>
                        <a:buNone/>
                      </a:pPr>
                      <a:r>
                        <a:rPr lang="en-IN"/>
                        <a:t>I02</a:t>
                      </a:r>
                    </a:p>
                  </a:txBody>
                  <a:tcPr anchor="ctr"/>
                </a:tc>
                <a:tc>
                  <a:txBody>
                    <a:bodyPr/>
                    <a:lstStyle/>
                    <a:p>
                      <a:pPr>
                        <a:buNone/>
                      </a:pPr>
                      <a:r>
                        <a:rPr lang="en-IN"/>
                        <a:t>M01</a:t>
                      </a:r>
                    </a:p>
                  </a:txBody>
                  <a:tcPr anchor="ctr"/>
                </a:tc>
                <a:tc>
                  <a:txBody>
                    <a:bodyPr/>
                    <a:lstStyle/>
                    <a:p>
                      <a:pPr>
                        <a:buNone/>
                      </a:pPr>
                      <a:r>
                        <a:rPr lang="en-IN"/>
                        <a:t>B02</a:t>
                      </a:r>
                    </a:p>
                  </a:txBody>
                  <a:tcPr anchor="ctr"/>
                </a:tc>
                <a:tc>
                  <a:txBody>
                    <a:bodyPr/>
                    <a:lstStyle/>
                    <a:p>
                      <a:pPr>
                        <a:buNone/>
                      </a:pPr>
                      <a:r>
                        <a:rPr lang="en-IN"/>
                        <a:t>L01</a:t>
                      </a:r>
                    </a:p>
                  </a:txBody>
                  <a:tcPr anchor="ctr"/>
                </a:tc>
                <a:tc>
                  <a:txBody>
                    <a:bodyPr/>
                    <a:lstStyle/>
                    <a:p>
                      <a:pPr>
                        <a:buNone/>
                      </a:pPr>
                      <a:r>
                        <a:rPr lang="en-IN"/>
                        <a:t>11-09-26</a:t>
                      </a:r>
                    </a:p>
                  </a:txBody>
                  <a:tcPr anchor="ctr"/>
                </a:tc>
                <a:tc>
                  <a:txBody>
                    <a:bodyPr/>
                    <a:lstStyle/>
                    <a:p>
                      <a:pPr>
                        <a:buNone/>
                      </a:pPr>
                      <a:r>
                        <a:rPr lang="en-IN"/>
                        <a:t>18-09-26</a:t>
                      </a:r>
                    </a:p>
                  </a:txBody>
                  <a:tcPr anchor="ctr"/>
                </a:tc>
                <a:tc>
                  <a:txBody>
                    <a:bodyPr/>
                    <a:lstStyle/>
                    <a:p>
                      <a:pPr>
                        <a:buNone/>
                      </a:pPr>
                      <a:r>
                        <a:rPr lang="en-IN"/>
                        <a:t>—</a:t>
                      </a:r>
                    </a:p>
                  </a:txBody>
                  <a:tcPr anchor="ctr"/>
                </a:tc>
                <a:tc>
                  <a:txBody>
                    <a:bodyPr/>
                    <a:lstStyle/>
                    <a:p>
                      <a:pPr>
                        <a:buNone/>
                      </a:pPr>
                      <a:r>
                        <a:rPr lang="en-IN"/>
                        <a:t>Issued</a:t>
                      </a:r>
                    </a:p>
                  </a:txBody>
                  <a:tcPr anchor="ctr"/>
                </a:tc>
                <a:extLst>
                  <a:ext uri="{0D108BD9-81ED-4DB2-BD59-A6C34878D82A}">
                    <a16:rowId xmlns:a16="http://schemas.microsoft.com/office/drawing/2014/main" val="2308729152"/>
                  </a:ext>
                </a:extLst>
              </a:tr>
              <a:tr h="0">
                <a:tc>
                  <a:txBody>
                    <a:bodyPr/>
                    <a:lstStyle/>
                    <a:p>
                      <a:pPr>
                        <a:buNone/>
                      </a:pPr>
                      <a:r>
                        <a:rPr lang="en-IN"/>
                        <a:t>I03</a:t>
                      </a:r>
                    </a:p>
                  </a:txBody>
                  <a:tcPr anchor="ctr"/>
                </a:tc>
                <a:tc>
                  <a:txBody>
                    <a:bodyPr/>
                    <a:lstStyle/>
                    <a:p>
                      <a:pPr>
                        <a:buNone/>
                      </a:pPr>
                      <a:r>
                        <a:rPr lang="en-IN"/>
                        <a:t>M02</a:t>
                      </a:r>
                    </a:p>
                  </a:txBody>
                  <a:tcPr anchor="ctr"/>
                </a:tc>
                <a:tc>
                  <a:txBody>
                    <a:bodyPr/>
                    <a:lstStyle/>
                    <a:p>
                      <a:pPr>
                        <a:buNone/>
                      </a:pPr>
                      <a:r>
                        <a:rPr lang="en-IN"/>
                        <a:t>B01</a:t>
                      </a:r>
                    </a:p>
                  </a:txBody>
                  <a:tcPr anchor="ctr"/>
                </a:tc>
                <a:tc>
                  <a:txBody>
                    <a:bodyPr/>
                    <a:lstStyle/>
                    <a:p>
                      <a:pPr>
                        <a:buNone/>
                      </a:pPr>
                      <a:r>
                        <a:rPr lang="en-IN"/>
                        <a:t>L02</a:t>
                      </a:r>
                    </a:p>
                  </a:txBody>
                  <a:tcPr anchor="ctr"/>
                </a:tc>
                <a:tc>
                  <a:txBody>
                    <a:bodyPr/>
                    <a:lstStyle/>
                    <a:p>
                      <a:pPr>
                        <a:buNone/>
                      </a:pPr>
                      <a:r>
                        <a:rPr lang="en-IN"/>
                        <a:t>12-09-26</a:t>
                      </a:r>
                    </a:p>
                  </a:txBody>
                  <a:tcPr anchor="ctr"/>
                </a:tc>
                <a:tc>
                  <a:txBody>
                    <a:bodyPr/>
                    <a:lstStyle/>
                    <a:p>
                      <a:pPr>
                        <a:buNone/>
                      </a:pPr>
                      <a:r>
                        <a:rPr lang="en-IN"/>
                        <a:t>19-09-26</a:t>
                      </a:r>
                    </a:p>
                  </a:txBody>
                  <a:tcPr anchor="ctr"/>
                </a:tc>
                <a:tc>
                  <a:txBody>
                    <a:bodyPr/>
                    <a:lstStyle/>
                    <a:p>
                      <a:pPr>
                        <a:buNone/>
                      </a:pPr>
                      <a:r>
                        <a:rPr lang="en-IN"/>
                        <a:t>—</a:t>
                      </a:r>
                    </a:p>
                  </a:txBody>
                  <a:tcPr anchor="ctr"/>
                </a:tc>
                <a:tc>
                  <a:txBody>
                    <a:bodyPr/>
                    <a:lstStyle/>
                    <a:p>
                      <a:pPr>
                        <a:buNone/>
                      </a:pPr>
                      <a:r>
                        <a:rPr lang="en-IN" dirty="0"/>
                        <a:t>Issued</a:t>
                      </a:r>
                    </a:p>
                  </a:txBody>
                  <a:tcPr anchor="ctr"/>
                </a:tc>
                <a:extLst>
                  <a:ext uri="{0D108BD9-81ED-4DB2-BD59-A6C34878D82A}">
                    <a16:rowId xmlns:a16="http://schemas.microsoft.com/office/drawing/2014/main" val="333361831"/>
                  </a:ext>
                </a:extLst>
              </a:tr>
            </a:tbl>
          </a:graphicData>
        </a:graphic>
      </p:graphicFrame>
      <p:sp>
        <p:nvSpPr>
          <p:cNvPr id="7" name="TextBox 6">
            <a:extLst>
              <a:ext uri="{FF2B5EF4-FFF2-40B4-BE49-F238E27FC236}">
                <a16:creationId xmlns:a16="http://schemas.microsoft.com/office/drawing/2014/main" id="{B1AC2E34-2A39-10AA-8671-EB7BA7B145B5}"/>
              </a:ext>
            </a:extLst>
          </p:cNvPr>
          <p:cNvSpPr txBox="1"/>
          <p:nvPr/>
        </p:nvSpPr>
        <p:spPr>
          <a:xfrm>
            <a:off x="620713" y="4956390"/>
            <a:ext cx="5992707" cy="1446550"/>
          </a:xfrm>
          <a:prstGeom prst="rect">
            <a:avLst/>
          </a:prstGeom>
          <a:noFill/>
        </p:spPr>
        <p:txBody>
          <a:bodyPr wrap="square" rtlCol="0">
            <a:spAutoFit/>
          </a:bodyPr>
          <a:lstStyle/>
          <a:p>
            <a:r>
              <a:rPr lang="en-IN" dirty="0"/>
              <a:t>✅ </a:t>
            </a:r>
            <a:r>
              <a:rPr lang="en-IN" sz="2000" dirty="0">
                <a:latin typeface="Times New Roman" panose="02020603050405020304" pitchFamily="18" charset="0"/>
              </a:rPr>
              <a:t>One value in each field</a:t>
            </a:r>
            <a:br>
              <a:rPr lang="en-IN" sz="2000" dirty="0">
                <a:latin typeface="Times New Roman" panose="02020603050405020304" pitchFamily="18" charset="0"/>
              </a:rPr>
            </a:br>
            <a:r>
              <a:rPr lang="en-IN" sz="2000" dirty="0">
                <a:latin typeface="Times New Roman" panose="02020603050405020304" pitchFamily="18" charset="0"/>
              </a:rPr>
              <a:t>✅ No repeating groups</a:t>
            </a:r>
            <a:br>
              <a:rPr lang="en-IN" sz="2000" dirty="0">
                <a:latin typeface="Times New Roman" panose="02020603050405020304" pitchFamily="18" charset="0"/>
              </a:rPr>
            </a:br>
            <a:r>
              <a:rPr lang="en-IN" sz="2000" dirty="0">
                <a:latin typeface="Times New Roman" panose="02020603050405020304" pitchFamily="18" charset="0"/>
              </a:rPr>
              <a:t>✅ Each transaction has a unique </a:t>
            </a:r>
            <a:r>
              <a:rPr lang="en-IN" sz="2000" dirty="0" err="1">
                <a:latin typeface="Times New Roman" panose="02020603050405020304" pitchFamily="18" charset="0"/>
              </a:rPr>
              <a:t>Issue_ID</a:t>
            </a:r>
            <a:endParaRPr lang="en-IN" dirty="0">
              <a:latin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55F50C04-4097-D211-2FE0-DE516C368533}"/>
              </a:ext>
            </a:extLst>
          </p:cNvPr>
          <p:cNvSpPr txBox="1"/>
          <p:nvPr/>
        </p:nvSpPr>
        <p:spPr>
          <a:xfrm>
            <a:off x="2796890" y="285700"/>
            <a:ext cx="4392609" cy="830997"/>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b="1" dirty="0">
              <a:solidFill>
                <a:schemeClr val="bg1"/>
              </a:solidFill>
            </a:endParaRPr>
          </a:p>
        </p:txBody>
      </p:sp>
    </p:spTree>
    <p:extLst>
      <p:ext uri="{BB962C8B-B14F-4D97-AF65-F5344CB8AC3E}">
        <p14:creationId xmlns:p14="http://schemas.microsoft.com/office/powerpoint/2010/main" val="2387217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3B1FA-DFB9-AA13-6AC7-176152BB7487}"/>
              </a:ext>
            </a:extLst>
          </p:cNvPr>
          <p:cNvSpPr txBox="1"/>
          <p:nvPr/>
        </p:nvSpPr>
        <p:spPr>
          <a:xfrm>
            <a:off x="348550" y="1077810"/>
            <a:ext cx="5184719" cy="461665"/>
          </a:xfrm>
          <a:prstGeom prst="rect">
            <a:avLst/>
          </a:prstGeom>
          <a:noFill/>
        </p:spPr>
        <p:txBody>
          <a:bodyPr wrap="square" rtlCol="0">
            <a:spAutoFit/>
          </a:bodyPr>
          <a:lstStyle/>
          <a:p>
            <a:r>
              <a:rPr lang="en-IN" b="1" dirty="0"/>
              <a:t>SECOND NORMAL FORM (2NF)</a:t>
            </a:r>
          </a:p>
        </p:txBody>
      </p:sp>
      <p:graphicFrame>
        <p:nvGraphicFramePr>
          <p:cNvPr id="3" name="Table 2">
            <a:extLst>
              <a:ext uri="{FF2B5EF4-FFF2-40B4-BE49-F238E27FC236}">
                <a16:creationId xmlns:a16="http://schemas.microsoft.com/office/drawing/2014/main" id="{1221996E-1ACD-11D7-19DB-BE481B02EC5C}"/>
              </a:ext>
            </a:extLst>
          </p:cNvPr>
          <p:cNvGraphicFramePr>
            <a:graphicFrameLocks noGrp="1"/>
          </p:cNvGraphicFramePr>
          <p:nvPr>
            <p:extLst>
              <p:ext uri="{D42A27DB-BD31-4B8C-83A1-F6EECF244321}">
                <p14:modId xmlns:p14="http://schemas.microsoft.com/office/powerpoint/2010/main" val="3722199208"/>
              </p:ext>
            </p:extLst>
          </p:nvPr>
        </p:nvGraphicFramePr>
        <p:xfrm>
          <a:off x="420560" y="1725900"/>
          <a:ext cx="9148888" cy="2062352"/>
        </p:xfrm>
        <a:graphic>
          <a:graphicData uri="http://schemas.openxmlformats.org/drawingml/2006/table">
            <a:tbl>
              <a:tblPr>
                <a:tableStyleId>{5C22544A-7EE6-4342-B048-85BDC9FD1C3A}</a:tableStyleId>
              </a:tblPr>
              <a:tblGrid>
                <a:gridCol w="2287222">
                  <a:extLst>
                    <a:ext uri="{9D8B030D-6E8A-4147-A177-3AD203B41FA5}">
                      <a16:colId xmlns:a16="http://schemas.microsoft.com/office/drawing/2014/main" val="695459435"/>
                    </a:ext>
                  </a:extLst>
                </a:gridCol>
                <a:gridCol w="2287222">
                  <a:extLst>
                    <a:ext uri="{9D8B030D-6E8A-4147-A177-3AD203B41FA5}">
                      <a16:colId xmlns:a16="http://schemas.microsoft.com/office/drawing/2014/main" val="3000323881"/>
                    </a:ext>
                  </a:extLst>
                </a:gridCol>
                <a:gridCol w="2287222">
                  <a:extLst>
                    <a:ext uri="{9D8B030D-6E8A-4147-A177-3AD203B41FA5}">
                      <a16:colId xmlns:a16="http://schemas.microsoft.com/office/drawing/2014/main" val="1866914921"/>
                    </a:ext>
                  </a:extLst>
                </a:gridCol>
                <a:gridCol w="2287222">
                  <a:extLst>
                    <a:ext uri="{9D8B030D-6E8A-4147-A177-3AD203B41FA5}">
                      <a16:colId xmlns:a16="http://schemas.microsoft.com/office/drawing/2014/main" val="374941745"/>
                    </a:ext>
                  </a:extLst>
                </a:gridCol>
              </a:tblGrid>
              <a:tr h="515588">
                <a:tc>
                  <a:txBody>
                    <a:bodyPr/>
                    <a:lstStyle/>
                    <a:p>
                      <a:pPr>
                        <a:buNone/>
                      </a:pPr>
                      <a:r>
                        <a:rPr lang="en-IN" b="1"/>
                        <a:t>Author_ID</a:t>
                      </a:r>
                    </a:p>
                  </a:txBody>
                  <a:tcPr anchor="ctr"/>
                </a:tc>
                <a:tc>
                  <a:txBody>
                    <a:bodyPr/>
                    <a:lstStyle/>
                    <a:p>
                      <a:pPr>
                        <a:buNone/>
                      </a:pPr>
                      <a:r>
                        <a:rPr lang="en-IN" b="1" dirty="0" err="1"/>
                        <a:t>Book_ID</a:t>
                      </a:r>
                      <a:endParaRPr lang="en-IN" b="1" dirty="0"/>
                    </a:p>
                  </a:txBody>
                  <a:tcPr anchor="ctr"/>
                </a:tc>
                <a:tc>
                  <a:txBody>
                    <a:bodyPr/>
                    <a:lstStyle/>
                    <a:p>
                      <a:pPr>
                        <a:buNone/>
                      </a:pPr>
                      <a:r>
                        <a:rPr lang="en-IN" b="1"/>
                        <a:t>Author_Name</a:t>
                      </a:r>
                    </a:p>
                  </a:txBody>
                  <a:tcPr anchor="ctr"/>
                </a:tc>
                <a:tc>
                  <a:txBody>
                    <a:bodyPr/>
                    <a:lstStyle/>
                    <a:p>
                      <a:pPr>
                        <a:buNone/>
                      </a:pPr>
                      <a:r>
                        <a:rPr lang="en-IN" b="1" dirty="0" err="1"/>
                        <a:t>Book_Title</a:t>
                      </a:r>
                      <a:endParaRPr lang="en-IN" b="1" dirty="0"/>
                    </a:p>
                  </a:txBody>
                  <a:tcPr anchor="ctr"/>
                </a:tc>
                <a:extLst>
                  <a:ext uri="{0D108BD9-81ED-4DB2-BD59-A6C34878D82A}">
                    <a16:rowId xmlns:a16="http://schemas.microsoft.com/office/drawing/2014/main" val="2540049563"/>
                  </a:ext>
                </a:extLst>
              </a:tr>
              <a:tr h="515588">
                <a:tc>
                  <a:txBody>
                    <a:bodyPr/>
                    <a:lstStyle/>
                    <a:p>
                      <a:pPr>
                        <a:buNone/>
                      </a:pPr>
                      <a:r>
                        <a:rPr lang="en-IN"/>
                        <a:t>A01</a:t>
                      </a:r>
                    </a:p>
                  </a:txBody>
                  <a:tcPr anchor="ctr"/>
                </a:tc>
                <a:tc>
                  <a:txBody>
                    <a:bodyPr/>
                    <a:lstStyle/>
                    <a:p>
                      <a:pPr>
                        <a:buNone/>
                      </a:pPr>
                      <a:r>
                        <a:rPr lang="en-IN"/>
                        <a:t>B01</a:t>
                      </a:r>
                    </a:p>
                  </a:txBody>
                  <a:tcPr anchor="ctr"/>
                </a:tc>
                <a:tc>
                  <a:txBody>
                    <a:bodyPr/>
                    <a:lstStyle/>
                    <a:p>
                      <a:pPr>
                        <a:buNone/>
                      </a:pPr>
                      <a:r>
                        <a:rPr lang="en-IN" dirty="0"/>
                        <a:t>Korth</a:t>
                      </a:r>
                    </a:p>
                  </a:txBody>
                  <a:tcPr anchor="ctr"/>
                </a:tc>
                <a:tc>
                  <a:txBody>
                    <a:bodyPr/>
                    <a:lstStyle/>
                    <a:p>
                      <a:pPr>
                        <a:buNone/>
                      </a:pPr>
                      <a:r>
                        <a:rPr lang="en-IN"/>
                        <a:t>DBMS</a:t>
                      </a:r>
                    </a:p>
                  </a:txBody>
                  <a:tcPr anchor="ctr"/>
                </a:tc>
                <a:extLst>
                  <a:ext uri="{0D108BD9-81ED-4DB2-BD59-A6C34878D82A}">
                    <a16:rowId xmlns:a16="http://schemas.microsoft.com/office/drawing/2014/main" val="4083999037"/>
                  </a:ext>
                </a:extLst>
              </a:tr>
              <a:tr h="515588">
                <a:tc>
                  <a:txBody>
                    <a:bodyPr/>
                    <a:lstStyle/>
                    <a:p>
                      <a:pPr>
                        <a:buNone/>
                      </a:pPr>
                      <a:r>
                        <a:rPr lang="en-IN"/>
                        <a:t>A01</a:t>
                      </a:r>
                    </a:p>
                  </a:txBody>
                  <a:tcPr anchor="ctr"/>
                </a:tc>
                <a:tc>
                  <a:txBody>
                    <a:bodyPr/>
                    <a:lstStyle/>
                    <a:p>
                      <a:pPr>
                        <a:buNone/>
                      </a:pPr>
                      <a:r>
                        <a:rPr lang="en-IN"/>
                        <a:t>B02</a:t>
                      </a:r>
                    </a:p>
                  </a:txBody>
                  <a:tcPr anchor="ctr"/>
                </a:tc>
                <a:tc>
                  <a:txBody>
                    <a:bodyPr/>
                    <a:lstStyle/>
                    <a:p>
                      <a:pPr>
                        <a:buNone/>
                      </a:pPr>
                      <a:r>
                        <a:rPr lang="en-IN" dirty="0"/>
                        <a:t>Korth</a:t>
                      </a:r>
                    </a:p>
                  </a:txBody>
                  <a:tcPr anchor="ctr"/>
                </a:tc>
                <a:tc>
                  <a:txBody>
                    <a:bodyPr/>
                    <a:lstStyle/>
                    <a:p>
                      <a:pPr>
                        <a:buNone/>
                      </a:pPr>
                      <a:r>
                        <a:rPr lang="en-IN"/>
                        <a:t>C++</a:t>
                      </a:r>
                    </a:p>
                  </a:txBody>
                  <a:tcPr anchor="ctr"/>
                </a:tc>
                <a:extLst>
                  <a:ext uri="{0D108BD9-81ED-4DB2-BD59-A6C34878D82A}">
                    <a16:rowId xmlns:a16="http://schemas.microsoft.com/office/drawing/2014/main" val="842311510"/>
                  </a:ext>
                </a:extLst>
              </a:tr>
              <a:tr h="515588">
                <a:tc>
                  <a:txBody>
                    <a:bodyPr/>
                    <a:lstStyle/>
                    <a:p>
                      <a:pPr>
                        <a:buNone/>
                      </a:pPr>
                      <a:r>
                        <a:rPr lang="en-IN"/>
                        <a:t>A02</a:t>
                      </a:r>
                    </a:p>
                  </a:txBody>
                  <a:tcPr anchor="ctr"/>
                </a:tc>
                <a:tc>
                  <a:txBody>
                    <a:bodyPr/>
                    <a:lstStyle/>
                    <a:p>
                      <a:pPr>
                        <a:buNone/>
                      </a:pPr>
                      <a:r>
                        <a:rPr lang="en-IN"/>
                        <a:t>B01</a:t>
                      </a:r>
                    </a:p>
                  </a:txBody>
                  <a:tcPr anchor="ctr"/>
                </a:tc>
                <a:tc>
                  <a:txBody>
                    <a:bodyPr/>
                    <a:lstStyle/>
                    <a:p>
                      <a:pPr>
                        <a:buNone/>
                      </a:pPr>
                      <a:r>
                        <a:rPr lang="en-IN"/>
                        <a:t>Silberschatz</a:t>
                      </a:r>
                    </a:p>
                  </a:txBody>
                  <a:tcPr anchor="ctr"/>
                </a:tc>
                <a:tc>
                  <a:txBody>
                    <a:bodyPr/>
                    <a:lstStyle/>
                    <a:p>
                      <a:pPr>
                        <a:buNone/>
                      </a:pPr>
                      <a:r>
                        <a:rPr lang="en-IN" dirty="0"/>
                        <a:t>DBMS</a:t>
                      </a:r>
                    </a:p>
                  </a:txBody>
                  <a:tcPr anchor="ctr"/>
                </a:tc>
                <a:extLst>
                  <a:ext uri="{0D108BD9-81ED-4DB2-BD59-A6C34878D82A}">
                    <a16:rowId xmlns:a16="http://schemas.microsoft.com/office/drawing/2014/main" val="2854902794"/>
                  </a:ext>
                </a:extLst>
              </a:tr>
            </a:tbl>
          </a:graphicData>
        </a:graphic>
      </p:graphicFrame>
      <p:sp>
        <p:nvSpPr>
          <p:cNvPr id="5" name="TextBox 4">
            <a:extLst>
              <a:ext uri="{FF2B5EF4-FFF2-40B4-BE49-F238E27FC236}">
                <a16:creationId xmlns:a16="http://schemas.microsoft.com/office/drawing/2014/main" id="{E369990F-B226-F19E-41B0-20C775DB0DB7}"/>
              </a:ext>
            </a:extLst>
          </p:cNvPr>
          <p:cNvSpPr txBox="1"/>
          <p:nvPr/>
        </p:nvSpPr>
        <p:spPr>
          <a:xfrm>
            <a:off x="348550" y="4102230"/>
            <a:ext cx="6696930" cy="1200329"/>
          </a:xfrm>
          <a:prstGeom prst="rect">
            <a:avLst/>
          </a:prstGeom>
          <a:noFill/>
        </p:spPr>
        <p:txBody>
          <a:bodyPr wrap="square">
            <a:spAutoFit/>
          </a:bodyPr>
          <a:lstStyle/>
          <a:p>
            <a:r>
              <a:rPr lang="en-IN" sz="1800" dirty="0"/>
              <a:t>Composite Primary Key = (</a:t>
            </a:r>
            <a:r>
              <a:rPr lang="en-IN" sz="1800" dirty="0" err="1"/>
              <a:t>Author_ID</a:t>
            </a:r>
            <a:r>
              <a:rPr lang="en-IN" sz="1800" dirty="0"/>
              <a:t>, </a:t>
            </a:r>
            <a:r>
              <a:rPr lang="en-IN" sz="1800" dirty="0" err="1"/>
              <a:t>Book_ID</a:t>
            </a:r>
            <a:r>
              <a:rPr lang="en-IN" sz="1800" dirty="0"/>
              <a:t>)</a:t>
            </a:r>
          </a:p>
          <a:p>
            <a:endParaRPr lang="en-IN" sz="1800" dirty="0"/>
          </a:p>
          <a:p>
            <a:r>
              <a:rPr lang="en-IN" sz="1800" dirty="0" err="1"/>
              <a:t>Author_ID</a:t>
            </a:r>
            <a:r>
              <a:rPr lang="en-IN" sz="1800" dirty="0"/>
              <a:t> ─&gt; </a:t>
            </a:r>
            <a:r>
              <a:rPr lang="en-IN" sz="1800" dirty="0" err="1"/>
              <a:t>Author_Name</a:t>
            </a:r>
            <a:endParaRPr lang="en-IN" sz="1800" dirty="0"/>
          </a:p>
          <a:p>
            <a:r>
              <a:rPr lang="en-IN" sz="1800" dirty="0" err="1"/>
              <a:t>Book_ID</a:t>
            </a:r>
            <a:r>
              <a:rPr lang="en-IN" sz="1800" dirty="0"/>
              <a:t> ─&gt; </a:t>
            </a:r>
            <a:r>
              <a:rPr lang="en-IN" sz="1800" dirty="0" err="1"/>
              <a:t>Book_Title</a:t>
            </a:r>
            <a:endParaRPr lang="en-IN" sz="1800" dirty="0"/>
          </a:p>
        </p:txBody>
      </p:sp>
      <p:sp>
        <p:nvSpPr>
          <p:cNvPr id="6" name="TextBox 5">
            <a:extLst>
              <a:ext uri="{FF2B5EF4-FFF2-40B4-BE49-F238E27FC236}">
                <a16:creationId xmlns:a16="http://schemas.microsoft.com/office/drawing/2014/main" id="{8BD504F5-621F-3768-647A-9DE656929078}"/>
              </a:ext>
            </a:extLst>
          </p:cNvPr>
          <p:cNvSpPr txBox="1"/>
          <p:nvPr/>
        </p:nvSpPr>
        <p:spPr>
          <a:xfrm>
            <a:off x="348550" y="5616537"/>
            <a:ext cx="7344221" cy="1569660"/>
          </a:xfrm>
          <a:prstGeom prst="rect">
            <a:avLst/>
          </a:prstGeom>
          <a:noFill/>
        </p:spPr>
        <p:txBody>
          <a:bodyPr wrap="square" rtlCol="0">
            <a:spAutoFit/>
          </a:bodyPr>
          <a:lstStyle/>
          <a:p>
            <a:r>
              <a:rPr lang="en-IN" b="1" dirty="0"/>
              <a:t>Partial Dependency</a:t>
            </a:r>
          </a:p>
          <a:p>
            <a:r>
              <a:rPr lang="en-IN" dirty="0" err="1"/>
              <a:t>Author_Name</a:t>
            </a:r>
            <a:r>
              <a:rPr lang="en-IN" dirty="0"/>
              <a:t> depends only on </a:t>
            </a:r>
            <a:r>
              <a:rPr lang="en-IN" dirty="0" err="1"/>
              <a:t>Author_ID</a:t>
            </a:r>
            <a:r>
              <a:rPr lang="en-IN" dirty="0"/>
              <a:t>.</a:t>
            </a:r>
          </a:p>
          <a:p>
            <a:r>
              <a:rPr lang="en-IN" dirty="0" err="1"/>
              <a:t>Book_Title</a:t>
            </a:r>
            <a:r>
              <a:rPr lang="en-IN" dirty="0"/>
              <a:t> depends only on </a:t>
            </a:r>
            <a:r>
              <a:rPr lang="en-IN" dirty="0" err="1"/>
              <a:t>Book_ID</a:t>
            </a:r>
            <a:r>
              <a:rPr lang="en-IN" dirty="0"/>
              <a:t>.</a:t>
            </a:r>
          </a:p>
          <a:p>
            <a:endParaRPr lang="en-IN" dirty="0"/>
          </a:p>
        </p:txBody>
      </p:sp>
      <p:sp>
        <p:nvSpPr>
          <p:cNvPr id="11" name="TextBox 10">
            <a:extLst>
              <a:ext uri="{FF2B5EF4-FFF2-40B4-BE49-F238E27FC236}">
                <a16:creationId xmlns:a16="http://schemas.microsoft.com/office/drawing/2014/main" id="{084777C2-45D9-6DB0-D735-7A597F22B1D3}"/>
              </a:ext>
            </a:extLst>
          </p:cNvPr>
          <p:cNvSpPr txBox="1"/>
          <p:nvPr/>
        </p:nvSpPr>
        <p:spPr>
          <a:xfrm>
            <a:off x="2724880" y="285701"/>
            <a:ext cx="4392610" cy="830997"/>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b="1" dirty="0">
              <a:solidFill>
                <a:schemeClr val="bg1"/>
              </a:solidFill>
            </a:endParaRPr>
          </a:p>
        </p:txBody>
      </p:sp>
    </p:spTree>
    <p:extLst>
      <p:ext uri="{BB962C8B-B14F-4D97-AF65-F5344CB8AC3E}">
        <p14:creationId xmlns:p14="http://schemas.microsoft.com/office/powerpoint/2010/main" val="2038604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0967C4D-2E68-8333-6AEE-2C9F4D21A2E4}"/>
              </a:ext>
            </a:extLst>
          </p:cNvPr>
          <p:cNvPicPr>
            <a:picLocks noChangeAspect="1"/>
          </p:cNvPicPr>
          <p:nvPr/>
        </p:nvPicPr>
        <p:blipFill>
          <a:blip r:embed="rId2"/>
          <a:stretch>
            <a:fillRect/>
          </a:stretch>
        </p:blipFill>
        <p:spPr>
          <a:xfrm>
            <a:off x="428940" y="1550984"/>
            <a:ext cx="9629460" cy="6192860"/>
          </a:xfrm>
          <a:prstGeom prst="rect">
            <a:avLst/>
          </a:prstGeom>
        </p:spPr>
      </p:pic>
      <p:sp>
        <p:nvSpPr>
          <p:cNvPr id="11" name="TextBox 10">
            <a:extLst>
              <a:ext uri="{FF2B5EF4-FFF2-40B4-BE49-F238E27FC236}">
                <a16:creationId xmlns:a16="http://schemas.microsoft.com/office/drawing/2014/main" id="{B3E5D976-81BC-2D8A-24AF-AD89969E88AD}"/>
              </a:ext>
            </a:extLst>
          </p:cNvPr>
          <p:cNvSpPr txBox="1"/>
          <p:nvPr/>
        </p:nvSpPr>
        <p:spPr>
          <a:xfrm>
            <a:off x="428940" y="1149820"/>
            <a:ext cx="3448100" cy="461665"/>
          </a:xfrm>
          <a:prstGeom prst="rect">
            <a:avLst/>
          </a:prstGeom>
          <a:noFill/>
        </p:spPr>
        <p:txBody>
          <a:bodyPr wrap="square" rtlCol="0">
            <a:spAutoFit/>
          </a:bodyPr>
          <a:lstStyle/>
          <a:p>
            <a:r>
              <a:rPr lang="en-US" b="1" dirty="0">
                <a:latin typeface="Times New Roman" panose="02020603050405020304" pitchFamily="18" charset="0"/>
              </a:rPr>
              <a:t>Decomposition</a:t>
            </a:r>
            <a:endParaRPr lang="en-IN" b="1" dirty="0">
              <a:latin typeface="Times New Roman" panose="02020603050405020304" pitchFamily="18" charset="0"/>
            </a:endParaRPr>
          </a:p>
        </p:txBody>
      </p:sp>
      <p:sp>
        <p:nvSpPr>
          <p:cNvPr id="2" name="TextBox 1">
            <a:extLst>
              <a:ext uri="{FF2B5EF4-FFF2-40B4-BE49-F238E27FC236}">
                <a16:creationId xmlns:a16="http://schemas.microsoft.com/office/drawing/2014/main" id="{0DBEF0EA-7EE0-F258-27E7-BB3A9F4B9B81}"/>
              </a:ext>
            </a:extLst>
          </p:cNvPr>
          <p:cNvSpPr txBox="1"/>
          <p:nvPr/>
        </p:nvSpPr>
        <p:spPr>
          <a:xfrm>
            <a:off x="2724880" y="213690"/>
            <a:ext cx="4536630" cy="830997"/>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dirty="0"/>
          </a:p>
        </p:txBody>
      </p:sp>
    </p:spTree>
    <p:extLst>
      <p:ext uri="{BB962C8B-B14F-4D97-AF65-F5344CB8AC3E}">
        <p14:creationId xmlns:p14="http://schemas.microsoft.com/office/powerpoint/2010/main" val="13006572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FFF577E-DFF2-C3E1-5CA6-A9FFD36058BD}"/>
              </a:ext>
            </a:extLst>
          </p:cNvPr>
          <p:cNvGraphicFramePr>
            <a:graphicFrameLocks noGrp="1"/>
          </p:cNvGraphicFramePr>
          <p:nvPr>
            <p:extLst>
              <p:ext uri="{D42A27DB-BD31-4B8C-83A1-F6EECF244321}">
                <p14:modId xmlns:p14="http://schemas.microsoft.com/office/powerpoint/2010/main" val="2266319135"/>
              </p:ext>
            </p:extLst>
          </p:nvPr>
        </p:nvGraphicFramePr>
        <p:xfrm>
          <a:off x="708600" y="1780779"/>
          <a:ext cx="6696930" cy="1097280"/>
        </p:xfrm>
        <a:graphic>
          <a:graphicData uri="http://schemas.openxmlformats.org/drawingml/2006/table">
            <a:tbl>
              <a:tblPr>
                <a:tableStyleId>{5C22544A-7EE6-4342-B048-85BDC9FD1C3A}</a:tableStyleId>
              </a:tblPr>
              <a:tblGrid>
                <a:gridCol w="3348465">
                  <a:extLst>
                    <a:ext uri="{9D8B030D-6E8A-4147-A177-3AD203B41FA5}">
                      <a16:colId xmlns:a16="http://schemas.microsoft.com/office/drawing/2014/main" val="886771067"/>
                    </a:ext>
                  </a:extLst>
                </a:gridCol>
                <a:gridCol w="3348465">
                  <a:extLst>
                    <a:ext uri="{9D8B030D-6E8A-4147-A177-3AD203B41FA5}">
                      <a16:colId xmlns:a16="http://schemas.microsoft.com/office/drawing/2014/main" val="1154750265"/>
                    </a:ext>
                  </a:extLst>
                </a:gridCol>
              </a:tblGrid>
              <a:tr h="336046">
                <a:tc>
                  <a:txBody>
                    <a:bodyPr/>
                    <a:lstStyle/>
                    <a:p>
                      <a:pPr>
                        <a:buNone/>
                      </a:pPr>
                      <a:r>
                        <a:rPr lang="en-IN" sz="1800" dirty="0" err="1"/>
                        <a:t>Author_ID</a:t>
                      </a:r>
                      <a:endParaRPr lang="en-IN" sz="1800" dirty="0"/>
                    </a:p>
                  </a:txBody>
                  <a:tcPr anchor="ctr"/>
                </a:tc>
                <a:tc>
                  <a:txBody>
                    <a:bodyPr/>
                    <a:lstStyle/>
                    <a:p>
                      <a:pPr>
                        <a:buNone/>
                      </a:pPr>
                      <a:r>
                        <a:rPr lang="en-IN" sz="1800"/>
                        <a:t>Author_Name</a:t>
                      </a:r>
                    </a:p>
                  </a:txBody>
                  <a:tcPr anchor="ctr"/>
                </a:tc>
                <a:extLst>
                  <a:ext uri="{0D108BD9-81ED-4DB2-BD59-A6C34878D82A}">
                    <a16:rowId xmlns:a16="http://schemas.microsoft.com/office/drawing/2014/main" val="2718457108"/>
                  </a:ext>
                </a:extLst>
              </a:tr>
              <a:tr h="336046">
                <a:tc>
                  <a:txBody>
                    <a:bodyPr/>
                    <a:lstStyle/>
                    <a:p>
                      <a:pPr>
                        <a:buNone/>
                      </a:pPr>
                      <a:r>
                        <a:rPr lang="en-IN" sz="1800"/>
                        <a:t>A01</a:t>
                      </a:r>
                    </a:p>
                  </a:txBody>
                  <a:tcPr anchor="ctr"/>
                </a:tc>
                <a:tc>
                  <a:txBody>
                    <a:bodyPr/>
                    <a:lstStyle/>
                    <a:p>
                      <a:pPr>
                        <a:buNone/>
                      </a:pPr>
                      <a:r>
                        <a:rPr lang="en-IN" sz="1800"/>
                        <a:t>Korth</a:t>
                      </a:r>
                    </a:p>
                  </a:txBody>
                  <a:tcPr anchor="ctr"/>
                </a:tc>
                <a:extLst>
                  <a:ext uri="{0D108BD9-81ED-4DB2-BD59-A6C34878D82A}">
                    <a16:rowId xmlns:a16="http://schemas.microsoft.com/office/drawing/2014/main" val="3783665861"/>
                  </a:ext>
                </a:extLst>
              </a:tr>
              <a:tr h="336046">
                <a:tc>
                  <a:txBody>
                    <a:bodyPr/>
                    <a:lstStyle/>
                    <a:p>
                      <a:pPr>
                        <a:buNone/>
                      </a:pPr>
                      <a:r>
                        <a:rPr lang="en-IN" sz="1800"/>
                        <a:t>A02</a:t>
                      </a:r>
                    </a:p>
                  </a:txBody>
                  <a:tcPr anchor="ctr"/>
                </a:tc>
                <a:tc>
                  <a:txBody>
                    <a:bodyPr/>
                    <a:lstStyle/>
                    <a:p>
                      <a:pPr>
                        <a:buNone/>
                      </a:pPr>
                      <a:r>
                        <a:rPr lang="en-IN" sz="1800" dirty="0"/>
                        <a:t>Silberschatz</a:t>
                      </a:r>
                    </a:p>
                  </a:txBody>
                  <a:tcPr anchor="ctr"/>
                </a:tc>
                <a:extLst>
                  <a:ext uri="{0D108BD9-81ED-4DB2-BD59-A6C34878D82A}">
                    <a16:rowId xmlns:a16="http://schemas.microsoft.com/office/drawing/2014/main" val="2833068756"/>
                  </a:ext>
                </a:extLst>
              </a:tr>
            </a:tbl>
          </a:graphicData>
        </a:graphic>
      </p:graphicFrame>
      <p:sp>
        <p:nvSpPr>
          <p:cNvPr id="4" name="TextBox 3">
            <a:extLst>
              <a:ext uri="{FF2B5EF4-FFF2-40B4-BE49-F238E27FC236}">
                <a16:creationId xmlns:a16="http://schemas.microsoft.com/office/drawing/2014/main" id="{A4982E4D-5F77-91D6-3409-27D00702C33D}"/>
              </a:ext>
            </a:extLst>
          </p:cNvPr>
          <p:cNvSpPr txBox="1"/>
          <p:nvPr/>
        </p:nvSpPr>
        <p:spPr>
          <a:xfrm>
            <a:off x="2652870" y="213690"/>
            <a:ext cx="4536630" cy="1200329"/>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dirty="0"/>
          </a:p>
          <a:p>
            <a:endParaRPr lang="en-IN" dirty="0"/>
          </a:p>
        </p:txBody>
      </p:sp>
      <p:sp>
        <p:nvSpPr>
          <p:cNvPr id="5" name="TextBox 4">
            <a:extLst>
              <a:ext uri="{FF2B5EF4-FFF2-40B4-BE49-F238E27FC236}">
                <a16:creationId xmlns:a16="http://schemas.microsoft.com/office/drawing/2014/main" id="{2C3A82A2-04D8-D1B4-DF99-FCC2DF42B412}"/>
              </a:ext>
            </a:extLst>
          </p:cNvPr>
          <p:cNvSpPr txBox="1"/>
          <p:nvPr/>
        </p:nvSpPr>
        <p:spPr>
          <a:xfrm>
            <a:off x="708600" y="1077810"/>
            <a:ext cx="2304320" cy="461665"/>
          </a:xfrm>
          <a:prstGeom prst="rect">
            <a:avLst/>
          </a:prstGeom>
          <a:noFill/>
        </p:spPr>
        <p:txBody>
          <a:bodyPr wrap="square" rtlCol="0">
            <a:spAutoFit/>
          </a:bodyPr>
          <a:lstStyle/>
          <a:p>
            <a:r>
              <a:rPr lang="en-US" b="1" dirty="0"/>
              <a:t>1.Author</a:t>
            </a:r>
            <a:endParaRPr lang="en-IN" b="1" dirty="0"/>
          </a:p>
        </p:txBody>
      </p:sp>
      <p:sp>
        <p:nvSpPr>
          <p:cNvPr id="6" name="TextBox 5">
            <a:extLst>
              <a:ext uri="{FF2B5EF4-FFF2-40B4-BE49-F238E27FC236}">
                <a16:creationId xmlns:a16="http://schemas.microsoft.com/office/drawing/2014/main" id="{9E6335C7-61F7-A16D-0876-302FBB0DCF0D}"/>
              </a:ext>
            </a:extLst>
          </p:cNvPr>
          <p:cNvSpPr txBox="1"/>
          <p:nvPr/>
        </p:nvSpPr>
        <p:spPr>
          <a:xfrm>
            <a:off x="708600" y="3022080"/>
            <a:ext cx="2088289" cy="461665"/>
          </a:xfrm>
          <a:prstGeom prst="rect">
            <a:avLst/>
          </a:prstGeom>
          <a:noFill/>
        </p:spPr>
        <p:txBody>
          <a:bodyPr wrap="square" rtlCol="0">
            <a:spAutoFit/>
          </a:bodyPr>
          <a:lstStyle/>
          <a:p>
            <a:r>
              <a:rPr lang="en-US" b="1" dirty="0"/>
              <a:t>2. Book</a:t>
            </a:r>
            <a:endParaRPr lang="en-IN" b="1" dirty="0"/>
          </a:p>
        </p:txBody>
      </p:sp>
      <p:graphicFrame>
        <p:nvGraphicFramePr>
          <p:cNvPr id="7" name="Table 6">
            <a:extLst>
              <a:ext uri="{FF2B5EF4-FFF2-40B4-BE49-F238E27FC236}">
                <a16:creationId xmlns:a16="http://schemas.microsoft.com/office/drawing/2014/main" id="{FE9F4077-33AD-96A3-B3AC-8E7EE22A77EB}"/>
              </a:ext>
            </a:extLst>
          </p:cNvPr>
          <p:cNvGraphicFramePr>
            <a:graphicFrameLocks noGrp="1"/>
          </p:cNvGraphicFramePr>
          <p:nvPr>
            <p:extLst>
              <p:ext uri="{D42A27DB-BD31-4B8C-83A1-F6EECF244321}">
                <p14:modId xmlns:p14="http://schemas.microsoft.com/office/powerpoint/2010/main" val="1576683730"/>
              </p:ext>
            </p:extLst>
          </p:nvPr>
        </p:nvGraphicFramePr>
        <p:xfrm>
          <a:off x="757987" y="3627766"/>
          <a:ext cx="6696930" cy="1410594"/>
        </p:xfrm>
        <a:graphic>
          <a:graphicData uri="http://schemas.openxmlformats.org/drawingml/2006/table">
            <a:tbl>
              <a:tblPr>
                <a:tableStyleId>{5C22544A-7EE6-4342-B048-85BDC9FD1C3A}</a:tableStyleId>
              </a:tblPr>
              <a:tblGrid>
                <a:gridCol w="3348465">
                  <a:extLst>
                    <a:ext uri="{9D8B030D-6E8A-4147-A177-3AD203B41FA5}">
                      <a16:colId xmlns:a16="http://schemas.microsoft.com/office/drawing/2014/main" val="3263029600"/>
                    </a:ext>
                  </a:extLst>
                </a:gridCol>
                <a:gridCol w="3348465">
                  <a:extLst>
                    <a:ext uri="{9D8B030D-6E8A-4147-A177-3AD203B41FA5}">
                      <a16:colId xmlns:a16="http://schemas.microsoft.com/office/drawing/2014/main" val="2265092401"/>
                    </a:ext>
                  </a:extLst>
                </a:gridCol>
              </a:tblGrid>
              <a:tr h="470198">
                <a:tc>
                  <a:txBody>
                    <a:bodyPr/>
                    <a:lstStyle/>
                    <a:p>
                      <a:pPr>
                        <a:buNone/>
                      </a:pPr>
                      <a:r>
                        <a:rPr lang="en-IN" sz="1800" dirty="0" err="1"/>
                        <a:t>Book_ID</a:t>
                      </a:r>
                      <a:endParaRPr lang="en-IN" sz="1800" dirty="0"/>
                    </a:p>
                  </a:txBody>
                  <a:tcPr anchor="ctr"/>
                </a:tc>
                <a:tc>
                  <a:txBody>
                    <a:bodyPr/>
                    <a:lstStyle/>
                    <a:p>
                      <a:pPr>
                        <a:buNone/>
                      </a:pPr>
                      <a:r>
                        <a:rPr lang="en-IN" sz="1800"/>
                        <a:t>Book_Title</a:t>
                      </a:r>
                    </a:p>
                  </a:txBody>
                  <a:tcPr anchor="ctr"/>
                </a:tc>
                <a:extLst>
                  <a:ext uri="{0D108BD9-81ED-4DB2-BD59-A6C34878D82A}">
                    <a16:rowId xmlns:a16="http://schemas.microsoft.com/office/drawing/2014/main" val="1085358999"/>
                  </a:ext>
                </a:extLst>
              </a:tr>
              <a:tr h="470198">
                <a:tc>
                  <a:txBody>
                    <a:bodyPr/>
                    <a:lstStyle/>
                    <a:p>
                      <a:pPr>
                        <a:buNone/>
                      </a:pPr>
                      <a:r>
                        <a:rPr lang="en-IN" sz="1800" dirty="0"/>
                        <a:t>B01</a:t>
                      </a:r>
                    </a:p>
                  </a:txBody>
                  <a:tcPr anchor="ctr"/>
                </a:tc>
                <a:tc>
                  <a:txBody>
                    <a:bodyPr/>
                    <a:lstStyle/>
                    <a:p>
                      <a:pPr>
                        <a:buNone/>
                      </a:pPr>
                      <a:r>
                        <a:rPr lang="en-IN" sz="1800"/>
                        <a:t>DBMS</a:t>
                      </a:r>
                    </a:p>
                  </a:txBody>
                  <a:tcPr anchor="ctr"/>
                </a:tc>
                <a:extLst>
                  <a:ext uri="{0D108BD9-81ED-4DB2-BD59-A6C34878D82A}">
                    <a16:rowId xmlns:a16="http://schemas.microsoft.com/office/drawing/2014/main" val="4147683394"/>
                  </a:ext>
                </a:extLst>
              </a:tr>
              <a:tr h="470198">
                <a:tc>
                  <a:txBody>
                    <a:bodyPr/>
                    <a:lstStyle/>
                    <a:p>
                      <a:pPr>
                        <a:buNone/>
                      </a:pPr>
                      <a:r>
                        <a:rPr lang="en-IN" sz="1800" dirty="0"/>
                        <a:t>B02</a:t>
                      </a:r>
                    </a:p>
                  </a:txBody>
                  <a:tcPr anchor="ctr"/>
                </a:tc>
                <a:tc>
                  <a:txBody>
                    <a:bodyPr/>
                    <a:lstStyle/>
                    <a:p>
                      <a:pPr>
                        <a:buNone/>
                      </a:pPr>
                      <a:r>
                        <a:rPr lang="en-IN" sz="1800" dirty="0"/>
                        <a:t>C++</a:t>
                      </a:r>
                    </a:p>
                  </a:txBody>
                  <a:tcPr anchor="ctr"/>
                </a:tc>
                <a:extLst>
                  <a:ext uri="{0D108BD9-81ED-4DB2-BD59-A6C34878D82A}">
                    <a16:rowId xmlns:a16="http://schemas.microsoft.com/office/drawing/2014/main" val="1351304210"/>
                  </a:ext>
                </a:extLst>
              </a:tr>
            </a:tbl>
          </a:graphicData>
        </a:graphic>
      </p:graphicFrame>
      <p:graphicFrame>
        <p:nvGraphicFramePr>
          <p:cNvPr id="8" name="Table 7">
            <a:extLst>
              <a:ext uri="{FF2B5EF4-FFF2-40B4-BE49-F238E27FC236}">
                <a16:creationId xmlns:a16="http://schemas.microsoft.com/office/drawing/2014/main" id="{34967522-96F4-0B44-8B27-377F0CEEB344}"/>
              </a:ext>
            </a:extLst>
          </p:cNvPr>
          <p:cNvGraphicFramePr>
            <a:graphicFrameLocks noGrp="1"/>
          </p:cNvGraphicFramePr>
          <p:nvPr>
            <p:extLst>
              <p:ext uri="{D42A27DB-BD31-4B8C-83A1-F6EECF244321}">
                <p14:modId xmlns:p14="http://schemas.microsoft.com/office/powerpoint/2010/main" val="3594241497"/>
              </p:ext>
            </p:extLst>
          </p:nvPr>
        </p:nvGraphicFramePr>
        <p:xfrm>
          <a:off x="708600" y="5991620"/>
          <a:ext cx="6746318" cy="1639100"/>
        </p:xfrm>
        <a:graphic>
          <a:graphicData uri="http://schemas.openxmlformats.org/drawingml/2006/table">
            <a:tbl>
              <a:tblPr>
                <a:tableStyleId>{5C22544A-7EE6-4342-B048-85BDC9FD1C3A}</a:tableStyleId>
              </a:tblPr>
              <a:tblGrid>
                <a:gridCol w="3373159">
                  <a:extLst>
                    <a:ext uri="{9D8B030D-6E8A-4147-A177-3AD203B41FA5}">
                      <a16:colId xmlns:a16="http://schemas.microsoft.com/office/drawing/2014/main" val="3289812655"/>
                    </a:ext>
                  </a:extLst>
                </a:gridCol>
                <a:gridCol w="3373159">
                  <a:extLst>
                    <a:ext uri="{9D8B030D-6E8A-4147-A177-3AD203B41FA5}">
                      <a16:colId xmlns:a16="http://schemas.microsoft.com/office/drawing/2014/main" val="2695700140"/>
                    </a:ext>
                  </a:extLst>
                </a:gridCol>
              </a:tblGrid>
              <a:tr h="409775">
                <a:tc>
                  <a:txBody>
                    <a:bodyPr/>
                    <a:lstStyle/>
                    <a:p>
                      <a:pPr>
                        <a:buNone/>
                      </a:pPr>
                      <a:r>
                        <a:rPr lang="en-IN" sz="1800"/>
                        <a:t>Author_ID</a:t>
                      </a:r>
                    </a:p>
                  </a:txBody>
                  <a:tcPr anchor="ctr"/>
                </a:tc>
                <a:tc>
                  <a:txBody>
                    <a:bodyPr/>
                    <a:lstStyle/>
                    <a:p>
                      <a:pPr>
                        <a:buNone/>
                      </a:pPr>
                      <a:r>
                        <a:rPr lang="en-IN" sz="1800"/>
                        <a:t>Book_ID</a:t>
                      </a:r>
                    </a:p>
                  </a:txBody>
                  <a:tcPr anchor="ctr"/>
                </a:tc>
                <a:extLst>
                  <a:ext uri="{0D108BD9-81ED-4DB2-BD59-A6C34878D82A}">
                    <a16:rowId xmlns:a16="http://schemas.microsoft.com/office/drawing/2014/main" val="2248389381"/>
                  </a:ext>
                </a:extLst>
              </a:tr>
              <a:tr h="409775">
                <a:tc>
                  <a:txBody>
                    <a:bodyPr/>
                    <a:lstStyle/>
                    <a:p>
                      <a:pPr>
                        <a:buNone/>
                      </a:pPr>
                      <a:r>
                        <a:rPr lang="en-IN" sz="1800"/>
                        <a:t>A01</a:t>
                      </a:r>
                    </a:p>
                  </a:txBody>
                  <a:tcPr anchor="ctr"/>
                </a:tc>
                <a:tc>
                  <a:txBody>
                    <a:bodyPr/>
                    <a:lstStyle/>
                    <a:p>
                      <a:pPr>
                        <a:buNone/>
                      </a:pPr>
                      <a:r>
                        <a:rPr lang="en-IN" sz="1800" dirty="0"/>
                        <a:t>B01</a:t>
                      </a:r>
                    </a:p>
                  </a:txBody>
                  <a:tcPr anchor="ctr"/>
                </a:tc>
                <a:extLst>
                  <a:ext uri="{0D108BD9-81ED-4DB2-BD59-A6C34878D82A}">
                    <a16:rowId xmlns:a16="http://schemas.microsoft.com/office/drawing/2014/main" val="2146387721"/>
                  </a:ext>
                </a:extLst>
              </a:tr>
              <a:tr h="409775">
                <a:tc>
                  <a:txBody>
                    <a:bodyPr/>
                    <a:lstStyle/>
                    <a:p>
                      <a:pPr>
                        <a:buNone/>
                      </a:pPr>
                      <a:r>
                        <a:rPr lang="en-IN" sz="1800"/>
                        <a:t>A01</a:t>
                      </a:r>
                    </a:p>
                  </a:txBody>
                  <a:tcPr anchor="ctr"/>
                </a:tc>
                <a:tc>
                  <a:txBody>
                    <a:bodyPr/>
                    <a:lstStyle/>
                    <a:p>
                      <a:pPr>
                        <a:buNone/>
                      </a:pPr>
                      <a:r>
                        <a:rPr lang="en-IN" sz="1800" dirty="0"/>
                        <a:t>B02</a:t>
                      </a:r>
                    </a:p>
                  </a:txBody>
                  <a:tcPr anchor="ctr"/>
                </a:tc>
                <a:extLst>
                  <a:ext uri="{0D108BD9-81ED-4DB2-BD59-A6C34878D82A}">
                    <a16:rowId xmlns:a16="http://schemas.microsoft.com/office/drawing/2014/main" val="2599489908"/>
                  </a:ext>
                </a:extLst>
              </a:tr>
              <a:tr h="409775">
                <a:tc>
                  <a:txBody>
                    <a:bodyPr/>
                    <a:lstStyle/>
                    <a:p>
                      <a:pPr>
                        <a:buNone/>
                      </a:pPr>
                      <a:r>
                        <a:rPr lang="en-IN" sz="1800"/>
                        <a:t>A02</a:t>
                      </a:r>
                    </a:p>
                  </a:txBody>
                  <a:tcPr anchor="ctr"/>
                </a:tc>
                <a:tc>
                  <a:txBody>
                    <a:bodyPr/>
                    <a:lstStyle/>
                    <a:p>
                      <a:pPr>
                        <a:buNone/>
                      </a:pPr>
                      <a:r>
                        <a:rPr lang="en-IN" sz="1800" dirty="0"/>
                        <a:t>B01</a:t>
                      </a:r>
                    </a:p>
                  </a:txBody>
                  <a:tcPr anchor="ctr"/>
                </a:tc>
                <a:extLst>
                  <a:ext uri="{0D108BD9-81ED-4DB2-BD59-A6C34878D82A}">
                    <a16:rowId xmlns:a16="http://schemas.microsoft.com/office/drawing/2014/main" val="4137306886"/>
                  </a:ext>
                </a:extLst>
              </a:tr>
            </a:tbl>
          </a:graphicData>
        </a:graphic>
      </p:graphicFrame>
      <p:sp>
        <p:nvSpPr>
          <p:cNvPr id="9" name="TextBox 8">
            <a:extLst>
              <a:ext uri="{FF2B5EF4-FFF2-40B4-BE49-F238E27FC236}">
                <a16:creationId xmlns:a16="http://schemas.microsoft.com/office/drawing/2014/main" id="{253D80BD-0A4E-8CF6-8EC4-A1D2D4909E14}"/>
              </a:ext>
            </a:extLst>
          </p:cNvPr>
          <p:cNvSpPr txBox="1"/>
          <p:nvPr/>
        </p:nvSpPr>
        <p:spPr>
          <a:xfrm>
            <a:off x="757988" y="5385934"/>
            <a:ext cx="2398952" cy="461665"/>
          </a:xfrm>
          <a:prstGeom prst="rect">
            <a:avLst/>
          </a:prstGeom>
          <a:noFill/>
        </p:spPr>
        <p:txBody>
          <a:bodyPr wrap="square" rtlCol="0">
            <a:spAutoFit/>
          </a:bodyPr>
          <a:lstStyle/>
          <a:p>
            <a:r>
              <a:rPr lang="en-US" b="1" dirty="0"/>
              <a:t>3. </a:t>
            </a:r>
            <a:r>
              <a:rPr lang="en-US" b="1" dirty="0" err="1"/>
              <a:t>Book_Author</a:t>
            </a:r>
            <a:endParaRPr lang="en-IN" b="1" dirty="0"/>
          </a:p>
        </p:txBody>
      </p:sp>
    </p:spTree>
    <p:extLst>
      <p:ext uri="{BB962C8B-B14F-4D97-AF65-F5344CB8AC3E}">
        <p14:creationId xmlns:p14="http://schemas.microsoft.com/office/powerpoint/2010/main" val="25507679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E1584-B756-EB3C-01F3-911B49CCD68A}"/>
              </a:ext>
            </a:extLst>
          </p:cNvPr>
          <p:cNvSpPr txBox="1"/>
          <p:nvPr/>
        </p:nvSpPr>
        <p:spPr>
          <a:xfrm>
            <a:off x="586854" y="1241946"/>
            <a:ext cx="6818676" cy="461665"/>
          </a:xfrm>
          <a:prstGeom prst="rect">
            <a:avLst/>
          </a:prstGeom>
          <a:noFill/>
        </p:spPr>
        <p:txBody>
          <a:bodyPr wrap="square" rtlCol="0">
            <a:spAutoFit/>
          </a:bodyPr>
          <a:lstStyle/>
          <a:p>
            <a:r>
              <a:rPr lang="en-IN" b="1" dirty="0"/>
              <a:t>THIRD NORMAL FORM (3NF)</a:t>
            </a:r>
          </a:p>
        </p:txBody>
      </p:sp>
      <p:graphicFrame>
        <p:nvGraphicFramePr>
          <p:cNvPr id="3" name="Table 2">
            <a:extLst>
              <a:ext uri="{FF2B5EF4-FFF2-40B4-BE49-F238E27FC236}">
                <a16:creationId xmlns:a16="http://schemas.microsoft.com/office/drawing/2014/main" id="{060774F8-DAF2-3FA4-60B6-C7065D0F66D8}"/>
              </a:ext>
            </a:extLst>
          </p:cNvPr>
          <p:cNvGraphicFramePr>
            <a:graphicFrameLocks noGrp="1"/>
          </p:cNvGraphicFramePr>
          <p:nvPr>
            <p:extLst>
              <p:ext uri="{D42A27DB-BD31-4B8C-83A1-F6EECF244321}">
                <p14:modId xmlns:p14="http://schemas.microsoft.com/office/powerpoint/2010/main" val="4048858351"/>
              </p:ext>
            </p:extLst>
          </p:nvPr>
        </p:nvGraphicFramePr>
        <p:xfrm>
          <a:off x="586854" y="1869920"/>
          <a:ext cx="8982592" cy="2009772"/>
        </p:xfrm>
        <a:graphic>
          <a:graphicData uri="http://schemas.openxmlformats.org/drawingml/2006/table">
            <a:tbl>
              <a:tblPr>
                <a:tableStyleId>{5C22544A-7EE6-4342-B048-85BDC9FD1C3A}</a:tableStyleId>
              </a:tblPr>
              <a:tblGrid>
                <a:gridCol w="1122824">
                  <a:extLst>
                    <a:ext uri="{9D8B030D-6E8A-4147-A177-3AD203B41FA5}">
                      <a16:colId xmlns:a16="http://schemas.microsoft.com/office/drawing/2014/main" val="3822278328"/>
                    </a:ext>
                  </a:extLst>
                </a:gridCol>
                <a:gridCol w="1122824">
                  <a:extLst>
                    <a:ext uri="{9D8B030D-6E8A-4147-A177-3AD203B41FA5}">
                      <a16:colId xmlns:a16="http://schemas.microsoft.com/office/drawing/2014/main" val="3984122614"/>
                    </a:ext>
                  </a:extLst>
                </a:gridCol>
                <a:gridCol w="1122824">
                  <a:extLst>
                    <a:ext uri="{9D8B030D-6E8A-4147-A177-3AD203B41FA5}">
                      <a16:colId xmlns:a16="http://schemas.microsoft.com/office/drawing/2014/main" val="2358684580"/>
                    </a:ext>
                  </a:extLst>
                </a:gridCol>
                <a:gridCol w="1122824">
                  <a:extLst>
                    <a:ext uri="{9D8B030D-6E8A-4147-A177-3AD203B41FA5}">
                      <a16:colId xmlns:a16="http://schemas.microsoft.com/office/drawing/2014/main" val="189213310"/>
                    </a:ext>
                  </a:extLst>
                </a:gridCol>
                <a:gridCol w="1122824">
                  <a:extLst>
                    <a:ext uri="{9D8B030D-6E8A-4147-A177-3AD203B41FA5}">
                      <a16:colId xmlns:a16="http://schemas.microsoft.com/office/drawing/2014/main" val="4169190994"/>
                    </a:ext>
                  </a:extLst>
                </a:gridCol>
                <a:gridCol w="1122824">
                  <a:extLst>
                    <a:ext uri="{9D8B030D-6E8A-4147-A177-3AD203B41FA5}">
                      <a16:colId xmlns:a16="http://schemas.microsoft.com/office/drawing/2014/main" val="1627803415"/>
                    </a:ext>
                  </a:extLst>
                </a:gridCol>
                <a:gridCol w="1122824">
                  <a:extLst>
                    <a:ext uri="{9D8B030D-6E8A-4147-A177-3AD203B41FA5}">
                      <a16:colId xmlns:a16="http://schemas.microsoft.com/office/drawing/2014/main" val="4294852797"/>
                    </a:ext>
                  </a:extLst>
                </a:gridCol>
                <a:gridCol w="1122824">
                  <a:extLst>
                    <a:ext uri="{9D8B030D-6E8A-4147-A177-3AD203B41FA5}">
                      <a16:colId xmlns:a16="http://schemas.microsoft.com/office/drawing/2014/main" val="576560336"/>
                    </a:ext>
                  </a:extLst>
                </a:gridCol>
              </a:tblGrid>
              <a:tr h="781578">
                <a:tc>
                  <a:txBody>
                    <a:bodyPr/>
                    <a:lstStyle/>
                    <a:p>
                      <a:pPr>
                        <a:buNone/>
                      </a:pPr>
                      <a:r>
                        <a:rPr lang="en-IN" b="1"/>
                        <a:t>Issue_ID</a:t>
                      </a:r>
                    </a:p>
                  </a:txBody>
                  <a:tcPr anchor="ctr"/>
                </a:tc>
                <a:tc>
                  <a:txBody>
                    <a:bodyPr/>
                    <a:lstStyle/>
                    <a:p>
                      <a:pPr>
                        <a:buNone/>
                      </a:pPr>
                      <a:r>
                        <a:rPr lang="en-IN" b="1"/>
                        <a:t>Member_ID</a:t>
                      </a:r>
                    </a:p>
                  </a:txBody>
                  <a:tcPr anchor="ctr"/>
                </a:tc>
                <a:tc>
                  <a:txBody>
                    <a:bodyPr/>
                    <a:lstStyle/>
                    <a:p>
                      <a:pPr>
                        <a:buNone/>
                      </a:pPr>
                      <a:r>
                        <a:rPr lang="en-IN" b="1"/>
                        <a:t>Member_Name</a:t>
                      </a:r>
                    </a:p>
                  </a:txBody>
                  <a:tcPr anchor="ctr"/>
                </a:tc>
                <a:tc>
                  <a:txBody>
                    <a:bodyPr/>
                    <a:lstStyle/>
                    <a:p>
                      <a:pPr>
                        <a:buNone/>
                      </a:pPr>
                      <a:r>
                        <a:rPr lang="en-IN" b="1"/>
                        <a:t>Book_ID</a:t>
                      </a:r>
                    </a:p>
                  </a:txBody>
                  <a:tcPr anchor="ctr"/>
                </a:tc>
                <a:tc>
                  <a:txBody>
                    <a:bodyPr/>
                    <a:lstStyle/>
                    <a:p>
                      <a:pPr>
                        <a:buNone/>
                      </a:pPr>
                      <a:r>
                        <a:rPr lang="en-IN" b="1"/>
                        <a:t>Book_Title</a:t>
                      </a:r>
                    </a:p>
                  </a:txBody>
                  <a:tcPr anchor="ctr"/>
                </a:tc>
                <a:tc>
                  <a:txBody>
                    <a:bodyPr/>
                    <a:lstStyle/>
                    <a:p>
                      <a:pPr>
                        <a:buNone/>
                      </a:pPr>
                      <a:r>
                        <a:rPr lang="en-IN" b="1"/>
                        <a:t>Librarian_ID</a:t>
                      </a:r>
                    </a:p>
                  </a:txBody>
                  <a:tcPr anchor="ctr"/>
                </a:tc>
                <a:tc>
                  <a:txBody>
                    <a:bodyPr/>
                    <a:lstStyle/>
                    <a:p>
                      <a:pPr>
                        <a:buNone/>
                      </a:pPr>
                      <a:r>
                        <a:rPr lang="en-IN" b="1"/>
                        <a:t>Librarian_Name</a:t>
                      </a:r>
                    </a:p>
                  </a:txBody>
                  <a:tcPr anchor="ctr"/>
                </a:tc>
                <a:tc>
                  <a:txBody>
                    <a:bodyPr/>
                    <a:lstStyle/>
                    <a:p>
                      <a:pPr>
                        <a:buNone/>
                      </a:pPr>
                      <a:r>
                        <a:rPr lang="en-IN" b="1" dirty="0"/>
                        <a:t>Status</a:t>
                      </a:r>
                    </a:p>
                  </a:txBody>
                  <a:tcPr anchor="ctr"/>
                </a:tc>
                <a:extLst>
                  <a:ext uri="{0D108BD9-81ED-4DB2-BD59-A6C34878D82A}">
                    <a16:rowId xmlns:a16="http://schemas.microsoft.com/office/drawing/2014/main" val="3153639676"/>
                  </a:ext>
                </a:extLst>
              </a:tr>
              <a:tr h="781578">
                <a:tc>
                  <a:txBody>
                    <a:bodyPr/>
                    <a:lstStyle/>
                    <a:p>
                      <a:pPr>
                        <a:buNone/>
                      </a:pPr>
                      <a:r>
                        <a:rPr lang="en-IN"/>
                        <a:t>I01</a:t>
                      </a:r>
                    </a:p>
                  </a:txBody>
                  <a:tcPr anchor="ctr"/>
                </a:tc>
                <a:tc>
                  <a:txBody>
                    <a:bodyPr/>
                    <a:lstStyle/>
                    <a:p>
                      <a:pPr>
                        <a:buNone/>
                      </a:pPr>
                      <a:r>
                        <a:rPr lang="en-IN"/>
                        <a:t>M01</a:t>
                      </a:r>
                    </a:p>
                  </a:txBody>
                  <a:tcPr anchor="ctr"/>
                </a:tc>
                <a:tc>
                  <a:txBody>
                    <a:bodyPr/>
                    <a:lstStyle/>
                    <a:p>
                      <a:pPr>
                        <a:buNone/>
                      </a:pPr>
                      <a:r>
                        <a:rPr lang="en-IN"/>
                        <a:t>Pujitha</a:t>
                      </a:r>
                    </a:p>
                  </a:txBody>
                  <a:tcPr anchor="ctr"/>
                </a:tc>
                <a:tc>
                  <a:txBody>
                    <a:bodyPr/>
                    <a:lstStyle/>
                    <a:p>
                      <a:pPr>
                        <a:buNone/>
                      </a:pPr>
                      <a:r>
                        <a:rPr lang="en-IN"/>
                        <a:t>B01</a:t>
                      </a:r>
                    </a:p>
                  </a:txBody>
                  <a:tcPr anchor="ctr"/>
                </a:tc>
                <a:tc>
                  <a:txBody>
                    <a:bodyPr/>
                    <a:lstStyle/>
                    <a:p>
                      <a:pPr>
                        <a:buNone/>
                      </a:pPr>
                      <a:r>
                        <a:rPr lang="en-IN"/>
                        <a:t>DBMS</a:t>
                      </a:r>
                    </a:p>
                  </a:txBody>
                  <a:tcPr anchor="ctr"/>
                </a:tc>
                <a:tc>
                  <a:txBody>
                    <a:bodyPr/>
                    <a:lstStyle/>
                    <a:p>
                      <a:pPr>
                        <a:buNone/>
                      </a:pPr>
                      <a:r>
                        <a:rPr lang="en-IN"/>
                        <a:t>L01</a:t>
                      </a:r>
                    </a:p>
                  </a:txBody>
                  <a:tcPr anchor="ctr"/>
                </a:tc>
                <a:tc>
                  <a:txBody>
                    <a:bodyPr/>
                    <a:lstStyle/>
                    <a:p>
                      <a:pPr>
                        <a:buNone/>
                      </a:pPr>
                      <a:r>
                        <a:rPr lang="en-IN"/>
                        <a:t>Ravi</a:t>
                      </a:r>
                    </a:p>
                  </a:txBody>
                  <a:tcPr anchor="ctr"/>
                </a:tc>
                <a:tc>
                  <a:txBody>
                    <a:bodyPr/>
                    <a:lstStyle/>
                    <a:p>
                      <a:pPr>
                        <a:buNone/>
                      </a:pPr>
                      <a:r>
                        <a:rPr lang="en-IN"/>
                        <a:t>Returned</a:t>
                      </a:r>
                    </a:p>
                  </a:txBody>
                  <a:tcPr anchor="ctr"/>
                </a:tc>
                <a:extLst>
                  <a:ext uri="{0D108BD9-81ED-4DB2-BD59-A6C34878D82A}">
                    <a16:rowId xmlns:a16="http://schemas.microsoft.com/office/drawing/2014/main" val="3378704178"/>
                  </a:ext>
                </a:extLst>
              </a:tr>
              <a:tr h="446616">
                <a:tc>
                  <a:txBody>
                    <a:bodyPr/>
                    <a:lstStyle/>
                    <a:p>
                      <a:pPr>
                        <a:buNone/>
                      </a:pPr>
                      <a:r>
                        <a:rPr lang="en-IN"/>
                        <a:t>I02</a:t>
                      </a:r>
                    </a:p>
                  </a:txBody>
                  <a:tcPr anchor="ctr"/>
                </a:tc>
                <a:tc>
                  <a:txBody>
                    <a:bodyPr/>
                    <a:lstStyle/>
                    <a:p>
                      <a:pPr>
                        <a:buNone/>
                      </a:pPr>
                      <a:r>
                        <a:rPr lang="en-IN"/>
                        <a:t>M01</a:t>
                      </a:r>
                    </a:p>
                  </a:txBody>
                  <a:tcPr anchor="ctr"/>
                </a:tc>
                <a:tc>
                  <a:txBody>
                    <a:bodyPr/>
                    <a:lstStyle/>
                    <a:p>
                      <a:pPr>
                        <a:buNone/>
                      </a:pPr>
                      <a:r>
                        <a:rPr lang="en-IN"/>
                        <a:t>Pujitha</a:t>
                      </a:r>
                    </a:p>
                  </a:txBody>
                  <a:tcPr anchor="ctr"/>
                </a:tc>
                <a:tc>
                  <a:txBody>
                    <a:bodyPr/>
                    <a:lstStyle/>
                    <a:p>
                      <a:pPr>
                        <a:buNone/>
                      </a:pPr>
                      <a:r>
                        <a:rPr lang="en-IN"/>
                        <a:t>B02</a:t>
                      </a:r>
                    </a:p>
                  </a:txBody>
                  <a:tcPr anchor="ctr"/>
                </a:tc>
                <a:tc>
                  <a:txBody>
                    <a:bodyPr/>
                    <a:lstStyle/>
                    <a:p>
                      <a:pPr>
                        <a:buNone/>
                      </a:pPr>
                      <a:r>
                        <a:rPr lang="en-IN"/>
                        <a:t>C++</a:t>
                      </a:r>
                    </a:p>
                  </a:txBody>
                  <a:tcPr anchor="ctr"/>
                </a:tc>
                <a:tc>
                  <a:txBody>
                    <a:bodyPr/>
                    <a:lstStyle/>
                    <a:p>
                      <a:pPr>
                        <a:buNone/>
                      </a:pPr>
                      <a:r>
                        <a:rPr lang="en-IN"/>
                        <a:t>L01</a:t>
                      </a:r>
                    </a:p>
                  </a:txBody>
                  <a:tcPr anchor="ctr"/>
                </a:tc>
                <a:tc>
                  <a:txBody>
                    <a:bodyPr/>
                    <a:lstStyle/>
                    <a:p>
                      <a:pPr>
                        <a:buNone/>
                      </a:pPr>
                      <a:r>
                        <a:rPr lang="en-IN"/>
                        <a:t>Ravi</a:t>
                      </a:r>
                    </a:p>
                  </a:txBody>
                  <a:tcPr anchor="ctr"/>
                </a:tc>
                <a:tc>
                  <a:txBody>
                    <a:bodyPr/>
                    <a:lstStyle/>
                    <a:p>
                      <a:pPr>
                        <a:buNone/>
                      </a:pPr>
                      <a:r>
                        <a:rPr lang="en-IN" dirty="0"/>
                        <a:t>Issued</a:t>
                      </a:r>
                    </a:p>
                  </a:txBody>
                  <a:tcPr anchor="ctr"/>
                </a:tc>
                <a:extLst>
                  <a:ext uri="{0D108BD9-81ED-4DB2-BD59-A6C34878D82A}">
                    <a16:rowId xmlns:a16="http://schemas.microsoft.com/office/drawing/2014/main" val="3587724375"/>
                  </a:ext>
                </a:extLst>
              </a:tr>
            </a:tbl>
          </a:graphicData>
        </a:graphic>
      </p:graphicFrame>
      <p:sp>
        <p:nvSpPr>
          <p:cNvPr id="5" name="TextBox 4">
            <a:extLst>
              <a:ext uri="{FF2B5EF4-FFF2-40B4-BE49-F238E27FC236}">
                <a16:creationId xmlns:a16="http://schemas.microsoft.com/office/drawing/2014/main" id="{0AA628D9-9828-30E4-56B8-2C5FA1D81684}"/>
              </a:ext>
            </a:extLst>
          </p:cNvPr>
          <p:cNvSpPr txBox="1"/>
          <p:nvPr/>
        </p:nvSpPr>
        <p:spPr>
          <a:xfrm>
            <a:off x="420560" y="4678310"/>
            <a:ext cx="4968690" cy="1384995"/>
          </a:xfrm>
          <a:prstGeom prst="rect">
            <a:avLst/>
          </a:prstGeom>
          <a:noFill/>
          <a:ln>
            <a:solidFill>
              <a:schemeClr val="tx1">
                <a:lumMod val="50000"/>
                <a:lumOff val="50000"/>
              </a:schemeClr>
            </a:solidFill>
          </a:ln>
        </p:spPr>
        <p:txBody>
          <a:bodyPr wrap="square">
            <a:spAutoFit/>
          </a:bodyPr>
          <a:lstStyle/>
          <a:p>
            <a:r>
              <a:rPr lang="en-IN" sz="1200" dirty="0" err="1"/>
              <a:t>Issue_ID</a:t>
            </a:r>
            <a:endParaRPr lang="en-IN" sz="1200" dirty="0"/>
          </a:p>
          <a:p>
            <a:r>
              <a:rPr lang="en-IN" sz="1200" dirty="0"/>
              <a:t>   │</a:t>
            </a:r>
          </a:p>
          <a:p>
            <a:r>
              <a:rPr lang="en-IN" sz="1200" dirty="0"/>
              <a:t>   ├────→ </a:t>
            </a:r>
            <a:r>
              <a:rPr lang="en-IN" sz="1200" dirty="0" err="1"/>
              <a:t>Member_ID</a:t>
            </a:r>
            <a:r>
              <a:rPr lang="en-IN" sz="1200" dirty="0"/>
              <a:t> ────→ </a:t>
            </a:r>
            <a:r>
              <a:rPr lang="en-IN" sz="1200" dirty="0" err="1"/>
              <a:t>Member_Name</a:t>
            </a:r>
            <a:endParaRPr lang="en-IN" sz="1200" dirty="0"/>
          </a:p>
          <a:p>
            <a:r>
              <a:rPr lang="en-IN" sz="1200" dirty="0"/>
              <a:t>   │</a:t>
            </a:r>
          </a:p>
          <a:p>
            <a:r>
              <a:rPr lang="en-IN" sz="1200" dirty="0"/>
              <a:t>   ├────→ </a:t>
            </a:r>
            <a:r>
              <a:rPr lang="en-IN" sz="1200" dirty="0" err="1"/>
              <a:t>Book_ID</a:t>
            </a:r>
            <a:r>
              <a:rPr lang="en-IN" sz="1200" dirty="0"/>
              <a:t> ──────→ </a:t>
            </a:r>
            <a:r>
              <a:rPr lang="en-IN" sz="1200" dirty="0" err="1"/>
              <a:t>Book_Title</a:t>
            </a:r>
            <a:endParaRPr lang="en-IN" sz="1200" dirty="0"/>
          </a:p>
          <a:p>
            <a:r>
              <a:rPr lang="en-IN" sz="1200" dirty="0"/>
              <a:t>   │</a:t>
            </a:r>
          </a:p>
          <a:p>
            <a:r>
              <a:rPr lang="en-IN" sz="1200" dirty="0"/>
              <a:t>   └────→ </a:t>
            </a:r>
            <a:r>
              <a:rPr lang="en-IN" sz="1200" dirty="0" err="1"/>
              <a:t>Librarian_ID</a:t>
            </a:r>
            <a:r>
              <a:rPr lang="en-IN" sz="1200" dirty="0"/>
              <a:t> ─→ </a:t>
            </a:r>
            <a:r>
              <a:rPr lang="en-IN" sz="1200" dirty="0" err="1"/>
              <a:t>Librarian_Name</a:t>
            </a:r>
            <a:endParaRPr lang="en-IN" sz="1200" dirty="0"/>
          </a:p>
        </p:txBody>
      </p:sp>
      <p:sp>
        <p:nvSpPr>
          <p:cNvPr id="4" name="TextBox 3">
            <a:extLst>
              <a:ext uri="{FF2B5EF4-FFF2-40B4-BE49-F238E27FC236}">
                <a16:creationId xmlns:a16="http://schemas.microsoft.com/office/drawing/2014/main" id="{7BA80B62-FF0C-22D5-C6D5-5C38D2F2BD4D}"/>
              </a:ext>
            </a:extLst>
          </p:cNvPr>
          <p:cNvSpPr txBox="1"/>
          <p:nvPr/>
        </p:nvSpPr>
        <p:spPr>
          <a:xfrm>
            <a:off x="2724880" y="213691"/>
            <a:ext cx="4608639" cy="830997"/>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dirty="0"/>
          </a:p>
        </p:txBody>
      </p:sp>
    </p:spTree>
    <p:extLst>
      <p:ext uri="{BB962C8B-B14F-4D97-AF65-F5344CB8AC3E}">
        <p14:creationId xmlns:p14="http://schemas.microsoft.com/office/powerpoint/2010/main" val="32766138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31B202-7438-AE0E-1537-733E53F96C04}"/>
              </a:ext>
            </a:extLst>
          </p:cNvPr>
          <p:cNvSpPr txBox="1"/>
          <p:nvPr/>
        </p:nvSpPr>
        <p:spPr>
          <a:xfrm>
            <a:off x="420561" y="1149820"/>
            <a:ext cx="3393904" cy="461665"/>
          </a:xfrm>
          <a:prstGeom prst="rect">
            <a:avLst/>
          </a:prstGeom>
          <a:noFill/>
        </p:spPr>
        <p:txBody>
          <a:bodyPr wrap="square" rtlCol="0">
            <a:spAutoFit/>
          </a:bodyPr>
          <a:lstStyle/>
          <a:p>
            <a:r>
              <a:rPr lang="en-IN" dirty="0"/>
              <a:t>Then separate them:</a:t>
            </a:r>
          </a:p>
        </p:txBody>
      </p:sp>
      <p:sp>
        <p:nvSpPr>
          <p:cNvPr id="3" name="TextBox 2">
            <a:extLst>
              <a:ext uri="{FF2B5EF4-FFF2-40B4-BE49-F238E27FC236}">
                <a16:creationId xmlns:a16="http://schemas.microsoft.com/office/drawing/2014/main" id="{9B13907F-C5AF-AE34-3D88-E9EC7A4F9FFE}"/>
              </a:ext>
            </a:extLst>
          </p:cNvPr>
          <p:cNvSpPr txBox="1"/>
          <p:nvPr/>
        </p:nvSpPr>
        <p:spPr>
          <a:xfrm>
            <a:off x="564581" y="1797910"/>
            <a:ext cx="3249884" cy="5847755"/>
          </a:xfrm>
          <a:prstGeom prst="rect">
            <a:avLst/>
          </a:prstGeom>
          <a:noFill/>
          <a:ln>
            <a:solidFill>
              <a:schemeClr val="tx1">
                <a:lumMod val="50000"/>
                <a:lumOff val="50000"/>
              </a:schemeClr>
            </a:solidFill>
          </a:ln>
        </p:spPr>
        <p:txBody>
          <a:bodyPr wrap="square" rtlCol="0">
            <a:spAutoFit/>
          </a:bodyPr>
          <a:lstStyle/>
          <a:p>
            <a:r>
              <a:rPr lang="en-IN" sz="1100" b="1" dirty="0"/>
              <a:t>MEMBER</a:t>
            </a:r>
          </a:p>
          <a:p>
            <a:r>
              <a:rPr lang="en-IN" sz="1100" dirty="0" err="1"/>
              <a:t>Member_ID</a:t>
            </a:r>
            <a:r>
              <a:rPr lang="en-IN" sz="1100" dirty="0"/>
              <a:t> (PK)</a:t>
            </a:r>
          </a:p>
          <a:p>
            <a:r>
              <a:rPr lang="en-IN" sz="1100" dirty="0"/>
              <a:t>Name</a:t>
            </a:r>
          </a:p>
          <a:p>
            <a:r>
              <a:rPr lang="en-IN" sz="1100" dirty="0"/>
              <a:t>Email</a:t>
            </a:r>
          </a:p>
          <a:p>
            <a:r>
              <a:rPr lang="en-IN" sz="1100" dirty="0" err="1"/>
              <a:t>Phone_No</a:t>
            </a:r>
            <a:endParaRPr lang="en-IN" sz="1100" dirty="0"/>
          </a:p>
          <a:p>
            <a:r>
              <a:rPr lang="en-IN" sz="1100" dirty="0" err="1"/>
              <a:t>Membership_Date</a:t>
            </a:r>
            <a:endParaRPr lang="en-IN" sz="1100" dirty="0"/>
          </a:p>
          <a:p>
            <a:r>
              <a:rPr lang="en-IN" sz="1100" dirty="0" err="1"/>
              <a:t>Membership_Type</a:t>
            </a:r>
            <a:endParaRPr lang="en-IN" sz="1100" dirty="0"/>
          </a:p>
          <a:p>
            <a:endParaRPr lang="en-IN" sz="1100" dirty="0"/>
          </a:p>
          <a:p>
            <a:endParaRPr lang="en-IN" sz="1100" dirty="0"/>
          </a:p>
          <a:p>
            <a:r>
              <a:rPr lang="en-IN" sz="1100" b="1" dirty="0"/>
              <a:t>BOOK</a:t>
            </a:r>
          </a:p>
          <a:p>
            <a:r>
              <a:rPr lang="en-IN" sz="1100" dirty="0" err="1"/>
              <a:t>Book_ID</a:t>
            </a:r>
            <a:r>
              <a:rPr lang="en-IN" sz="1100" dirty="0"/>
              <a:t> (PK)</a:t>
            </a:r>
          </a:p>
          <a:p>
            <a:r>
              <a:rPr lang="en-IN" sz="1100" dirty="0"/>
              <a:t>Title</a:t>
            </a:r>
          </a:p>
          <a:p>
            <a:r>
              <a:rPr lang="en-IN" sz="1100" dirty="0" err="1"/>
              <a:t>ISBN_No</a:t>
            </a:r>
            <a:endParaRPr lang="en-IN" sz="1100" dirty="0"/>
          </a:p>
          <a:p>
            <a:r>
              <a:rPr lang="en-IN" sz="1100" dirty="0" err="1"/>
              <a:t>Publication_Year</a:t>
            </a:r>
            <a:endParaRPr lang="en-IN" sz="1100" dirty="0"/>
          </a:p>
          <a:p>
            <a:r>
              <a:rPr lang="en-IN" sz="1100" dirty="0" err="1"/>
              <a:t>Available_Copies</a:t>
            </a:r>
            <a:endParaRPr lang="en-IN" sz="1100" dirty="0"/>
          </a:p>
          <a:p>
            <a:endParaRPr lang="en-IN" sz="1100" dirty="0"/>
          </a:p>
          <a:p>
            <a:endParaRPr lang="en-IN" sz="1100" dirty="0"/>
          </a:p>
          <a:p>
            <a:r>
              <a:rPr lang="en-IN" sz="1100" b="1" dirty="0"/>
              <a:t>LIBRARIAN</a:t>
            </a:r>
          </a:p>
          <a:p>
            <a:r>
              <a:rPr lang="en-IN" sz="1100" dirty="0" err="1"/>
              <a:t>Librarian_ID</a:t>
            </a:r>
            <a:r>
              <a:rPr lang="en-IN" sz="1100" dirty="0"/>
              <a:t> (PK)</a:t>
            </a:r>
          </a:p>
          <a:p>
            <a:r>
              <a:rPr lang="en-IN" sz="1100" dirty="0" err="1"/>
              <a:t>Librarian_name</a:t>
            </a:r>
            <a:endParaRPr lang="en-IN" sz="1100" dirty="0"/>
          </a:p>
          <a:p>
            <a:r>
              <a:rPr lang="en-IN" sz="1100" dirty="0"/>
              <a:t>Street</a:t>
            </a:r>
          </a:p>
          <a:p>
            <a:r>
              <a:rPr lang="en-IN" sz="1100" dirty="0"/>
              <a:t>City</a:t>
            </a:r>
          </a:p>
          <a:p>
            <a:r>
              <a:rPr lang="en-IN" sz="1100" dirty="0"/>
              <a:t>PIN</a:t>
            </a:r>
          </a:p>
          <a:p>
            <a:endParaRPr lang="en-IN" sz="1100" dirty="0"/>
          </a:p>
          <a:p>
            <a:endParaRPr lang="en-IN" sz="1100" b="1" dirty="0"/>
          </a:p>
          <a:p>
            <a:r>
              <a:rPr lang="en-IN" sz="1100" b="1" dirty="0"/>
              <a:t>ISSUE_TRANSACTION</a:t>
            </a:r>
          </a:p>
          <a:p>
            <a:r>
              <a:rPr lang="en-IN" sz="1100" dirty="0" err="1"/>
              <a:t>Issue_ID</a:t>
            </a:r>
            <a:r>
              <a:rPr lang="en-IN" sz="1100" dirty="0"/>
              <a:t> (PK)</a:t>
            </a:r>
          </a:p>
          <a:p>
            <a:r>
              <a:rPr lang="en-IN" sz="1100" dirty="0" err="1"/>
              <a:t>Member_ID</a:t>
            </a:r>
            <a:r>
              <a:rPr lang="en-IN" sz="1100" dirty="0"/>
              <a:t> (FK)</a:t>
            </a:r>
          </a:p>
          <a:p>
            <a:r>
              <a:rPr lang="en-IN" sz="1100" dirty="0" err="1"/>
              <a:t>Book_ID</a:t>
            </a:r>
            <a:r>
              <a:rPr lang="en-IN" sz="1100" dirty="0"/>
              <a:t> (FK)</a:t>
            </a:r>
          </a:p>
          <a:p>
            <a:r>
              <a:rPr lang="en-IN" sz="1100" dirty="0" err="1"/>
              <a:t>Librarian_ID</a:t>
            </a:r>
            <a:r>
              <a:rPr lang="en-IN" sz="1100" dirty="0"/>
              <a:t> (FK)</a:t>
            </a:r>
          </a:p>
          <a:p>
            <a:r>
              <a:rPr lang="en-IN" sz="1100" dirty="0" err="1"/>
              <a:t>Issue_Date</a:t>
            </a:r>
            <a:endParaRPr lang="en-IN" sz="1100" dirty="0"/>
          </a:p>
          <a:p>
            <a:r>
              <a:rPr lang="en-IN" sz="1100" dirty="0" err="1"/>
              <a:t>Due_Date</a:t>
            </a:r>
            <a:endParaRPr lang="en-IN" sz="1100" dirty="0"/>
          </a:p>
          <a:p>
            <a:r>
              <a:rPr lang="en-IN" sz="1100" dirty="0" err="1"/>
              <a:t>Return_Date</a:t>
            </a:r>
            <a:endParaRPr lang="en-IN" sz="1100" dirty="0"/>
          </a:p>
          <a:p>
            <a:r>
              <a:rPr lang="en-IN" sz="1100" dirty="0"/>
              <a:t>Status</a:t>
            </a:r>
          </a:p>
        </p:txBody>
      </p:sp>
      <p:sp>
        <p:nvSpPr>
          <p:cNvPr id="5" name="TextBox 4">
            <a:extLst>
              <a:ext uri="{FF2B5EF4-FFF2-40B4-BE49-F238E27FC236}">
                <a16:creationId xmlns:a16="http://schemas.microsoft.com/office/drawing/2014/main" id="{5574065E-D85D-F947-786C-61530EA0CBB2}"/>
              </a:ext>
            </a:extLst>
          </p:cNvPr>
          <p:cNvSpPr txBox="1"/>
          <p:nvPr/>
        </p:nvSpPr>
        <p:spPr>
          <a:xfrm>
            <a:off x="4453119" y="2013940"/>
            <a:ext cx="5040699" cy="3416320"/>
          </a:xfrm>
          <a:prstGeom prst="rect">
            <a:avLst/>
          </a:prstGeom>
          <a:noFill/>
        </p:spPr>
        <p:txBody>
          <a:bodyPr wrap="square">
            <a:spAutoFit/>
          </a:bodyPr>
          <a:lstStyle/>
          <a:p>
            <a:r>
              <a:rPr lang="en-IN" dirty="0"/>
              <a:t>✅ Redundancy reduced</a:t>
            </a:r>
            <a:br>
              <a:rPr lang="en-IN" dirty="0"/>
            </a:br>
            <a:r>
              <a:rPr lang="en-IN" dirty="0"/>
              <a:t>✅ Partial dependency removed</a:t>
            </a:r>
            <a:br>
              <a:rPr lang="en-IN" dirty="0"/>
            </a:br>
            <a:r>
              <a:rPr lang="en-IN" dirty="0"/>
              <a:t>✅ Transitive dependency removed</a:t>
            </a:r>
            <a:br>
              <a:rPr lang="en-IN" dirty="0"/>
            </a:br>
            <a:r>
              <a:rPr lang="en-IN" dirty="0"/>
              <a:t>✅ Data organized into separate tables</a:t>
            </a:r>
            <a:br>
              <a:rPr lang="en-IN" dirty="0"/>
            </a:br>
            <a:r>
              <a:rPr lang="en-IN" dirty="0"/>
              <a:t>✅ PK–FK relationships maintain integrity</a:t>
            </a:r>
            <a:br>
              <a:rPr lang="en-IN" dirty="0"/>
            </a:br>
            <a:r>
              <a:rPr lang="en-IN" dirty="0"/>
              <a:t>✅ Easier insert, update and delete operations</a:t>
            </a:r>
          </a:p>
        </p:txBody>
      </p:sp>
      <p:sp>
        <p:nvSpPr>
          <p:cNvPr id="6" name="TextBox 5">
            <a:extLst>
              <a:ext uri="{FF2B5EF4-FFF2-40B4-BE49-F238E27FC236}">
                <a16:creationId xmlns:a16="http://schemas.microsoft.com/office/drawing/2014/main" id="{900412A0-7588-4549-6398-CFC1832AFD1C}"/>
              </a:ext>
            </a:extLst>
          </p:cNvPr>
          <p:cNvSpPr txBox="1"/>
          <p:nvPr/>
        </p:nvSpPr>
        <p:spPr>
          <a:xfrm>
            <a:off x="2652870" y="278780"/>
            <a:ext cx="4608639" cy="830997"/>
          </a:xfrm>
          <a:prstGeom prst="rect">
            <a:avLst/>
          </a:prstGeom>
          <a:noFill/>
        </p:spPr>
        <p:txBody>
          <a:bodyPr wrap="square" rtlCol="0">
            <a:spAutoFit/>
          </a:bodyPr>
          <a:lstStyle/>
          <a:p>
            <a:r>
              <a:rPr lang="en-US" b="1" dirty="0">
                <a:solidFill>
                  <a:schemeClr val="bg1"/>
                </a:solidFill>
              </a:rPr>
              <a:t>NORMALIZATION UPTO 3NF</a:t>
            </a:r>
            <a:endParaRPr lang="en-IN" b="1" dirty="0">
              <a:solidFill>
                <a:schemeClr val="bg1"/>
              </a:solidFill>
            </a:endParaRPr>
          </a:p>
          <a:p>
            <a:endParaRPr lang="en-IN" dirty="0"/>
          </a:p>
        </p:txBody>
      </p:sp>
    </p:spTree>
    <p:extLst>
      <p:ext uri="{BB962C8B-B14F-4D97-AF65-F5344CB8AC3E}">
        <p14:creationId xmlns:p14="http://schemas.microsoft.com/office/powerpoint/2010/main" val="3716447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47D77B-5B0E-CFC9-E5F8-1FCD71D9A65A}"/>
              </a:ext>
            </a:extLst>
          </p:cNvPr>
          <p:cNvSpPr txBox="1"/>
          <p:nvPr/>
        </p:nvSpPr>
        <p:spPr>
          <a:xfrm>
            <a:off x="2724880" y="285700"/>
            <a:ext cx="4536630" cy="461665"/>
          </a:xfrm>
          <a:prstGeom prst="rect">
            <a:avLst/>
          </a:prstGeom>
          <a:noFill/>
        </p:spPr>
        <p:txBody>
          <a:bodyPr wrap="square" rtlCol="0">
            <a:spAutoFit/>
          </a:bodyPr>
          <a:lstStyle/>
          <a:p>
            <a:r>
              <a:rPr lang="en-US" dirty="0"/>
              <a:t>    </a:t>
            </a:r>
            <a:r>
              <a:rPr lang="en-US" b="1" dirty="0">
                <a:solidFill>
                  <a:schemeClr val="bg1"/>
                </a:solidFill>
              </a:rPr>
              <a:t>REVIEW 2 CONCLUSION</a:t>
            </a:r>
            <a:endParaRPr lang="en-IN" b="1" dirty="0">
              <a:solidFill>
                <a:schemeClr val="bg1"/>
              </a:solidFill>
            </a:endParaRPr>
          </a:p>
        </p:txBody>
      </p:sp>
      <p:pic>
        <p:nvPicPr>
          <p:cNvPr id="4" name="图片">
            <a:extLst>
              <a:ext uri="{FF2B5EF4-FFF2-40B4-BE49-F238E27FC236}">
                <a16:creationId xmlns:a16="http://schemas.microsoft.com/office/drawing/2014/main" id="{1E75EDB0-99D0-0F72-ED41-A99AA9242B3D}"/>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
        <p:nvSpPr>
          <p:cNvPr id="5" name="TextBox 4">
            <a:extLst>
              <a:ext uri="{FF2B5EF4-FFF2-40B4-BE49-F238E27FC236}">
                <a16:creationId xmlns:a16="http://schemas.microsoft.com/office/drawing/2014/main" id="{56B8D807-F7FE-BD79-8781-2CC3AFF13A63}"/>
              </a:ext>
            </a:extLst>
          </p:cNvPr>
          <p:cNvSpPr txBox="1"/>
          <p:nvPr/>
        </p:nvSpPr>
        <p:spPr>
          <a:xfrm>
            <a:off x="924630" y="1509870"/>
            <a:ext cx="8929240" cy="1631216"/>
          </a:xfrm>
          <a:prstGeom prst="rect">
            <a:avLst/>
          </a:prstGeom>
          <a:noFill/>
        </p:spPr>
        <p:txBody>
          <a:bodyPr wrap="square">
            <a:spAutoFit/>
          </a:bodyPr>
          <a:lstStyle/>
          <a:p>
            <a:pPr algn="just"/>
            <a:r>
              <a:rPr lang="en-IN" sz="2000" dirty="0">
                <a:latin typeface="Times New Roman" panose="02020603050405020304" pitchFamily="18" charset="0"/>
              </a:rPr>
              <a:t>The Library Management System was successfully implemented in Oracle Database. Tables were created with appropriate keys and constraints, and 15 sample records were inserted into each table. Basic and advanced SQL queries were executed and verified with outputs. The database was normalized up to 3NF to reduce redundancy and maintain data integrity.</a:t>
            </a:r>
          </a:p>
        </p:txBody>
      </p:sp>
      <p:sp>
        <p:nvSpPr>
          <p:cNvPr id="6" name="TextBox 5">
            <a:extLst>
              <a:ext uri="{FF2B5EF4-FFF2-40B4-BE49-F238E27FC236}">
                <a16:creationId xmlns:a16="http://schemas.microsoft.com/office/drawing/2014/main" id="{86AA1615-CFC9-2832-4BAE-DCDA2E8C18AA}"/>
              </a:ext>
            </a:extLst>
          </p:cNvPr>
          <p:cNvSpPr txBox="1"/>
          <p:nvPr/>
        </p:nvSpPr>
        <p:spPr>
          <a:xfrm>
            <a:off x="924630" y="3598160"/>
            <a:ext cx="8353160" cy="3231654"/>
          </a:xfrm>
          <a:prstGeom prst="rect">
            <a:avLst/>
          </a:prstGeom>
          <a:noFill/>
        </p:spPr>
        <p:txBody>
          <a:bodyPr wrap="square" rtlCol="0">
            <a:spAutoFit/>
          </a:bodyPr>
          <a:lstStyle/>
          <a:p>
            <a:r>
              <a:rPr lang="en-IN" b="1" dirty="0">
                <a:solidFill>
                  <a:schemeClr val="accent6"/>
                </a:solidFill>
              </a:rPr>
              <a:t>Key </a:t>
            </a:r>
            <a:r>
              <a:rPr lang="en-IN" b="1" dirty="0">
                <a:solidFill>
                  <a:schemeClr val="accent6"/>
                </a:solidFill>
                <a:latin typeface="Times New Roman" panose="02020603050405020304" pitchFamily="18" charset="0"/>
              </a:rPr>
              <a:t>Achievements</a:t>
            </a:r>
          </a:p>
          <a:p>
            <a:pPr lvl="0"/>
            <a:r>
              <a:rPr lang="en-IN" dirty="0"/>
              <a:t>✅</a:t>
            </a:r>
            <a:r>
              <a:rPr lang="en-IN" sz="2000" dirty="0">
                <a:latin typeface="Times New Roman" panose="02020603050405020304" pitchFamily="18" charset="0"/>
              </a:rPr>
              <a:t>12 relational tables created </a:t>
            </a:r>
          </a:p>
          <a:p>
            <a:pPr lvl="0"/>
            <a:r>
              <a:rPr lang="en-IN" sz="2000" dirty="0">
                <a:latin typeface="Times New Roman" panose="02020603050405020304" pitchFamily="18" charset="0"/>
              </a:rPr>
              <a:t>✅ 15 sample records inserted per table </a:t>
            </a:r>
          </a:p>
          <a:p>
            <a:pPr lvl="0"/>
            <a:r>
              <a:rPr lang="en-IN" sz="2000" dirty="0">
                <a:latin typeface="Times New Roman" panose="02020603050405020304" pitchFamily="18" charset="0"/>
              </a:rPr>
              <a:t>✅ 7 basic + 8 advanced queries implemented </a:t>
            </a:r>
          </a:p>
          <a:p>
            <a:pPr lvl="0"/>
            <a:r>
              <a:rPr lang="en-IN" sz="2000" dirty="0">
                <a:latin typeface="Times New Roman" panose="02020603050405020304" pitchFamily="18" charset="0"/>
              </a:rPr>
              <a:t>✅ Database normalized up to 3NF </a:t>
            </a:r>
          </a:p>
          <a:p>
            <a:endParaRPr lang="en-IN" b="1" i="1" dirty="0">
              <a:solidFill>
                <a:srgbClr val="0070C0"/>
              </a:solidFill>
            </a:endParaRPr>
          </a:p>
          <a:p>
            <a:endParaRPr lang="en-IN" b="1" i="1" dirty="0">
              <a:solidFill>
                <a:srgbClr val="0070C0"/>
              </a:solidFill>
            </a:endParaRPr>
          </a:p>
          <a:p>
            <a:r>
              <a:rPr lang="en-IN" b="1" i="1" dirty="0">
                <a:solidFill>
                  <a:srgbClr val="0070C0"/>
                </a:solidFill>
              </a:rPr>
              <a:t>“A structured and reliable database solution for efficient library management.”</a:t>
            </a:r>
            <a:endParaRPr lang="en-IN" b="1" dirty="0">
              <a:solidFill>
                <a:srgbClr val="0070C0"/>
              </a:solidFill>
            </a:endParaRPr>
          </a:p>
        </p:txBody>
      </p:sp>
    </p:spTree>
    <p:extLst>
      <p:ext uri="{BB962C8B-B14F-4D97-AF65-F5344CB8AC3E}">
        <p14:creationId xmlns:p14="http://schemas.microsoft.com/office/powerpoint/2010/main" val="1543768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9F3B86-2EB8-ED5A-2C9A-9B9DAB3BF035}"/>
              </a:ext>
            </a:extLst>
          </p:cNvPr>
          <p:cNvSpPr txBox="1"/>
          <p:nvPr/>
        </p:nvSpPr>
        <p:spPr>
          <a:xfrm>
            <a:off x="1644730" y="2085951"/>
            <a:ext cx="6912959" cy="2554545"/>
          </a:xfrm>
          <a:prstGeom prst="rect">
            <a:avLst/>
          </a:prstGeom>
          <a:noFill/>
        </p:spPr>
        <p:txBody>
          <a:bodyPr wrap="square" rtlCol="0">
            <a:spAutoFit/>
          </a:bodyPr>
          <a:lstStyle/>
          <a:p>
            <a:r>
              <a:rPr lang="en-US" sz="7200" b="1" dirty="0">
                <a:solidFill>
                  <a:srgbClr val="7030A0"/>
                </a:solidFill>
              </a:rPr>
              <a:t>  </a:t>
            </a:r>
          </a:p>
          <a:p>
            <a:r>
              <a:rPr lang="en-US" sz="8800" b="1" dirty="0">
                <a:solidFill>
                  <a:srgbClr val="7030A0"/>
                </a:solidFill>
              </a:rPr>
              <a:t>THANK YOU</a:t>
            </a:r>
            <a:endParaRPr lang="en-IN" sz="8800" b="1" dirty="0">
              <a:solidFill>
                <a:srgbClr val="7030A0"/>
              </a:solidFill>
            </a:endParaRPr>
          </a:p>
        </p:txBody>
      </p:sp>
      <p:pic>
        <p:nvPicPr>
          <p:cNvPr id="5" name="图片">
            <a:extLst>
              <a:ext uri="{FF2B5EF4-FFF2-40B4-BE49-F238E27FC236}">
                <a16:creationId xmlns:a16="http://schemas.microsoft.com/office/drawing/2014/main" id="{3D384E8B-6290-03A7-2D77-9B84EB38D6D5}"/>
              </a:ext>
            </a:extLst>
          </p:cNvPr>
          <p:cNvPicPr>
            <a:picLocks/>
          </p:cNvPicPr>
          <p:nvPr/>
        </p:nvPicPr>
        <p:blipFill>
          <a:blip r:embed="rId2" cstate="print"/>
          <a:stretch>
            <a:fillRect/>
          </a:stretch>
        </p:blipFill>
        <p:spPr>
          <a:xfrm>
            <a:off x="290750" y="204311"/>
            <a:ext cx="1163002" cy="424338"/>
          </a:xfrm>
          <a:prstGeom prst="rect">
            <a:avLst/>
          </a:prstGeom>
          <a:noFill/>
          <a:ln w="12700" cap="flat" cmpd="sng">
            <a:noFill/>
            <a:prstDash val="solid"/>
            <a:miter/>
          </a:ln>
        </p:spPr>
      </p:pic>
    </p:spTree>
    <p:extLst>
      <p:ext uri="{BB962C8B-B14F-4D97-AF65-F5344CB8AC3E}">
        <p14:creationId xmlns:p14="http://schemas.microsoft.com/office/powerpoint/2010/main" val="259398904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3317</TotalTime>
  <Words>2619</Words>
  <Application>Microsoft Office PowerPoint</Application>
  <PresentationFormat>Custom</PresentationFormat>
  <Paragraphs>537</Paragraphs>
  <Slides>45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Aptos</vt:lpstr>
      <vt:lpstr>Arial</vt:lpstr>
      <vt:lpstr>Calibri</vt:lpstr>
      <vt:lpstr>Droid Sans</vt:lpstr>
      <vt:lpstr>Palatino Linotype</vt:lpstr>
      <vt:lpstr>Times New Roman</vt:lpstr>
      <vt:lpstr>Office Theme</vt:lpstr>
      <vt:lpstr>Database Management System Capstone Project </vt:lpstr>
      <vt:lpstr>PowerPoint Presentation</vt:lpstr>
      <vt:lpstr>     Project Overview</vt:lpstr>
      <vt:lpstr>PowerPoint Presentation</vt:lpstr>
      <vt:lpstr>PowerPoint Presentation</vt:lpstr>
      <vt:lpstr>       REQUIREMENT ANALYSIS </vt:lpstr>
      <vt:lpstr>FUNCTIONAL REQUIREMENTS</vt:lpstr>
      <vt:lpstr>NON-FUNCTIONAL REQUIREMENTS &amp; END USERS </vt:lpstr>
      <vt:lpstr>ENTITIES &amp; ATTRIBUTES </vt:lpstr>
      <vt:lpstr>RELATIONSHIPS &amp; CARDINALITY </vt:lpstr>
      <vt:lpstr>           ER DIAGRAM </vt:lpstr>
      <vt:lpstr>PowerPoint Presentation</vt:lpstr>
      <vt:lpstr>   CONCLUSION </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pujithaguthula@outlook.com</cp:lastModifiedBy>
  <cp:revision>59</cp:revision>
  <cp:lastPrinted>2025-10-14T18:21:49Z</cp:lastPrinted>
  <dcterms:created xsi:type="dcterms:W3CDTF">2025-10-10T08:28:06Z</dcterms:created>
  <dcterms:modified xsi:type="dcterms:W3CDTF">2026-10-01T15:10:10Z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2025-09-11T16:00:00Z</vt:filetime>
  </property>
  <property fmtid="{D5CDD505-2E9C-101B-9397-08002B2CF9AE}" pid="3" name="LastSaved">
    <vt:filetime>2025-10-09T16:00:00Z</vt:filetime>
  </property>
</Properties>
</file>